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0" y="5070348"/>
            <a:ext cx="9144000" cy="73152"/>
          </a:xfrm>
          <a:prstGeom prst="rect">
            <a:avLst/>
          </a:prstGeom>
          <a:solidFill>
            <a:srgbClr val="0D9488"/>
          </a:solidFill>
          <a:ln w="12700">
            <a:solidFill>
              <a:srgbClr val="0D9488"/>
            </a:solidFill>
            <a:prstDash val="solid"/>
          </a:ln>
        </p:spPr>
      </p:sp>
      <p:sp>
        <p:nvSpPr>
          <p:cNvPr id="4" name="Shape 2"/>
          <p:cNvSpPr/>
          <p:nvPr/>
        </p:nvSpPr>
        <p:spPr>
          <a:xfrm>
            <a:off x="502920" y="1234440"/>
            <a:ext cx="91440" cy="2651760"/>
          </a:xfrm>
          <a:prstGeom prst="rect">
            <a:avLst/>
          </a:prstGeom>
          <a:solidFill>
            <a:srgbClr val="0D9488"/>
          </a:solidFill>
          <a:ln w="12700">
            <a:solidFill>
              <a:srgbClr val="0D9488"/>
            </a:solidFill>
            <a:prstDash val="solid"/>
          </a:ln>
        </p:spPr>
      </p:sp>
      <p:sp>
        <p:nvSpPr>
          <p:cNvPr id="5" name="Text 3"/>
          <p:cNvSpPr/>
          <p:nvPr/>
        </p:nvSpPr>
        <p:spPr>
          <a:xfrm>
            <a:off x="731520" y="1188720"/>
            <a:ext cx="7772400" cy="411480"/>
          </a:xfrm>
          <a:prstGeom prst="rect">
            <a:avLst/>
          </a:prstGeom>
          <a:noFill/>
          <a:ln/>
        </p:spPr>
        <p:txBody>
          <a:bodyPr wrap="square" lIns="0" tIns="0" rIns="0" bIns="0" rtlCol="0" anchor="ctr"/>
          <a:lstStyle/>
          <a:p>
            <a:pPr indent="0" marL="0">
              <a:buNone/>
            </a:pPr>
            <a:r>
              <a:rPr lang="en-US" sz="1300" b="1" spc="500" kern="0" dirty="0">
                <a:solidFill>
                  <a:srgbClr val="14B8A6"/>
                </a:solidFill>
                <a:latin typeface="Calibri" pitchFamily="34" charset="0"/>
                <a:ea typeface="Calibri" pitchFamily="34" charset="-122"/>
                <a:cs typeface="Calibri" pitchFamily="34" charset="-120"/>
              </a:rPr>
              <a:t>CHAPTER 1</a:t>
            </a:r>
            <a:endParaRPr lang="en-US" sz="1300" dirty="0"/>
          </a:p>
        </p:txBody>
      </p:sp>
      <p:sp>
        <p:nvSpPr>
          <p:cNvPr id="6" name="Text 4"/>
          <p:cNvSpPr/>
          <p:nvPr/>
        </p:nvSpPr>
        <p:spPr>
          <a:xfrm>
            <a:off x="731520" y="1600200"/>
            <a:ext cx="7772400" cy="18288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Introduction to</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Database Systems</a:t>
            </a:r>
            <a:endParaRPr lang="en-US" sz="4000" dirty="0"/>
          </a:p>
        </p:txBody>
      </p:sp>
      <p:sp>
        <p:nvSpPr>
          <p:cNvPr id="7" name="Text 5"/>
          <p:cNvSpPr/>
          <p:nvPr/>
        </p:nvSpPr>
        <p:spPr>
          <a:xfrm>
            <a:off x="731520" y="3493008"/>
            <a:ext cx="777240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Database Systems: A Practical Approach to Design, Implementation, and Management</a:t>
            </a:r>
            <a:endParaRPr lang="en-US" sz="1300" dirty="0"/>
          </a:p>
        </p:txBody>
      </p:sp>
      <p:sp>
        <p:nvSpPr>
          <p:cNvPr id="8" name="Text 6"/>
          <p:cNvSpPr/>
          <p:nvPr/>
        </p:nvSpPr>
        <p:spPr>
          <a:xfrm>
            <a:off x="457200" y="4663440"/>
            <a:ext cx="8229600" cy="32004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Connolly &amp; Begg  |  6th Edition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Learning Outcomes</a:t>
            </a:r>
            <a:endParaRPr lang="en-US" sz="3000" dirty="0"/>
          </a:p>
        </p:txBody>
      </p:sp>
      <p:sp>
        <p:nvSpPr>
          <p:cNvPr id="4" name="Text 2"/>
          <p:cNvSpPr/>
          <p:nvPr/>
        </p:nvSpPr>
        <p:spPr>
          <a:xfrm>
            <a:off x="457200" y="749808"/>
            <a:ext cx="8229600" cy="292608"/>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the end of this module, you should be able to:</a:t>
            </a:r>
            <a:endParaRPr lang="en-US" sz="1300" dirty="0"/>
          </a:p>
        </p:txBody>
      </p:sp>
      <p:sp>
        <p:nvSpPr>
          <p:cNvPr id="5" name="Shape 3"/>
          <p:cNvSpPr/>
          <p:nvPr/>
        </p:nvSpPr>
        <p:spPr>
          <a:xfrm>
            <a:off x="365760" y="1115568"/>
            <a:ext cx="8412480" cy="6583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6" name="Shape 4"/>
          <p:cNvSpPr/>
          <p:nvPr/>
        </p:nvSpPr>
        <p:spPr>
          <a:xfrm>
            <a:off x="365760" y="1115568"/>
            <a:ext cx="1005840" cy="658368"/>
          </a:xfrm>
          <a:prstGeom prst="rect">
            <a:avLst/>
          </a:prstGeom>
          <a:solidFill>
            <a:srgbClr val="1B2A4A"/>
          </a:solidFill>
          <a:ln w="12700">
            <a:solidFill>
              <a:srgbClr val="1B2A4A"/>
            </a:solidFill>
            <a:prstDash val="solid"/>
          </a:ln>
        </p:spPr>
      </p:sp>
      <p:sp>
        <p:nvSpPr>
          <p:cNvPr id="7" name="Text 5"/>
          <p:cNvSpPr/>
          <p:nvPr/>
        </p:nvSpPr>
        <p:spPr>
          <a:xfrm>
            <a:off x="365760" y="1252728"/>
            <a:ext cx="1005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1</a:t>
            </a:r>
            <a:endParaRPr lang="en-US" sz="1200" dirty="0"/>
          </a:p>
        </p:txBody>
      </p:sp>
      <p:sp>
        <p:nvSpPr>
          <p:cNvPr id="8" name="Text 6"/>
          <p:cNvSpPr/>
          <p:nvPr/>
        </p:nvSpPr>
        <p:spPr>
          <a:xfrm>
            <a:off x="1463040" y="1261872"/>
            <a:ext cx="717804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Define key concepts used in databases and understand the database environment.</a:t>
            </a:r>
            <a:endParaRPr lang="en-US" sz="1300" dirty="0"/>
          </a:p>
        </p:txBody>
      </p:sp>
      <p:sp>
        <p:nvSpPr>
          <p:cNvPr id="9" name="Shape 7"/>
          <p:cNvSpPr/>
          <p:nvPr/>
        </p:nvSpPr>
        <p:spPr>
          <a:xfrm>
            <a:off x="365760" y="1883664"/>
            <a:ext cx="8412480" cy="6583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0" name="Shape 8"/>
          <p:cNvSpPr/>
          <p:nvPr/>
        </p:nvSpPr>
        <p:spPr>
          <a:xfrm>
            <a:off x="365760" y="1883664"/>
            <a:ext cx="1005840" cy="658368"/>
          </a:xfrm>
          <a:prstGeom prst="rect">
            <a:avLst/>
          </a:prstGeom>
          <a:solidFill>
            <a:srgbClr val="0D6B8A"/>
          </a:solidFill>
          <a:ln w="12700">
            <a:solidFill>
              <a:srgbClr val="0D6B8A"/>
            </a:solidFill>
            <a:prstDash val="solid"/>
          </a:ln>
        </p:spPr>
      </p:sp>
      <p:sp>
        <p:nvSpPr>
          <p:cNvPr id="11" name="Text 9"/>
          <p:cNvSpPr/>
          <p:nvPr/>
        </p:nvSpPr>
        <p:spPr>
          <a:xfrm>
            <a:off x="365760" y="2020824"/>
            <a:ext cx="1005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2</a:t>
            </a:r>
            <a:endParaRPr lang="en-US" sz="1200" dirty="0"/>
          </a:p>
        </p:txBody>
      </p:sp>
      <p:sp>
        <p:nvSpPr>
          <p:cNvPr id="12" name="Text 10"/>
          <p:cNvSpPr/>
          <p:nvPr/>
        </p:nvSpPr>
        <p:spPr>
          <a:xfrm>
            <a:off x="1463040" y="2029968"/>
            <a:ext cx="717804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Describe the components of a Database Management System (DBMS).</a:t>
            </a:r>
            <a:endParaRPr lang="en-US" sz="1300" dirty="0"/>
          </a:p>
        </p:txBody>
      </p:sp>
      <p:sp>
        <p:nvSpPr>
          <p:cNvPr id="13" name="Shape 11"/>
          <p:cNvSpPr/>
          <p:nvPr/>
        </p:nvSpPr>
        <p:spPr>
          <a:xfrm>
            <a:off x="365760" y="2651760"/>
            <a:ext cx="8412480" cy="6583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4" name="Shape 12"/>
          <p:cNvSpPr/>
          <p:nvPr/>
        </p:nvSpPr>
        <p:spPr>
          <a:xfrm>
            <a:off x="365760" y="2651760"/>
            <a:ext cx="1005840" cy="658368"/>
          </a:xfrm>
          <a:prstGeom prst="rect">
            <a:avLst/>
          </a:prstGeom>
          <a:solidFill>
            <a:srgbClr val="0D9488"/>
          </a:solidFill>
          <a:ln w="12700">
            <a:solidFill>
              <a:srgbClr val="0D9488"/>
            </a:solidFill>
            <a:prstDash val="solid"/>
          </a:ln>
        </p:spPr>
      </p:sp>
      <p:sp>
        <p:nvSpPr>
          <p:cNvPr id="15" name="Text 13"/>
          <p:cNvSpPr/>
          <p:nvPr/>
        </p:nvSpPr>
        <p:spPr>
          <a:xfrm>
            <a:off x="365760" y="2788920"/>
            <a:ext cx="1005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3</a:t>
            </a:r>
            <a:endParaRPr lang="en-US" sz="1200" dirty="0"/>
          </a:p>
        </p:txBody>
      </p:sp>
      <p:sp>
        <p:nvSpPr>
          <p:cNvPr id="16" name="Text 14"/>
          <p:cNvSpPr/>
          <p:nvPr/>
        </p:nvSpPr>
        <p:spPr>
          <a:xfrm>
            <a:off x="1463040" y="2798064"/>
            <a:ext cx="717804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Identify database users and their roles within the database environment.</a:t>
            </a:r>
            <a:endParaRPr lang="en-US" sz="1300" dirty="0"/>
          </a:p>
        </p:txBody>
      </p:sp>
      <p:sp>
        <p:nvSpPr>
          <p:cNvPr id="17" name="Shape 15"/>
          <p:cNvSpPr/>
          <p:nvPr/>
        </p:nvSpPr>
        <p:spPr>
          <a:xfrm>
            <a:off x="365760" y="3419856"/>
            <a:ext cx="8412480" cy="6583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8" name="Shape 16"/>
          <p:cNvSpPr/>
          <p:nvPr/>
        </p:nvSpPr>
        <p:spPr>
          <a:xfrm>
            <a:off x="365760" y="3419856"/>
            <a:ext cx="1005840" cy="658368"/>
          </a:xfrm>
          <a:prstGeom prst="rect">
            <a:avLst/>
          </a:prstGeom>
          <a:solidFill>
            <a:srgbClr val="7C3AED"/>
          </a:solidFill>
          <a:ln w="12700">
            <a:solidFill>
              <a:srgbClr val="7C3AED"/>
            </a:solidFill>
            <a:prstDash val="solid"/>
          </a:ln>
        </p:spPr>
      </p:sp>
      <p:sp>
        <p:nvSpPr>
          <p:cNvPr id="19" name="Text 17"/>
          <p:cNvSpPr/>
          <p:nvPr/>
        </p:nvSpPr>
        <p:spPr>
          <a:xfrm>
            <a:off x="365760" y="3557016"/>
            <a:ext cx="1005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4</a:t>
            </a:r>
            <a:endParaRPr lang="en-US" sz="1200" dirty="0"/>
          </a:p>
        </p:txBody>
      </p:sp>
      <p:sp>
        <p:nvSpPr>
          <p:cNvPr id="20" name="Text 18"/>
          <p:cNvSpPr/>
          <p:nvPr/>
        </p:nvSpPr>
        <p:spPr>
          <a:xfrm>
            <a:off x="1463040" y="3566160"/>
            <a:ext cx="717804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Describe the importance of database systems together with their advantages and disadvantages.</a:t>
            </a:r>
            <a:endParaRPr lang="en-US" sz="1300" dirty="0"/>
          </a:p>
        </p:txBody>
      </p:sp>
      <p:sp>
        <p:nvSpPr>
          <p:cNvPr id="21" name="Shape 19"/>
          <p:cNvSpPr/>
          <p:nvPr/>
        </p:nvSpPr>
        <p:spPr>
          <a:xfrm>
            <a:off x="365760" y="4187952"/>
            <a:ext cx="8412480" cy="65836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2" name="Shape 20"/>
          <p:cNvSpPr/>
          <p:nvPr/>
        </p:nvSpPr>
        <p:spPr>
          <a:xfrm>
            <a:off x="365760" y="4187952"/>
            <a:ext cx="1005840" cy="658368"/>
          </a:xfrm>
          <a:prstGeom prst="rect">
            <a:avLst/>
          </a:prstGeom>
          <a:solidFill>
            <a:srgbClr val="059669"/>
          </a:solidFill>
          <a:ln w="12700">
            <a:solidFill>
              <a:srgbClr val="059669"/>
            </a:solidFill>
            <a:prstDash val="solid"/>
          </a:ln>
        </p:spPr>
      </p:sp>
      <p:sp>
        <p:nvSpPr>
          <p:cNvPr id="23" name="Text 21"/>
          <p:cNvSpPr/>
          <p:nvPr/>
        </p:nvSpPr>
        <p:spPr>
          <a:xfrm>
            <a:off x="365760" y="4325112"/>
            <a:ext cx="1005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5</a:t>
            </a:r>
            <a:endParaRPr lang="en-US" sz="1200" dirty="0"/>
          </a:p>
        </p:txBody>
      </p:sp>
      <p:sp>
        <p:nvSpPr>
          <p:cNvPr id="24" name="Text 22"/>
          <p:cNvSpPr/>
          <p:nvPr/>
        </p:nvSpPr>
        <p:spPr>
          <a:xfrm>
            <a:off x="1463040" y="4334256"/>
            <a:ext cx="7178040" cy="384048"/>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Describe a real-world scenario that uses a Database Management System.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Lecture Agenda</a:t>
            </a:r>
            <a:endParaRPr lang="en-US" sz="3000" dirty="0"/>
          </a:p>
        </p:txBody>
      </p:sp>
      <p:sp>
        <p:nvSpPr>
          <p:cNvPr id="4" name="Text 2"/>
          <p:cNvSpPr/>
          <p:nvPr/>
        </p:nvSpPr>
        <p:spPr>
          <a:xfrm>
            <a:off x="457200" y="731520"/>
            <a:ext cx="82296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Slides are organised by Learning Outcome — each section is clearly labelled.</a:t>
            </a:r>
            <a:endParaRPr lang="en-US" sz="1200" dirty="0"/>
          </a:p>
        </p:txBody>
      </p:sp>
      <p:sp>
        <p:nvSpPr>
          <p:cNvPr id="5" name="Shape 3"/>
          <p:cNvSpPr/>
          <p:nvPr/>
        </p:nvSpPr>
        <p:spPr>
          <a:xfrm>
            <a:off x="274320" y="1078992"/>
            <a:ext cx="8595360" cy="694944"/>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6" name="Shape 4"/>
          <p:cNvSpPr/>
          <p:nvPr/>
        </p:nvSpPr>
        <p:spPr>
          <a:xfrm>
            <a:off x="274320" y="1078992"/>
            <a:ext cx="914400" cy="694944"/>
          </a:xfrm>
          <a:prstGeom prst="rect">
            <a:avLst/>
          </a:prstGeom>
          <a:solidFill>
            <a:srgbClr val="1B2A4A"/>
          </a:solidFill>
          <a:ln w="12700">
            <a:solidFill>
              <a:srgbClr val="1B2A4A"/>
            </a:solidFill>
            <a:prstDash val="solid"/>
          </a:ln>
        </p:spPr>
      </p:sp>
      <p:sp>
        <p:nvSpPr>
          <p:cNvPr id="7" name="Text 5"/>
          <p:cNvSpPr/>
          <p:nvPr/>
        </p:nvSpPr>
        <p:spPr>
          <a:xfrm>
            <a:off x="274320" y="1261872"/>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1</a:t>
            </a:r>
            <a:endParaRPr lang="en-US" sz="1200" dirty="0"/>
          </a:p>
        </p:txBody>
      </p:sp>
      <p:sp>
        <p:nvSpPr>
          <p:cNvPr id="8" name="Text 6"/>
          <p:cNvSpPr/>
          <p:nvPr/>
        </p:nvSpPr>
        <p:spPr>
          <a:xfrm>
            <a:off x="1298448" y="1133856"/>
            <a:ext cx="4114800" cy="2743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Key Concepts &amp; the Database Environment</a:t>
            </a:r>
            <a:endParaRPr lang="en-US" sz="1300" dirty="0"/>
          </a:p>
        </p:txBody>
      </p:sp>
      <p:sp>
        <p:nvSpPr>
          <p:cNvPr id="9" name="Text 7"/>
          <p:cNvSpPr/>
          <p:nvPr/>
        </p:nvSpPr>
        <p:spPr>
          <a:xfrm>
            <a:off x="1298448" y="1426464"/>
            <a:ext cx="740664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What is a database? DBMS? Metadata?  •  File-based systems &amp; their 5 limitations  •  The database approach &amp; data independence</a:t>
            </a:r>
            <a:endParaRPr lang="en-US" sz="1000" dirty="0"/>
          </a:p>
        </p:txBody>
      </p:sp>
      <p:sp>
        <p:nvSpPr>
          <p:cNvPr id="10" name="Shape 8"/>
          <p:cNvSpPr/>
          <p:nvPr/>
        </p:nvSpPr>
        <p:spPr>
          <a:xfrm>
            <a:off x="274320" y="1874520"/>
            <a:ext cx="8595360" cy="694944"/>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1" name="Shape 9"/>
          <p:cNvSpPr/>
          <p:nvPr/>
        </p:nvSpPr>
        <p:spPr>
          <a:xfrm>
            <a:off x="274320" y="1874520"/>
            <a:ext cx="914400" cy="694944"/>
          </a:xfrm>
          <a:prstGeom prst="rect">
            <a:avLst/>
          </a:prstGeom>
          <a:solidFill>
            <a:srgbClr val="0D6B8A"/>
          </a:solidFill>
          <a:ln w="12700">
            <a:solidFill>
              <a:srgbClr val="0D6B8A"/>
            </a:solidFill>
            <a:prstDash val="solid"/>
          </a:ln>
        </p:spPr>
      </p:sp>
      <p:sp>
        <p:nvSpPr>
          <p:cNvPr id="12" name="Text 10"/>
          <p:cNvSpPr/>
          <p:nvPr/>
        </p:nvSpPr>
        <p:spPr>
          <a:xfrm>
            <a:off x="274320" y="2057400"/>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2</a:t>
            </a:r>
            <a:endParaRPr lang="en-US" sz="1200" dirty="0"/>
          </a:p>
        </p:txBody>
      </p:sp>
      <p:sp>
        <p:nvSpPr>
          <p:cNvPr id="13" name="Text 11"/>
          <p:cNvSpPr/>
          <p:nvPr/>
        </p:nvSpPr>
        <p:spPr>
          <a:xfrm>
            <a:off x="1298448" y="1929384"/>
            <a:ext cx="4114800" cy="274320"/>
          </a:xfrm>
          <a:prstGeom prst="rect">
            <a:avLst/>
          </a:prstGeom>
          <a:noFill/>
          <a:ln/>
        </p:spPr>
        <p:txBody>
          <a:bodyPr wrap="square" lIns="0" tIns="0" rIns="0" bIns="0" rtlCol="0" anchor="ctr"/>
          <a:lstStyle/>
          <a:p>
            <a:pPr indent="0" marL="0">
              <a:buNone/>
            </a:pPr>
            <a:r>
              <a:rPr lang="en-US" sz="1300" b="1" dirty="0">
                <a:solidFill>
                  <a:srgbClr val="0D6B8A"/>
                </a:solidFill>
                <a:latin typeface="Calibri" pitchFamily="34" charset="0"/>
                <a:ea typeface="Calibri" pitchFamily="34" charset="-122"/>
                <a:cs typeface="Calibri" pitchFamily="34" charset="-120"/>
              </a:rPr>
              <a:t>Components of a DBMS</a:t>
            </a:r>
            <a:endParaRPr lang="en-US" sz="1300" dirty="0"/>
          </a:p>
        </p:txBody>
      </p:sp>
      <p:sp>
        <p:nvSpPr>
          <p:cNvPr id="14" name="Text 12"/>
          <p:cNvSpPr/>
          <p:nvPr/>
        </p:nvSpPr>
        <p:spPr>
          <a:xfrm>
            <a:off x="1298448" y="2221992"/>
            <a:ext cx="740664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5 components of the DBMS environment  •  What the DBMS provides: DDL, DML, Security,  •  Integrity, Concurrency, Recovery, Views</a:t>
            </a:r>
            <a:endParaRPr lang="en-US" sz="1000" dirty="0"/>
          </a:p>
        </p:txBody>
      </p:sp>
      <p:sp>
        <p:nvSpPr>
          <p:cNvPr id="15" name="Shape 13"/>
          <p:cNvSpPr/>
          <p:nvPr/>
        </p:nvSpPr>
        <p:spPr>
          <a:xfrm>
            <a:off x="274320" y="2670048"/>
            <a:ext cx="8595360" cy="694944"/>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6" name="Shape 14"/>
          <p:cNvSpPr/>
          <p:nvPr/>
        </p:nvSpPr>
        <p:spPr>
          <a:xfrm>
            <a:off x="274320" y="2670048"/>
            <a:ext cx="914400" cy="694944"/>
          </a:xfrm>
          <a:prstGeom prst="rect">
            <a:avLst/>
          </a:prstGeom>
          <a:solidFill>
            <a:srgbClr val="0D9488"/>
          </a:solidFill>
          <a:ln w="12700">
            <a:solidFill>
              <a:srgbClr val="0D9488"/>
            </a:solidFill>
            <a:prstDash val="solid"/>
          </a:ln>
        </p:spPr>
      </p:sp>
      <p:sp>
        <p:nvSpPr>
          <p:cNvPr id="17" name="Text 15"/>
          <p:cNvSpPr/>
          <p:nvPr/>
        </p:nvSpPr>
        <p:spPr>
          <a:xfrm>
            <a:off x="274320" y="2852928"/>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3</a:t>
            </a:r>
            <a:endParaRPr lang="en-US" sz="1200" dirty="0"/>
          </a:p>
        </p:txBody>
      </p:sp>
      <p:sp>
        <p:nvSpPr>
          <p:cNvPr id="18" name="Text 16"/>
          <p:cNvSpPr/>
          <p:nvPr/>
        </p:nvSpPr>
        <p:spPr>
          <a:xfrm>
            <a:off x="1298448" y="2724912"/>
            <a:ext cx="4114800" cy="27432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Database Users and Their Roles</a:t>
            </a:r>
            <a:endParaRPr lang="en-US" sz="1300" dirty="0"/>
          </a:p>
        </p:txBody>
      </p:sp>
      <p:sp>
        <p:nvSpPr>
          <p:cNvPr id="19" name="Text 17"/>
          <p:cNvSpPr/>
          <p:nvPr/>
        </p:nvSpPr>
        <p:spPr>
          <a:xfrm>
            <a:off x="1298448" y="3017520"/>
            <a:ext cx="740664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DA, DBA, Logical Designer, Physical Designer  •  Application Developer, End-Users (Naïve &amp; Sophisticated)</a:t>
            </a:r>
            <a:endParaRPr lang="en-US" sz="1000" dirty="0"/>
          </a:p>
        </p:txBody>
      </p:sp>
      <p:sp>
        <p:nvSpPr>
          <p:cNvPr id="20" name="Shape 18"/>
          <p:cNvSpPr/>
          <p:nvPr/>
        </p:nvSpPr>
        <p:spPr>
          <a:xfrm>
            <a:off x="274320" y="3465576"/>
            <a:ext cx="8595360" cy="694944"/>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1" name="Shape 19"/>
          <p:cNvSpPr/>
          <p:nvPr/>
        </p:nvSpPr>
        <p:spPr>
          <a:xfrm>
            <a:off x="274320" y="3465576"/>
            <a:ext cx="914400" cy="694944"/>
          </a:xfrm>
          <a:prstGeom prst="rect">
            <a:avLst/>
          </a:prstGeom>
          <a:solidFill>
            <a:srgbClr val="7C3AED"/>
          </a:solidFill>
          <a:ln w="12700">
            <a:solidFill>
              <a:srgbClr val="7C3AED"/>
            </a:solidFill>
            <a:prstDash val="solid"/>
          </a:ln>
        </p:spPr>
      </p:sp>
      <p:sp>
        <p:nvSpPr>
          <p:cNvPr id="22" name="Text 20"/>
          <p:cNvSpPr/>
          <p:nvPr/>
        </p:nvSpPr>
        <p:spPr>
          <a:xfrm>
            <a:off x="274320" y="3648456"/>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4</a:t>
            </a:r>
            <a:endParaRPr lang="en-US" sz="1200" dirty="0"/>
          </a:p>
        </p:txBody>
      </p:sp>
      <p:sp>
        <p:nvSpPr>
          <p:cNvPr id="23" name="Text 21"/>
          <p:cNvSpPr/>
          <p:nvPr/>
        </p:nvSpPr>
        <p:spPr>
          <a:xfrm>
            <a:off x="1298448" y="3520440"/>
            <a:ext cx="4114800" cy="27432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Importance, Advantages &amp; Disadvantages</a:t>
            </a:r>
            <a:endParaRPr lang="en-US" sz="1300" dirty="0"/>
          </a:p>
        </p:txBody>
      </p:sp>
      <p:sp>
        <p:nvSpPr>
          <p:cNvPr id="24" name="Text 22"/>
          <p:cNvSpPr/>
          <p:nvPr/>
        </p:nvSpPr>
        <p:spPr>
          <a:xfrm>
            <a:off x="1298448" y="3813048"/>
            <a:ext cx="740664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Why databases matter for organisations  •  13 advantages  |  6 disadvantages with examples</a:t>
            </a:r>
            <a:endParaRPr lang="en-US" sz="1000" dirty="0"/>
          </a:p>
        </p:txBody>
      </p:sp>
      <p:sp>
        <p:nvSpPr>
          <p:cNvPr id="25" name="Shape 23"/>
          <p:cNvSpPr/>
          <p:nvPr/>
        </p:nvSpPr>
        <p:spPr>
          <a:xfrm>
            <a:off x="274320" y="4261104"/>
            <a:ext cx="8595360" cy="694944"/>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6" name="Shape 24"/>
          <p:cNvSpPr/>
          <p:nvPr/>
        </p:nvSpPr>
        <p:spPr>
          <a:xfrm>
            <a:off x="274320" y="4261104"/>
            <a:ext cx="914400" cy="694944"/>
          </a:xfrm>
          <a:prstGeom prst="rect">
            <a:avLst/>
          </a:prstGeom>
          <a:solidFill>
            <a:srgbClr val="059669"/>
          </a:solidFill>
          <a:ln w="12700">
            <a:solidFill>
              <a:srgbClr val="059669"/>
            </a:solidFill>
            <a:prstDash val="solid"/>
          </a:ln>
        </p:spPr>
      </p:sp>
      <p:sp>
        <p:nvSpPr>
          <p:cNvPr id="27" name="Text 25"/>
          <p:cNvSpPr/>
          <p:nvPr/>
        </p:nvSpPr>
        <p:spPr>
          <a:xfrm>
            <a:off x="274320" y="4443984"/>
            <a:ext cx="9144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 5</a:t>
            </a:r>
            <a:endParaRPr lang="en-US" sz="1200" dirty="0"/>
          </a:p>
        </p:txBody>
      </p:sp>
      <p:sp>
        <p:nvSpPr>
          <p:cNvPr id="28" name="Text 26"/>
          <p:cNvSpPr/>
          <p:nvPr/>
        </p:nvSpPr>
        <p:spPr>
          <a:xfrm>
            <a:off x="1298448" y="4315968"/>
            <a:ext cx="4114800" cy="274320"/>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Real-World Scenario: DreamHome</a:t>
            </a:r>
            <a:endParaRPr lang="en-US" sz="1300" dirty="0"/>
          </a:p>
        </p:txBody>
      </p:sp>
      <p:sp>
        <p:nvSpPr>
          <p:cNvPr id="29" name="Text 27"/>
          <p:cNvSpPr/>
          <p:nvPr/>
        </p:nvSpPr>
        <p:spPr>
          <a:xfrm>
            <a:off x="1298448" y="4608576"/>
            <a:ext cx="7406640" cy="310896"/>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DreamHome property management case study  •  Full scenario: entities, SQL queries, user roles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FFFF"/>
          </a:solidFill>
          <a:ln w="12700">
            <a:solidFill>
              <a:srgbClr val="FFFFFF"/>
            </a:solidFill>
            <a:prstDash val="solid"/>
          </a:ln>
        </p:spPr>
      </p:sp>
      <p:sp>
        <p:nvSpPr>
          <p:cNvPr id="3" name="Shape 1"/>
          <p:cNvSpPr/>
          <p:nvPr/>
        </p:nvSpPr>
        <p:spPr>
          <a:xfrm>
            <a:off x="0" y="5079492"/>
            <a:ext cx="9144000" cy="64008"/>
          </a:xfrm>
          <a:prstGeom prst="rect">
            <a:avLst/>
          </a:prstGeom>
          <a:solidFill>
            <a:srgbClr val="FFFFFF"/>
          </a:solidFill>
          <a:ln w="12700">
            <a:solidFill>
              <a:srgbClr val="FFFFFF"/>
            </a:solidFill>
            <a:prstDash val="solid"/>
          </a:ln>
        </p:spPr>
      </p:sp>
      <p:sp>
        <p:nvSpPr>
          <p:cNvPr id="4" name="Shape 2"/>
          <p:cNvSpPr/>
          <p:nvPr/>
        </p:nvSpPr>
        <p:spPr>
          <a:xfrm>
            <a:off x="548640" y="1371600"/>
            <a:ext cx="1828800" cy="1828800"/>
          </a:xfrm>
          <a:prstGeom prst="ellipse">
            <a:avLst/>
          </a:prstGeom>
          <a:solidFill>
            <a:srgbClr val="FFFFFF"/>
          </a:solidFill>
          <a:ln w="12700">
            <a:solidFill>
              <a:srgbClr val="FFFFFF"/>
            </a:solidFill>
            <a:prstDash val="solid"/>
          </a:ln>
        </p:spPr>
      </p:sp>
      <p:sp>
        <p:nvSpPr>
          <p:cNvPr id="5" name="Text 3"/>
          <p:cNvSpPr/>
          <p:nvPr/>
        </p:nvSpPr>
        <p:spPr>
          <a:xfrm>
            <a:off x="548640" y="1371600"/>
            <a:ext cx="1828800" cy="1828800"/>
          </a:xfrm>
          <a:prstGeom prst="rect">
            <a:avLst/>
          </a:prstGeom>
          <a:noFill/>
          <a:ln/>
        </p:spPr>
        <p:txBody>
          <a:bodyPr wrap="square" lIns="0" tIns="0" rIns="0" bIns="0" rtlCol="0" anchor="ctr"/>
          <a:lstStyle/>
          <a:p>
            <a:pPr algn="ctr" indent="0" marL="0">
              <a:buNone/>
            </a:pPr>
            <a:r>
              <a:rPr lang="en-US" sz="2800" b="1" dirty="0">
                <a:solidFill>
                  <a:srgbClr val="1B2A4A"/>
                </a:solidFill>
                <a:latin typeface="Georgia" pitchFamily="34" charset="0"/>
                <a:ea typeface="Georgia" pitchFamily="34" charset="-122"/>
                <a:cs typeface="Georgia" pitchFamily="34" charset="-120"/>
              </a:rPr>
              <a:t>LO 1</a:t>
            </a:r>
            <a:endParaRPr lang="en-US" sz="2800" dirty="0"/>
          </a:p>
        </p:txBody>
      </p:sp>
      <p:sp>
        <p:nvSpPr>
          <p:cNvPr id="6" name="Text 4"/>
          <p:cNvSpPr/>
          <p:nvPr/>
        </p:nvSpPr>
        <p:spPr>
          <a:xfrm>
            <a:off x="2743200" y="1371600"/>
            <a:ext cx="6126480" cy="128016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Key Concepts &amp;</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the Database Environment</a:t>
            </a:r>
            <a:endParaRPr lang="en-US" sz="3400" dirty="0"/>
          </a:p>
        </p:txBody>
      </p:sp>
      <p:sp>
        <p:nvSpPr>
          <p:cNvPr id="7" name="Text 5"/>
          <p:cNvSpPr/>
          <p:nvPr/>
        </p:nvSpPr>
        <p:spPr>
          <a:xfrm>
            <a:off x="2743200" y="2743200"/>
            <a:ext cx="6126480" cy="731520"/>
          </a:xfrm>
          <a:prstGeom prst="rect">
            <a:avLst/>
          </a:prstGeom>
          <a:noFill/>
          <a:ln/>
        </p:spPr>
        <p:txBody>
          <a:bodyPr wrap="square" lIns="0" tIns="0" rIns="0" bIns="0" rtlCol="0" anchor="ctr"/>
          <a:lstStyle/>
          <a:p>
            <a:pPr indent="0" marL="0">
              <a:buNone/>
            </a:pPr>
            <a:r>
              <a:rPr lang="en-US" sz="1500" dirty="0">
                <a:solidFill>
                  <a:srgbClr val="D1FAE5"/>
                </a:solidFill>
                <a:latin typeface="Calibri" pitchFamily="34" charset="0"/>
                <a:ea typeface="Calibri" pitchFamily="34" charset="-122"/>
                <a:cs typeface="Calibri" pitchFamily="34" charset="-120"/>
              </a:rPr>
              <a:t>Define key terms, understand file-based problems, and the database approach.</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2A4A"/>
          </a:solidFill>
          <a:ln w="12700">
            <a:solidFill>
              <a:srgbClr val="1B2A4A"/>
            </a:solidFill>
            <a:prstDash val="solid"/>
          </a:ln>
        </p:spPr>
      </p:sp>
      <p:sp>
        <p:nvSpPr>
          <p:cNvPr id="3" name="Shape 1"/>
          <p:cNvSpPr/>
          <p:nvPr/>
        </p:nvSpPr>
        <p:spPr>
          <a:xfrm>
            <a:off x="0" y="73152"/>
            <a:ext cx="9144000" cy="384048"/>
          </a:xfrm>
          <a:prstGeom prst="rect">
            <a:avLst/>
          </a:prstGeom>
          <a:solidFill>
            <a:srgbClr val="1B2A4A"/>
          </a:solidFill>
          <a:ln w="12700">
            <a:solidFill>
              <a:srgbClr val="1B2A4A"/>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A5B4FC"/>
                </a:solidFill>
                <a:latin typeface="Calibri" pitchFamily="34" charset="0"/>
                <a:ea typeface="Calibri" pitchFamily="34" charset="-122"/>
                <a:cs typeface="Calibri" pitchFamily="34" charset="-120"/>
              </a:rPr>
              <a:t>LO 1  —  Key Database Concepts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Core Definitions</a:t>
            </a:r>
            <a:endParaRPr lang="en-US" sz="2600" dirty="0"/>
          </a:p>
        </p:txBody>
      </p:sp>
      <p:sp>
        <p:nvSpPr>
          <p:cNvPr id="6" name="Shape 4"/>
          <p:cNvSpPr/>
          <p:nvPr/>
        </p:nvSpPr>
        <p:spPr>
          <a:xfrm>
            <a:off x="274320" y="1051560"/>
            <a:ext cx="8595360" cy="713232"/>
          </a:xfrm>
          <a:prstGeom prst="rect">
            <a:avLst/>
          </a:prstGeom>
          <a:solidFill>
            <a:srgbClr val="FFFFFF"/>
          </a:solidFill>
          <a:ln w="12700">
            <a:solidFill>
              <a:srgbClr val="E2E8F0"/>
            </a:solidFill>
            <a:prstDash val="solid"/>
          </a:ln>
        </p:spPr>
      </p:sp>
      <p:sp>
        <p:nvSpPr>
          <p:cNvPr id="7" name="Shape 5"/>
          <p:cNvSpPr/>
          <p:nvPr/>
        </p:nvSpPr>
        <p:spPr>
          <a:xfrm>
            <a:off x="274320" y="1051560"/>
            <a:ext cx="1143000" cy="713232"/>
          </a:xfrm>
          <a:prstGeom prst="rect">
            <a:avLst/>
          </a:prstGeom>
          <a:solidFill>
            <a:srgbClr val="1E3A5F"/>
          </a:solidFill>
          <a:ln w="12700">
            <a:solidFill>
              <a:srgbClr val="1E3A5F"/>
            </a:solidFill>
            <a:prstDash val="solid"/>
          </a:ln>
        </p:spPr>
      </p:sp>
      <p:sp>
        <p:nvSpPr>
          <p:cNvPr id="8" name="Text 6"/>
          <p:cNvSpPr/>
          <p:nvPr/>
        </p:nvSpPr>
        <p:spPr>
          <a:xfrm>
            <a:off x="292608" y="1179576"/>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p:txBody>
      </p:sp>
      <p:sp>
        <p:nvSpPr>
          <p:cNvPr id="9" name="Text 7"/>
          <p:cNvSpPr/>
          <p:nvPr/>
        </p:nvSpPr>
        <p:spPr>
          <a:xfrm>
            <a:off x="1508760" y="1115568"/>
            <a:ext cx="374904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Raw facts recorded about objects or events — on their own, data has no meaning.</a:t>
            </a:r>
            <a:endParaRPr lang="en-US" sz="950" dirty="0"/>
          </a:p>
        </p:txBody>
      </p:sp>
      <p:sp>
        <p:nvSpPr>
          <p:cNvPr id="10" name="Shape 8"/>
          <p:cNvSpPr/>
          <p:nvPr/>
        </p:nvSpPr>
        <p:spPr>
          <a:xfrm>
            <a:off x="5376672" y="1106424"/>
            <a:ext cx="3401568" cy="612648"/>
          </a:xfrm>
          <a:prstGeom prst="rect">
            <a:avLst/>
          </a:prstGeom>
          <a:solidFill>
            <a:srgbClr val="EFF6FF"/>
          </a:solidFill>
          <a:ln w="12700">
            <a:solidFill>
              <a:srgbClr val="3B82F6"/>
            </a:solidFill>
            <a:prstDash val="solid"/>
          </a:ln>
        </p:spPr>
      </p:sp>
      <p:sp>
        <p:nvSpPr>
          <p:cNvPr id="11" name="Text 9"/>
          <p:cNvSpPr/>
          <p:nvPr/>
        </p:nvSpPr>
        <p:spPr>
          <a:xfrm>
            <a:off x="5440680" y="1143000"/>
            <a:ext cx="3273552" cy="548640"/>
          </a:xfrm>
          <a:prstGeom prst="rect">
            <a:avLst/>
          </a:prstGeom>
          <a:noFill/>
          <a:ln/>
        </p:spPr>
        <p:txBody>
          <a:bodyPr wrap="square" lIns="0" tIns="0" rIns="0" bIns="0" rtlCol="0" anchor="ctr"/>
          <a:lstStyle/>
          <a:p>
            <a:pPr indent="0" marL="0">
              <a:buNone/>
            </a:pPr>
            <a:r>
              <a:rPr lang="en-US" sz="900" i="1" dirty="0">
                <a:solidFill>
                  <a:srgbClr val="1E3A5F"/>
                </a:solidFill>
                <a:latin typeface="Calibri" pitchFamily="34" charset="0"/>
                <a:ea typeface="Calibri" pitchFamily="34" charset="-122"/>
                <a:cs typeface="Calibri" pitchFamily="34" charset="-120"/>
              </a:rPr>
              <a:t>Example: '50', 'PA14', 'Flat', 'Joe' are data items. Without context, they mean nothing.</a:t>
            </a:r>
            <a:endParaRPr lang="en-US" sz="900" dirty="0"/>
          </a:p>
        </p:txBody>
      </p:sp>
      <p:sp>
        <p:nvSpPr>
          <p:cNvPr id="12" name="Shape 10"/>
          <p:cNvSpPr/>
          <p:nvPr/>
        </p:nvSpPr>
        <p:spPr>
          <a:xfrm>
            <a:off x="274320" y="1847088"/>
            <a:ext cx="8595360" cy="713232"/>
          </a:xfrm>
          <a:prstGeom prst="rect">
            <a:avLst/>
          </a:prstGeom>
          <a:solidFill>
            <a:srgbClr val="FFFFFF"/>
          </a:solidFill>
          <a:ln w="12700">
            <a:solidFill>
              <a:srgbClr val="E2E8F0"/>
            </a:solidFill>
            <a:prstDash val="solid"/>
          </a:ln>
        </p:spPr>
      </p:sp>
      <p:sp>
        <p:nvSpPr>
          <p:cNvPr id="13" name="Shape 11"/>
          <p:cNvSpPr/>
          <p:nvPr/>
        </p:nvSpPr>
        <p:spPr>
          <a:xfrm>
            <a:off x="274320" y="1847088"/>
            <a:ext cx="1143000" cy="713232"/>
          </a:xfrm>
          <a:prstGeom prst="rect">
            <a:avLst/>
          </a:prstGeom>
          <a:solidFill>
            <a:srgbClr val="0D6B8A"/>
          </a:solidFill>
          <a:ln w="12700">
            <a:solidFill>
              <a:srgbClr val="0D6B8A"/>
            </a:solidFill>
            <a:prstDash val="solid"/>
          </a:ln>
        </p:spPr>
      </p:sp>
      <p:sp>
        <p:nvSpPr>
          <p:cNvPr id="14" name="Text 12"/>
          <p:cNvSpPr/>
          <p:nvPr/>
        </p:nvSpPr>
        <p:spPr>
          <a:xfrm>
            <a:off x="292608" y="1975104"/>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Database</a:t>
            </a:r>
            <a:endParaRPr lang="en-US" sz="1050" dirty="0"/>
          </a:p>
        </p:txBody>
      </p:sp>
      <p:sp>
        <p:nvSpPr>
          <p:cNvPr id="15" name="Text 13"/>
          <p:cNvSpPr/>
          <p:nvPr/>
        </p:nvSpPr>
        <p:spPr>
          <a:xfrm>
            <a:off x="1508760" y="1911096"/>
            <a:ext cx="374904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 shared, self-describing collection of logically related data, designed to meet an organisation's information needs. It stores both data AND a description of that data.</a:t>
            </a:r>
            <a:endParaRPr lang="en-US" sz="950" dirty="0"/>
          </a:p>
        </p:txBody>
      </p:sp>
      <p:sp>
        <p:nvSpPr>
          <p:cNvPr id="16" name="Shape 14"/>
          <p:cNvSpPr/>
          <p:nvPr/>
        </p:nvSpPr>
        <p:spPr>
          <a:xfrm>
            <a:off x="5376672" y="1901952"/>
            <a:ext cx="3401568" cy="612648"/>
          </a:xfrm>
          <a:prstGeom prst="rect">
            <a:avLst/>
          </a:prstGeom>
          <a:solidFill>
            <a:srgbClr val="EFF6FF"/>
          </a:solidFill>
          <a:ln w="12700">
            <a:solidFill>
              <a:srgbClr val="3B82F6"/>
            </a:solidFill>
            <a:prstDash val="solid"/>
          </a:ln>
        </p:spPr>
      </p:sp>
      <p:sp>
        <p:nvSpPr>
          <p:cNvPr id="17" name="Text 15"/>
          <p:cNvSpPr/>
          <p:nvPr/>
        </p:nvSpPr>
        <p:spPr>
          <a:xfrm>
            <a:off x="5440680" y="1938528"/>
            <a:ext cx="3273552" cy="548640"/>
          </a:xfrm>
          <a:prstGeom prst="rect">
            <a:avLst/>
          </a:prstGeom>
          <a:noFill/>
          <a:ln/>
        </p:spPr>
        <p:txBody>
          <a:bodyPr wrap="square" lIns="0" tIns="0" rIns="0" bIns="0" rtlCol="0" anchor="ctr"/>
          <a:lstStyle/>
          <a:p>
            <a:pPr indent="0" marL="0">
              <a:buNone/>
            </a:pPr>
            <a:r>
              <a:rPr lang="en-US" sz="900" i="1" dirty="0">
                <a:solidFill>
                  <a:srgbClr val="1E3A5F"/>
                </a:solidFill>
                <a:latin typeface="Calibri" pitchFamily="34" charset="0"/>
                <a:ea typeface="Calibri" pitchFamily="34" charset="-122"/>
                <a:cs typeface="Calibri" pitchFamily="34" charset="-120"/>
              </a:rPr>
              <a:t>Example: DreamHome's database holds Branch, Staff, Property, Client, Owner, and Lease tables — all related, all in one place.</a:t>
            </a:r>
            <a:endParaRPr lang="en-US" sz="900" dirty="0"/>
          </a:p>
        </p:txBody>
      </p:sp>
      <p:sp>
        <p:nvSpPr>
          <p:cNvPr id="18" name="Shape 16"/>
          <p:cNvSpPr/>
          <p:nvPr/>
        </p:nvSpPr>
        <p:spPr>
          <a:xfrm>
            <a:off x="274320" y="2642616"/>
            <a:ext cx="8595360" cy="713232"/>
          </a:xfrm>
          <a:prstGeom prst="rect">
            <a:avLst/>
          </a:prstGeom>
          <a:solidFill>
            <a:srgbClr val="FFFFFF"/>
          </a:solidFill>
          <a:ln w="12700">
            <a:solidFill>
              <a:srgbClr val="E2E8F0"/>
            </a:solidFill>
            <a:prstDash val="solid"/>
          </a:ln>
        </p:spPr>
      </p:sp>
      <p:sp>
        <p:nvSpPr>
          <p:cNvPr id="19" name="Shape 17"/>
          <p:cNvSpPr/>
          <p:nvPr/>
        </p:nvSpPr>
        <p:spPr>
          <a:xfrm>
            <a:off x="274320" y="2642616"/>
            <a:ext cx="1143000" cy="713232"/>
          </a:xfrm>
          <a:prstGeom prst="rect">
            <a:avLst/>
          </a:prstGeom>
          <a:solidFill>
            <a:srgbClr val="0D9488"/>
          </a:solidFill>
          <a:ln w="12700">
            <a:solidFill>
              <a:srgbClr val="0D9488"/>
            </a:solidFill>
            <a:prstDash val="solid"/>
          </a:ln>
        </p:spPr>
      </p:sp>
      <p:sp>
        <p:nvSpPr>
          <p:cNvPr id="20" name="Text 18"/>
          <p:cNvSpPr/>
          <p:nvPr/>
        </p:nvSpPr>
        <p:spPr>
          <a:xfrm>
            <a:off x="292608" y="2770632"/>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DBMS</a:t>
            </a:r>
            <a:endParaRPr lang="en-US" sz="1050" dirty="0"/>
          </a:p>
        </p:txBody>
      </p:sp>
      <p:sp>
        <p:nvSpPr>
          <p:cNvPr id="21" name="Text 19"/>
          <p:cNvSpPr/>
          <p:nvPr/>
        </p:nvSpPr>
        <p:spPr>
          <a:xfrm>
            <a:off x="1508760" y="2706624"/>
            <a:ext cx="374904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Software that enables users to define, create, maintain, and control access to a database. Examples: Oracle, MySQL, SQL Server, PostgreSQL.</a:t>
            </a:r>
            <a:endParaRPr lang="en-US" sz="950" dirty="0"/>
          </a:p>
        </p:txBody>
      </p:sp>
      <p:sp>
        <p:nvSpPr>
          <p:cNvPr id="22" name="Shape 20"/>
          <p:cNvSpPr/>
          <p:nvPr/>
        </p:nvSpPr>
        <p:spPr>
          <a:xfrm>
            <a:off x="5376672" y="2697480"/>
            <a:ext cx="3401568" cy="612648"/>
          </a:xfrm>
          <a:prstGeom prst="rect">
            <a:avLst/>
          </a:prstGeom>
          <a:solidFill>
            <a:srgbClr val="EFF6FF"/>
          </a:solidFill>
          <a:ln w="12700">
            <a:solidFill>
              <a:srgbClr val="3B82F6"/>
            </a:solidFill>
            <a:prstDash val="solid"/>
          </a:ln>
        </p:spPr>
      </p:sp>
      <p:sp>
        <p:nvSpPr>
          <p:cNvPr id="23" name="Text 21"/>
          <p:cNvSpPr/>
          <p:nvPr/>
        </p:nvSpPr>
        <p:spPr>
          <a:xfrm>
            <a:off x="5440680" y="2734056"/>
            <a:ext cx="3273552" cy="548640"/>
          </a:xfrm>
          <a:prstGeom prst="rect">
            <a:avLst/>
          </a:prstGeom>
          <a:noFill/>
          <a:ln/>
        </p:spPr>
        <p:txBody>
          <a:bodyPr wrap="square" lIns="0" tIns="0" rIns="0" bIns="0" rtlCol="0" anchor="ctr"/>
          <a:lstStyle/>
          <a:p>
            <a:pPr indent="0" marL="0">
              <a:buNone/>
            </a:pPr>
            <a:r>
              <a:rPr lang="en-US" sz="900" i="1" dirty="0">
                <a:solidFill>
                  <a:srgbClr val="1E3A5F"/>
                </a:solidFill>
                <a:latin typeface="Calibri" pitchFamily="34" charset="0"/>
                <a:ea typeface="Calibri" pitchFamily="34" charset="-122"/>
                <a:cs typeface="Calibri" pitchFamily="34" charset="-120"/>
              </a:rPr>
              <a:t>Example: When a DreamHome manager searches for flats under £400/month, Oracle (the DBMS) receives the SQL query, fetches matching records, and returns results.</a:t>
            </a:r>
            <a:endParaRPr lang="en-US" sz="900" dirty="0"/>
          </a:p>
        </p:txBody>
      </p:sp>
      <p:sp>
        <p:nvSpPr>
          <p:cNvPr id="24" name="Shape 22"/>
          <p:cNvSpPr/>
          <p:nvPr/>
        </p:nvSpPr>
        <p:spPr>
          <a:xfrm>
            <a:off x="274320" y="3438144"/>
            <a:ext cx="8595360" cy="713232"/>
          </a:xfrm>
          <a:prstGeom prst="rect">
            <a:avLst/>
          </a:prstGeom>
          <a:solidFill>
            <a:srgbClr val="FFFFFF"/>
          </a:solidFill>
          <a:ln w="12700">
            <a:solidFill>
              <a:srgbClr val="E2E8F0"/>
            </a:solidFill>
            <a:prstDash val="solid"/>
          </a:ln>
        </p:spPr>
      </p:sp>
      <p:sp>
        <p:nvSpPr>
          <p:cNvPr id="25" name="Shape 23"/>
          <p:cNvSpPr/>
          <p:nvPr/>
        </p:nvSpPr>
        <p:spPr>
          <a:xfrm>
            <a:off x="274320" y="3438144"/>
            <a:ext cx="1143000" cy="713232"/>
          </a:xfrm>
          <a:prstGeom prst="rect">
            <a:avLst/>
          </a:prstGeom>
          <a:solidFill>
            <a:srgbClr val="059669"/>
          </a:solidFill>
          <a:ln w="12700">
            <a:solidFill>
              <a:srgbClr val="059669"/>
            </a:solidFill>
            <a:prstDash val="solid"/>
          </a:ln>
        </p:spPr>
      </p:sp>
      <p:sp>
        <p:nvSpPr>
          <p:cNvPr id="26" name="Text 24"/>
          <p:cNvSpPr/>
          <p:nvPr/>
        </p:nvSpPr>
        <p:spPr>
          <a:xfrm>
            <a:off x="292608" y="3566160"/>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Metadata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 System Catalog</a:t>
            </a:r>
            <a:endParaRPr lang="en-US" sz="1050" dirty="0"/>
          </a:p>
        </p:txBody>
      </p:sp>
      <p:sp>
        <p:nvSpPr>
          <p:cNvPr id="27" name="Text 25"/>
          <p:cNvSpPr/>
          <p:nvPr/>
        </p:nvSpPr>
        <p:spPr>
          <a:xfrm>
            <a:off x="1508760" y="3502152"/>
            <a:ext cx="374904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'Data about data.' The DBMS stores descriptions of every table, field, data type, and relationship inside a system catalog — not in the application code.</a:t>
            </a:r>
            <a:endParaRPr lang="en-US" sz="950" dirty="0"/>
          </a:p>
        </p:txBody>
      </p:sp>
      <p:sp>
        <p:nvSpPr>
          <p:cNvPr id="28" name="Shape 26"/>
          <p:cNvSpPr/>
          <p:nvPr/>
        </p:nvSpPr>
        <p:spPr>
          <a:xfrm>
            <a:off x="5376672" y="3493008"/>
            <a:ext cx="3401568" cy="612648"/>
          </a:xfrm>
          <a:prstGeom prst="rect">
            <a:avLst/>
          </a:prstGeom>
          <a:solidFill>
            <a:srgbClr val="EFF6FF"/>
          </a:solidFill>
          <a:ln w="12700">
            <a:solidFill>
              <a:srgbClr val="3B82F6"/>
            </a:solidFill>
            <a:prstDash val="solid"/>
          </a:ln>
        </p:spPr>
      </p:sp>
      <p:sp>
        <p:nvSpPr>
          <p:cNvPr id="29" name="Text 27"/>
          <p:cNvSpPr/>
          <p:nvPr/>
        </p:nvSpPr>
        <p:spPr>
          <a:xfrm>
            <a:off x="5440680" y="3529584"/>
            <a:ext cx="3273552" cy="548640"/>
          </a:xfrm>
          <a:prstGeom prst="rect">
            <a:avLst/>
          </a:prstGeom>
          <a:noFill/>
          <a:ln/>
        </p:spPr>
        <p:txBody>
          <a:bodyPr wrap="square" lIns="0" tIns="0" rIns="0" bIns="0" rtlCol="0" anchor="ctr"/>
          <a:lstStyle/>
          <a:p>
            <a:pPr indent="0" marL="0">
              <a:buNone/>
            </a:pPr>
            <a:r>
              <a:rPr lang="en-US" sz="900" i="1" dirty="0">
                <a:solidFill>
                  <a:srgbClr val="1E3A5F"/>
                </a:solidFill>
                <a:latin typeface="Calibri" pitchFamily="34" charset="0"/>
                <a:ea typeface="Calibri" pitchFamily="34" charset="-122"/>
                <a:cs typeface="Calibri" pitchFamily="34" charset="-120"/>
              </a:rPr>
              <a:t>Example: The catalog records that PropertyForRent.rent is DECIMAL(8,2). Apps read this from the catalog — so changing the field type only requires updating the catalog, not every app.</a:t>
            </a:r>
            <a:endParaRPr lang="en-US" sz="900" dirty="0"/>
          </a:p>
        </p:txBody>
      </p:sp>
      <p:sp>
        <p:nvSpPr>
          <p:cNvPr id="30" name="Shape 28"/>
          <p:cNvSpPr/>
          <p:nvPr/>
        </p:nvSpPr>
        <p:spPr>
          <a:xfrm>
            <a:off x="274320" y="4233672"/>
            <a:ext cx="8595360" cy="713232"/>
          </a:xfrm>
          <a:prstGeom prst="rect">
            <a:avLst/>
          </a:prstGeom>
          <a:solidFill>
            <a:srgbClr val="FFFFFF"/>
          </a:solidFill>
          <a:ln w="12700">
            <a:solidFill>
              <a:srgbClr val="E2E8F0"/>
            </a:solidFill>
            <a:prstDash val="solid"/>
          </a:ln>
        </p:spPr>
      </p:sp>
      <p:sp>
        <p:nvSpPr>
          <p:cNvPr id="31" name="Shape 29"/>
          <p:cNvSpPr/>
          <p:nvPr/>
        </p:nvSpPr>
        <p:spPr>
          <a:xfrm>
            <a:off x="274320" y="4233672"/>
            <a:ext cx="1143000" cy="713232"/>
          </a:xfrm>
          <a:prstGeom prst="rect">
            <a:avLst/>
          </a:prstGeom>
          <a:solidFill>
            <a:srgbClr val="7C3AED"/>
          </a:solidFill>
          <a:ln w="12700">
            <a:solidFill>
              <a:srgbClr val="7C3AED"/>
            </a:solidFill>
            <a:prstDash val="solid"/>
          </a:ln>
        </p:spPr>
      </p:sp>
      <p:sp>
        <p:nvSpPr>
          <p:cNvPr id="32" name="Text 30"/>
          <p:cNvSpPr/>
          <p:nvPr/>
        </p:nvSpPr>
        <p:spPr>
          <a:xfrm>
            <a:off x="292608" y="4361688"/>
            <a:ext cx="109728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Independence</a:t>
            </a:r>
            <a:endParaRPr lang="en-US" sz="1050" dirty="0"/>
          </a:p>
        </p:txBody>
      </p:sp>
      <p:sp>
        <p:nvSpPr>
          <p:cNvPr id="33" name="Text 31"/>
          <p:cNvSpPr/>
          <p:nvPr/>
        </p:nvSpPr>
        <p:spPr>
          <a:xfrm>
            <a:off x="1508760" y="4297680"/>
            <a:ext cx="374904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ability to change the database structure without needing to modify application programs. Made possible because structure is in the catalog, not hardcoded into apps.</a:t>
            </a:r>
            <a:endParaRPr lang="en-US" sz="950" dirty="0"/>
          </a:p>
        </p:txBody>
      </p:sp>
      <p:sp>
        <p:nvSpPr>
          <p:cNvPr id="34" name="Shape 32"/>
          <p:cNvSpPr/>
          <p:nvPr/>
        </p:nvSpPr>
        <p:spPr>
          <a:xfrm>
            <a:off x="5376672" y="4288536"/>
            <a:ext cx="3401568" cy="612648"/>
          </a:xfrm>
          <a:prstGeom prst="rect">
            <a:avLst/>
          </a:prstGeom>
          <a:solidFill>
            <a:srgbClr val="EFF6FF"/>
          </a:solidFill>
          <a:ln w="12700">
            <a:solidFill>
              <a:srgbClr val="3B82F6"/>
            </a:solidFill>
            <a:prstDash val="solid"/>
          </a:ln>
        </p:spPr>
      </p:sp>
      <p:sp>
        <p:nvSpPr>
          <p:cNvPr id="35" name="Text 33"/>
          <p:cNvSpPr/>
          <p:nvPr/>
        </p:nvSpPr>
        <p:spPr>
          <a:xfrm>
            <a:off x="5440680" y="4325112"/>
            <a:ext cx="3273552" cy="548640"/>
          </a:xfrm>
          <a:prstGeom prst="rect">
            <a:avLst/>
          </a:prstGeom>
          <a:noFill/>
          <a:ln/>
        </p:spPr>
        <p:txBody>
          <a:bodyPr wrap="square" lIns="0" tIns="0" rIns="0" bIns="0" rtlCol="0" anchor="ctr"/>
          <a:lstStyle/>
          <a:p>
            <a:pPr indent="0" marL="0">
              <a:buNone/>
            </a:pPr>
            <a:r>
              <a:rPr lang="en-US" sz="900" i="1" dirty="0">
                <a:solidFill>
                  <a:srgbClr val="1E3A5F"/>
                </a:solidFill>
                <a:latin typeface="Calibri" pitchFamily="34" charset="0"/>
                <a:ea typeface="Calibri" pitchFamily="34" charset="-122"/>
                <a:cs typeface="Calibri" pitchFamily="34" charset="-120"/>
              </a:rPr>
              <a:t>Example: DBA adds an 'energyRating' field to PropertyForRent. The Sales app and Lease app continue working unchanged — they are independent of the new field.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2A4A"/>
          </a:solidFill>
          <a:ln w="12700">
            <a:solidFill>
              <a:srgbClr val="1B2A4A"/>
            </a:solidFill>
            <a:prstDash val="solid"/>
          </a:ln>
        </p:spPr>
      </p:sp>
      <p:sp>
        <p:nvSpPr>
          <p:cNvPr id="3" name="Shape 1"/>
          <p:cNvSpPr/>
          <p:nvPr/>
        </p:nvSpPr>
        <p:spPr>
          <a:xfrm>
            <a:off x="0" y="73152"/>
            <a:ext cx="9144000" cy="384048"/>
          </a:xfrm>
          <a:prstGeom prst="rect">
            <a:avLst/>
          </a:prstGeom>
          <a:solidFill>
            <a:srgbClr val="1B2A4A"/>
          </a:solidFill>
          <a:ln w="12700">
            <a:solidFill>
              <a:srgbClr val="1B2A4A"/>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A5B4FC"/>
                </a:solidFill>
                <a:latin typeface="Calibri" pitchFamily="34" charset="0"/>
                <a:ea typeface="Calibri" pitchFamily="34" charset="-122"/>
                <a:cs typeface="Calibri" pitchFamily="34" charset="-120"/>
              </a:rPr>
              <a:t>LO 1  —  Key Database Concepts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Traditional File-Based Systems &amp; Their 5 Limitations</a:t>
            </a:r>
            <a:endParaRPr lang="en-US" sz="2200" dirty="0"/>
          </a:p>
        </p:txBody>
      </p:sp>
      <p:sp>
        <p:nvSpPr>
          <p:cNvPr id="6" name="Shape 4"/>
          <p:cNvSpPr/>
          <p:nvPr/>
        </p:nvSpPr>
        <p:spPr>
          <a:xfrm>
            <a:off x="274320" y="1051560"/>
            <a:ext cx="8595360" cy="438912"/>
          </a:xfrm>
          <a:prstGeom prst="rect">
            <a:avLst/>
          </a:prstGeom>
          <a:solidFill>
            <a:srgbClr val="1B2A4A"/>
          </a:solidFill>
          <a:ln w="12700">
            <a:solidFill>
              <a:srgbClr val="1B2A4A"/>
            </a:solidFill>
            <a:prstDash val="solid"/>
          </a:ln>
        </p:spPr>
      </p:sp>
      <p:sp>
        <p:nvSpPr>
          <p:cNvPr id="7" name="Text 5"/>
          <p:cNvSpPr/>
          <p:nvPr/>
        </p:nvSpPr>
        <p:spPr>
          <a:xfrm>
            <a:off x="411480" y="1069848"/>
            <a:ext cx="8321040" cy="40233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File-Based System: each department stores and manages its own data in separate files through dedicated application programs. No central control. No sharing.</a:t>
            </a:r>
            <a:endParaRPr lang="en-US" sz="1150" dirty="0"/>
          </a:p>
        </p:txBody>
      </p:sp>
      <p:sp>
        <p:nvSpPr>
          <p:cNvPr id="8" name="Shape 6"/>
          <p:cNvSpPr/>
          <p:nvPr/>
        </p:nvSpPr>
        <p:spPr>
          <a:xfrm>
            <a:off x="274320" y="1572768"/>
            <a:ext cx="8595360" cy="603504"/>
          </a:xfrm>
          <a:prstGeom prst="rect">
            <a:avLst/>
          </a:prstGeom>
          <a:solidFill>
            <a:srgbClr val="FFFFFF"/>
          </a:solidFill>
          <a:ln w="12700">
            <a:solidFill>
              <a:srgbClr val="E2E8F0"/>
            </a:solidFill>
            <a:prstDash val="solid"/>
          </a:ln>
        </p:spPr>
      </p:sp>
      <p:sp>
        <p:nvSpPr>
          <p:cNvPr id="9" name="Shape 7"/>
          <p:cNvSpPr/>
          <p:nvPr/>
        </p:nvSpPr>
        <p:spPr>
          <a:xfrm>
            <a:off x="274320" y="1572768"/>
            <a:ext cx="347472" cy="603504"/>
          </a:xfrm>
          <a:prstGeom prst="rect">
            <a:avLst/>
          </a:prstGeom>
          <a:solidFill>
            <a:srgbClr val="1B2A4A"/>
          </a:solidFill>
          <a:ln w="12700">
            <a:solidFill>
              <a:srgbClr val="1B2A4A"/>
            </a:solidFill>
            <a:prstDash val="solid"/>
          </a:ln>
        </p:spPr>
      </p:sp>
      <p:sp>
        <p:nvSpPr>
          <p:cNvPr id="10" name="Text 8"/>
          <p:cNvSpPr/>
          <p:nvPr/>
        </p:nvSpPr>
        <p:spPr>
          <a:xfrm>
            <a:off x="274320" y="1572768"/>
            <a:ext cx="347472"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694944" y="1618488"/>
            <a:ext cx="8229600" cy="237744"/>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Separation &amp; Isolation</a:t>
            </a:r>
            <a:endParaRPr lang="en-US" sz="1150" dirty="0"/>
          </a:p>
        </p:txBody>
      </p:sp>
      <p:sp>
        <p:nvSpPr>
          <p:cNvPr id="12" name="Text 10"/>
          <p:cNvSpPr/>
          <p:nvPr/>
        </p:nvSpPr>
        <p:spPr>
          <a:xfrm>
            <a:off x="694944" y="1874520"/>
            <a:ext cx="411480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Data in separate files cannot be easily combined. Cross-department queries require complex custom code.</a:t>
            </a:r>
            <a:endParaRPr lang="en-US" sz="950" dirty="0"/>
          </a:p>
        </p:txBody>
      </p:sp>
      <p:sp>
        <p:nvSpPr>
          <p:cNvPr id="13" name="Shape 11"/>
          <p:cNvSpPr/>
          <p:nvPr/>
        </p:nvSpPr>
        <p:spPr>
          <a:xfrm>
            <a:off x="4919472" y="1627632"/>
            <a:ext cx="3858768" cy="493776"/>
          </a:xfrm>
          <a:prstGeom prst="rect">
            <a:avLst/>
          </a:prstGeom>
          <a:solidFill>
            <a:srgbClr val="EFF6FF"/>
          </a:solidFill>
          <a:ln w="12700">
            <a:solidFill>
              <a:srgbClr val="3B82F6"/>
            </a:solidFill>
            <a:prstDash val="solid"/>
          </a:ln>
        </p:spPr>
      </p:sp>
      <p:sp>
        <p:nvSpPr>
          <p:cNvPr id="14" name="Text 12"/>
          <p:cNvSpPr/>
          <p:nvPr/>
        </p:nvSpPr>
        <p:spPr>
          <a:xfrm>
            <a:off x="4974336" y="1655064"/>
            <a:ext cx="3739896" cy="438912"/>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Sales has property files; Contracts has lease files. Neither can see the other's data without writing a special program.</a:t>
            </a:r>
            <a:endParaRPr lang="en-US" sz="880" dirty="0"/>
          </a:p>
        </p:txBody>
      </p:sp>
      <p:sp>
        <p:nvSpPr>
          <p:cNvPr id="15" name="Shape 13"/>
          <p:cNvSpPr/>
          <p:nvPr/>
        </p:nvSpPr>
        <p:spPr>
          <a:xfrm>
            <a:off x="274320" y="2267712"/>
            <a:ext cx="8595360" cy="603504"/>
          </a:xfrm>
          <a:prstGeom prst="rect">
            <a:avLst/>
          </a:prstGeom>
          <a:solidFill>
            <a:srgbClr val="FFFFFF"/>
          </a:solidFill>
          <a:ln w="12700">
            <a:solidFill>
              <a:srgbClr val="E2E8F0"/>
            </a:solidFill>
            <a:prstDash val="solid"/>
          </a:ln>
        </p:spPr>
      </p:sp>
      <p:sp>
        <p:nvSpPr>
          <p:cNvPr id="16" name="Shape 14"/>
          <p:cNvSpPr/>
          <p:nvPr/>
        </p:nvSpPr>
        <p:spPr>
          <a:xfrm>
            <a:off x="274320" y="2267712"/>
            <a:ext cx="347472" cy="603504"/>
          </a:xfrm>
          <a:prstGeom prst="rect">
            <a:avLst/>
          </a:prstGeom>
          <a:solidFill>
            <a:srgbClr val="0D6B8A"/>
          </a:solidFill>
          <a:ln w="12700">
            <a:solidFill>
              <a:srgbClr val="0D6B8A"/>
            </a:solidFill>
            <a:prstDash val="solid"/>
          </a:ln>
        </p:spPr>
      </p:sp>
      <p:sp>
        <p:nvSpPr>
          <p:cNvPr id="17" name="Text 15"/>
          <p:cNvSpPr/>
          <p:nvPr/>
        </p:nvSpPr>
        <p:spPr>
          <a:xfrm>
            <a:off x="274320" y="2267712"/>
            <a:ext cx="347472"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p:nvPr/>
        </p:nvSpPr>
        <p:spPr>
          <a:xfrm>
            <a:off x="694944" y="2313432"/>
            <a:ext cx="8229600" cy="237744"/>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Duplication of Data</a:t>
            </a:r>
            <a:endParaRPr lang="en-US" sz="1150" dirty="0"/>
          </a:p>
        </p:txBody>
      </p:sp>
      <p:sp>
        <p:nvSpPr>
          <p:cNvPr id="19" name="Text 17"/>
          <p:cNvSpPr/>
          <p:nvPr/>
        </p:nvSpPr>
        <p:spPr>
          <a:xfrm>
            <a:off x="694944" y="2569464"/>
            <a:ext cx="411480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Same data (clients, properties) stored in multiple departments. Wastes space and causes inconsistencies.</a:t>
            </a:r>
            <a:endParaRPr lang="en-US" sz="950" dirty="0"/>
          </a:p>
        </p:txBody>
      </p:sp>
      <p:sp>
        <p:nvSpPr>
          <p:cNvPr id="20" name="Shape 18"/>
          <p:cNvSpPr/>
          <p:nvPr/>
        </p:nvSpPr>
        <p:spPr>
          <a:xfrm>
            <a:off x="4919472" y="2322576"/>
            <a:ext cx="3858768" cy="493776"/>
          </a:xfrm>
          <a:prstGeom prst="rect">
            <a:avLst/>
          </a:prstGeom>
          <a:solidFill>
            <a:srgbClr val="EFF6FF"/>
          </a:solidFill>
          <a:ln w="12700">
            <a:solidFill>
              <a:srgbClr val="3B82F6"/>
            </a:solidFill>
            <a:prstDash val="solid"/>
          </a:ln>
        </p:spPr>
      </p:sp>
      <p:sp>
        <p:nvSpPr>
          <p:cNvPr id="21" name="Text 19"/>
          <p:cNvSpPr/>
          <p:nvPr/>
        </p:nvSpPr>
        <p:spPr>
          <a:xfrm>
            <a:off x="4974336" y="2350008"/>
            <a:ext cx="3739896" cy="438912"/>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Client address updated in Sales but not in Contracts → Contracts still posts letters to the old address.</a:t>
            </a:r>
            <a:endParaRPr lang="en-US" sz="880" dirty="0"/>
          </a:p>
        </p:txBody>
      </p:sp>
      <p:sp>
        <p:nvSpPr>
          <p:cNvPr id="22" name="Shape 20"/>
          <p:cNvSpPr/>
          <p:nvPr/>
        </p:nvSpPr>
        <p:spPr>
          <a:xfrm>
            <a:off x="274320" y="2962656"/>
            <a:ext cx="8595360" cy="603504"/>
          </a:xfrm>
          <a:prstGeom prst="rect">
            <a:avLst/>
          </a:prstGeom>
          <a:solidFill>
            <a:srgbClr val="FFFFFF"/>
          </a:solidFill>
          <a:ln w="12700">
            <a:solidFill>
              <a:srgbClr val="E2E8F0"/>
            </a:solidFill>
            <a:prstDash val="solid"/>
          </a:ln>
        </p:spPr>
      </p:sp>
      <p:sp>
        <p:nvSpPr>
          <p:cNvPr id="23" name="Shape 21"/>
          <p:cNvSpPr/>
          <p:nvPr/>
        </p:nvSpPr>
        <p:spPr>
          <a:xfrm>
            <a:off x="274320" y="2962656"/>
            <a:ext cx="347472" cy="603504"/>
          </a:xfrm>
          <a:prstGeom prst="rect">
            <a:avLst/>
          </a:prstGeom>
          <a:solidFill>
            <a:srgbClr val="0D9488"/>
          </a:solidFill>
          <a:ln w="12700">
            <a:solidFill>
              <a:srgbClr val="0D9488"/>
            </a:solidFill>
            <a:prstDash val="solid"/>
          </a:ln>
        </p:spPr>
      </p:sp>
      <p:sp>
        <p:nvSpPr>
          <p:cNvPr id="24" name="Text 22"/>
          <p:cNvSpPr/>
          <p:nvPr/>
        </p:nvSpPr>
        <p:spPr>
          <a:xfrm>
            <a:off x="274320" y="2962656"/>
            <a:ext cx="347472"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694944" y="3008376"/>
            <a:ext cx="8229600" cy="237744"/>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Program–Data Dependence</a:t>
            </a:r>
            <a:endParaRPr lang="en-US" sz="1150" dirty="0"/>
          </a:p>
        </p:txBody>
      </p:sp>
      <p:sp>
        <p:nvSpPr>
          <p:cNvPr id="26" name="Text 24"/>
          <p:cNvSpPr/>
          <p:nvPr/>
        </p:nvSpPr>
        <p:spPr>
          <a:xfrm>
            <a:off x="694944" y="3264408"/>
            <a:ext cx="411480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File structure is hardcoded in every program. One field change forces rewriting ALL programs that use that file.</a:t>
            </a:r>
            <a:endParaRPr lang="en-US" sz="950" dirty="0"/>
          </a:p>
        </p:txBody>
      </p:sp>
      <p:sp>
        <p:nvSpPr>
          <p:cNvPr id="27" name="Shape 25"/>
          <p:cNvSpPr/>
          <p:nvPr/>
        </p:nvSpPr>
        <p:spPr>
          <a:xfrm>
            <a:off x="4919472" y="3017520"/>
            <a:ext cx="3858768" cy="493776"/>
          </a:xfrm>
          <a:prstGeom prst="rect">
            <a:avLst/>
          </a:prstGeom>
          <a:solidFill>
            <a:srgbClr val="EFF6FF"/>
          </a:solidFill>
          <a:ln w="12700">
            <a:solidFill>
              <a:srgbClr val="3B82F6"/>
            </a:solidFill>
            <a:prstDash val="solid"/>
          </a:ln>
        </p:spPr>
      </p:sp>
      <p:sp>
        <p:nvSpPr>
          <p:cNvPr id="28" name="Text 26"/>
          <p:cNvSpPr/>
          <p:nvPr/>
        </p:nvSpPr>
        <p:spPr>
          <a:xfrm>
            <a:off x="4974336" y="3044952"/>
            <a:ext cx="3739896" cy="438912"/>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Extending the address field from 40→41 characters requires modifying and retesting every program that reads PropertyForRent.</a:t>
            </a:r>
            <a:endParaRPr lang="en-US" sz="880" dirty="0"/>
          </a:p>
        </p:txBody>
      </p:sp>
      <p:sp>
        <p:nvSpPr>
          <p:cNvPr id="29" name="Shape 27"/>
          <p:cNvSpPr/>
          <p:nvPr/>
        </p:nvSpPr>
        <p:spPr>
          <a:xfrm>
            <a:off x="274320" y="3657600"/>
            <a:ext cx="8595360" cy="603504"/>
          </a:xfrm>
          <a:prstGeom prst="rect">
            <a:avLst/>
          </a:prstGeom>
          <a:solidFill>
            <a:srgbClr val="FFFFFF"/>
          </a:solidFill>
          <a:ln w="12700">
            <a:solidFill>
              <a:srgbClr val="E2E8F0"/>
            </a:solidFill>
            <a:prstDash val="solid"/>
          </a:ln>
        </p:spPr>
      </p:sp>
      <p:sp>
        <p:nvSpPr>
          <p:cNvPr id="30" name="Shape 28"/>
          <p:cNvSpPr/>
          <p:nvPr/>
        </p:nvSpPr>
        <p:spPr>
          <a:xfrm>
            <a:off x="274320" y="3657600"/>
            <a:ext cx="347472" cy="603504"/>
          </a:xfrm>
          <a:prstGeom prst="rect">
            <a:avLst/>
          </a:prstGeom>
          <a:solidFill>
            <a:srgbClr val="7C3AED"/>
          </a:solidFill>
          <a:ln w="12700">
            <a:solidFill>
              <a:srgbClr val="7C3AED"/>
            </a:solidFill>
            <a:prstDash val="solid"/>
          </a:ln>
        </p:spPr>
      </p:sp>
      <p:sp>
        <p:nvSpPr>
          <p:cNvPr id="31" name="Text 29"/>
          <p:cNvSpPr/>
          <p:nvPr/>
        </p:nvSpPr>
        <p:spPr>
          <a:xfrm>
            <a:off x="274320" y="3657600"/>
            <a:ext cx="347472"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694944" y="3703320"/>
            <a:ext cx="8229600" cy="237744"/>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Incompatible File Formats</a:t>
            </a:r>
            <a:endParaRPr lang="en-US" sz="1150" dirty="0"/>
          </a:p>
        </p:txBody>
      </p:sp>
      <p:sp>
        <p:nvSpPr>
          <p:cNvPr id="33" name="Text 31"/>
          <p:cNvSpPr/>
          <p:nvPr/>
        </p:nvSpPr>
        <p:spPr>
          <a:xfrm>
            <a:off x="694944" y="3959352"/>
            <a:ext cx="411480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COBOL files and C files have incompatible structures. Sharing data between departments requires a custom converter.</a:t>
            </a:r>
            <a:endParaRPr lang="en-US" sz="950" dirty="0"/>
          </a:p>
        </p:txBody>
      </p:sp>
      <p:sp>
        <p:nvSpPr>
          <p:cNvPr id="34" name="Shape 32"/>
          <p:cNvSpPr/>
          <p:nvPr/>
        </p:nvSpPr>
        <p:spPr>
          <a:xfrm>
            <a:off x="4919472" y="3712464"/>
            <a:ext cx="3858768" cy="493776"/>
          </a:xfrm>
          <a:prstGeom prst="rect">
            <a:avLst/>
          </a:prstGeom>
          <a:solidFill>
            <a:srgbClr val="EFF6FF"/>
          </a:solidFill>
          <a:ln w="12700">
            <a:solidFill>
              <a:srgbClr val="3B82F6"/>
            </a:solidFill>
            <a:prstDash val="solid"/>
          </a:ln>
        </p:spPr>
      </p:sp>
      <p:sp>
        <p:nvSpPr>
          <p:cNvPr id="35" name="Text 33"/>
          <p:cNvSpPr/>
          <p:nvPr/>
        </p:nvSpPr>
        <p:spPr>
          <a:xfrm>
            <a:off x="4974336" y="3739896"/>
            <a:ext cx="3739896" cy="438912"/>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Contracts (COBOL) needs owner details from Sales (C). A conversion program must be built just to read each other's files.</a:t>
            </a:r>
            <a:endParaRPr lang="en-US" sz="880" dirty="0"/>
          </a:p>
        </p:txBody>
      </p:sp>
      <p:sp>
        <p:nvSpPr>
          <p:cNvPr id="36" name="Shape 34"/>
          <p:cNvSpPr/>
          <p:nvPr/>
        </p:nvSpPr>
        <p:spPr>
          <a:xfrm>
            <a:off x="274320" y="4352544"/>
            <a:ext cx="8595360" cy="603504"/>
          </a:xfrm>
          <a:prstGeom prst="rect">
            <a:avLst/>
          </a:prstGeom>
          <a:solidFill>
            <a:srgbClr val="FFFFFF"/>
          </a:solidFill>
          <a:ln w="12700">
            <a:solidFill>
              <a:srgbClr val="E2E8F0"/>
            </a:solidFill>
            <a:prstDash val="solid"/>
          </a:ln>
        </p:spPr>
      </p:sp>
      <p:sp>
        <p:nvSpPr>
          <p:cNvPr id="37" name="Shape 35"/>
          <p:cNvSpPr/>
          <p:nvPr/>
        </p:nvSpPr>
        <p:spPr>
          <a:xfrm>
            <a:off x="274320" y="4352544"/>
            <a:ext cx="347472" cy="603504"/>
          </a:xfrm>
          <a:prstGeom prst="rect">
            <a:avLst/>
          </a:prstGeom>
          <a:solidFill>
            <a:srgbClr val="059669"/>
          </a:solidFill>
          <a:ln w="12700">
            <a:solidFill>
              <a:srgbClr val="059669"/>
            </a:solidFill>
            <a:prstDash val="solid"/>
          </a:ln>
        </p:spPr>
      </p:sp>
      <p:sp>
        <p:nvSpPr>
          <p:cNvPr id="38" name="Text 36"/>
          <p:cNvSpPr/>
          <p:nvPr/>
        </p:nvSpPr>
        <p:spPr>
          <a:xfrm>
            <a:off x="274320" y="4352544"/>
            <a:ext cx="347472"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9" name="Text 37"/>
          <p:cNvSpPr/>
          <p:nvPr/>
        </p:nvSpPr>
        <p:spPr>
          <a:xfrm>
            <a:off x="694944" y="4398264"/>
            <a:ext cx="8229600" cy="237744"/>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Fixed Queries / No Ad Hoc Access</a:t>
            </a:r>
            <a:endParaRPr lang="en-US" sz="1150" dirty="0"/>
          </a:p>
        </p:txBody>
      </p:sp>
      <p:sp>
        <p:nvSpPr>
          <p:cNvPr id="40" name="Text 38"/>
          <p:cNvSpPr/>
          <p:nvPr/>
        </p:nvSpPr>
        <p:spPr>
          <a:xfrm>
            <a:off x="694944" y="4654296"/>
            <a:ext cx="411480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No spontaneous queries. Every new question requires a new program from the DP Dept — causing backlogs and delays.</a:t>
            </a:r>
            <a:endParaRPr lang="en-US" sz="950" dirty="0"/>
          </a:p>
        </p:txBody>
      </p:sp>
      <p:sp>
        <p:nvSpPr>
          <p:cNvPr id="41" name="Shape 39"/>
          <p:cNvSpPr/>
          <p:nvPr/>
        </p:nvSpPr>
        <p:spPr>
          <a:xfrm>
            <a:off x="4919472" y="4407408"/>
            <a:ext cx="3858768" cy="493776"/>
          </a:xfrm>
          <a:prstGeom prst="rect">
            <a:avLst/>
          </a:prstGeom>
          <a:solidFill>
            <a:srgbClr val="EFF6FF"/>
          </a:solidFill>
          <a:ln w="12700">
            <a:solidFill>
              <a:srgbClr val="3B82F6"/>
            </a:solidFill>
            <a:prstDash val="solid"/>
          </a:ln>
        </p:spPr>
      </p:sp>
      <p:sp>
        <p:nvSpPr>
          <p:cNvPr id="42" name="Text 40"/>
          <p:cNvSpPr/>
          <p:nvPr/>
        </p:nvSpPr>
        <p:spPr>
          <a:xfrm>
            <a:off x="4974336" y="4434840"/>
            <a:ext cx="3739896" cy="438912"/>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A manager asks: 'What is the average rent of 2-bed flats this month?' With file systems, a programmer must write a new program to answer it.</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2A4A"/>
          </a:solidFill>
          <a:ln w="12700">
            <a:solidFill>
              <a:srgbClr val="1B2A4A"/>
            </a:solidFill>
            <a:prstDash val="solid"/>
          </a:ln>
        </p:spPr>
      </p:sp>
      <p:sp>
        <p:nvSpPr>
          <p:cNvPr id="3" name="Shape 1"/>
          <p:cNvSpPr/>
          <p:nvPr/>
        </p:nvSpPr>
        <p:spPr>
          <a:xfrm>
            <a:off x="0" y="73152"/>
            <a:ext cx="9144000" cy="384048"/>
          </a:xfrm>
          <a:prstGeom prst="rect">
            <a:avLst/>
          </a:prstGeom>
          <a:solidFill>
            <a:srgbClr val="1B2A4A"/>
          </a:solidFill>
          <a:ln w="12700">
            <a:solidFill>
              <a:srgbClr val="1B2A4A"/>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A5B4FC"/>
                </a:solidFill>
                <a:latin typeface="Calibri" pitchFamily="34" charset="0"/>
                <a:ea typeface="Calibri" pitchFamily="34" charset="-122"/>
                <a:cs typeface="Calibri" pitchFamily="34" charset="-120"/>
              </a:rPr>
              <a:t>LO 1  —  Key Database Concepts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The Database Approach — Solving File-Based Problems</a:t>
            </a:r>
            <a:endParaRPr lang="en-US" sz="2200" dirty="0"/>
          </a:p>
        </p:txBody>
      </p:sp>
      <p:sp>
        <p:nvSpPr>
          <p:cNvPr id="6" name="Shape 4"/>
          <p:cNvSpPr/>
          <p:nvPr/>
        </p:nvSpPr>
        <p:spPr>
          <a:xfrm>
            <a:off x="274320" y="1051560"/>
            <a:ext cx="8595360" cy="475488"/>
          </a:xfrm>
          <a:prstGeom prst="rect">
            <a:avLst/>
          </a:prstGeom>
          <a:solidFill>
            <a:srgbClr val="FEF3C7"/>
          </a:solidFill>
          <a:ln w="12700">
            <a:solidFill>
              <a:srgbClr val="D97706"/>
            </a:solidFill>
            <a:prstDash val="solid"/>
          </a:ln>
        </p:spPr>
      </p:sp>
      <p:sp>
        <p:nvSpPr>
          <p:cNvPr id="7" name="Text 5"/>
          <p:cNvSpPr/>
          <p:nvPr/>
        </p:nvSpPr>
        <p:spPr>
          <a:xfrm>
            <a:off x="411480" y="1069848"/>
            <a:ext cx="8321040" cy="438912"/>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Root causes of file-based problems:  (1) Data structure embedded in application code — not stored separately.  (2) No central control over access and manipulation of data.</a:t>
            </a:r>
            <a:endParaRPr lang="en-US" sz="1100" dirty="0"/>
          </a:p>
        </p:txBody>
      </p:sp>
      <p:sp>
        <p:nvSpPr>
          <p:cNvPr id="8" name="Shape 6"/>
          <p:cNvSpPr/>
          <p:nvPr/>
        </p:nvSpPr>
        <p:spPr>
          <a:xfrm>
            <a:off x="274320" y="1618488"/>
            <a:ext cx="4206240" cy="14173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9" name="Shape 7"/>
          <p:cNvSpPr/>
          <p:nvPr/>
        </p:nvSpPr>
        <p:spPr>
          <a:xfrm>
            <a:off x="274320" y="1618488"/>
            <a:ext cx="4206240" cy="310896"/>
          </a:xfrm>
          <a:prstGeom prst="rect">
            <a:avLst/>
          </a:prstGeom>
          <a:solidFill>
            <a:srgbClr val="1B2A4A"/>
          </a:solidFill>
          <a:ln w="12700">
            <a:solidFill>
              <a:srgbClr val="1B2A4A"/>
            </a:solidFill>
            <a:prstDash val="solid"/>
          </a:ln>
        </p:spPr>
      </p:sp>
      <p:sp>
        <p:nvSpPr>
          <p:cNvPr id="10" name="Text 8"/>
          <p:cNvSpPr/>
          <p:nvPr/>
        </p:nvSpPr>
        <p:spPr>
          <a:xfrm>
            <a:off x="384048" y="1664208"/>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Self-Describing Collection</a:t>
            </a:r>
            <a:endParaRPr lang="en-US" sz="1200" dirty="0"/>
          </a:p>
        </p:txBody>
      </p:sp>
      <p:sp>
        <p:nvSpPr>
          <p:cNvPr id="11" name="Text 9"/>
          <p:cNvSpPr/>
          <p:nvPr/>
        </p:nvSpPr>
        <p:spPr>
          <a:xfrm>
            <a:off x="384048" y="1984248"/>
            <a:ext cx="3986784"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database stores both data AND a description of that data (system catalog / metadata). Structure is separated from application code — solving root cause (1).</a:t>
            </a:r>
            <a:endParaRPr lang="en-US" sz="950" dirty="0"/>
          </a:p>
        </p:txBody>
      </p:sp>
      <p:sp>
        <p:nvSpPr>
          <p:cNvPr id="12" name="Shape 10"/>
          <p:cNvSpPr/>
          <p:nvPr/>
        </p:nvSpPr>
        <p:spPr>
          <a:xfrm>
            <a:off x="365760" y="2487168"/>
            <a:ext cx="4023360" cy="493776"/>
          </a:xfrm>
          <a:prstGeom prst="rect">
            <a:avLst/>
          </a:prstGeom>
          <a:solidFill>
            <a:srgbClr val="EFF6FF"/>
          </a:solidFill>
          <a:ln w="12700">
            <a:solidFill>
              <a:srgbClr val="3B82F6"/>
            </a:solidFill>
            <a:prstDash val="solid"/>
          </a:ln>
        </p:spPr>
      </p:sp>
      <p:sp>
        <p:nvSpPr>
          <p:cNvPr id="13" name="Text 11"/>
          <p:cNvSpPr/>
          <p:nvPr/>
        </p:nvSpPr>
        <p:spPr>
          <a:xfrm>
            <a:off x="420624" y="2505456"/>
            <a:ext cx="3904488" cy="457200"/>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Example: The catalog records that PropertyForRent has 8 fields. Any app can read this from the catalog instead of having it hardcoded.</a:t>
            </a:r>
            <a:endParaRPr lang="en-US" sz="880" dirty="0"/>
          </a:p>
        </p:txBody>
      </p:sp>
      <p:sp>
        <p:nvSpPr>
          <p:cNvPr id="14" name="Shape 12"/>
          <p:cNvSpPr/>
          <p:nvPr/>
        </p:nvSpPr>
        <p:spPr>
          <a:xfrm>
            <a:off x="4709160" y="1618488"/>
            <a:ext cx="4206240" cy="14173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5" name="Shape 13"/>
          <p:cNvSpPr/>
          <p:nvPr/>
        </p:nvSpPr>
        <p:spPr>
          <a:xfrm>
            <a:off x="4709160" y="1618488"/>
            <a:ext cx="4206240" cy="310896"/>
          </a:xfrm>
          <a:prstGeom prst="rect">
            <a:avLst/>
          </a:prstGeom>
          <a:solidFill>
            <a:srgbClr val="0D6B8A"/>
          </a:solidFill>
          <a:ln w="12700">
            <a:solidFill>
              <a:srgbClr val="0D6B8A"/>
            </a:solidFill>
            <a:prstDash val="solid"/>
          </a:ln>
        </p:spPr>
      </p:sp>
      <p:sp>
        <p:nvSpPr>
          <p:cNvPr id="16" name="Text 14"/>
          <p:cNvSpPr/>
          <p:nvPr/>
        </p:nvSpPr>
        <p:spPr>
          <a:xfrm>
            <a:off x="4818888" y="1664208"/>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Shared Corporate Resource</a:t>
            </a:r>
            <a:endParaRPr lang="en-US" sz="1200" dirty="0"/>
          </a:p>
        </p:txBody>
      </p:sp>
      <p:sp>
        <p:nvSpPr>
          <p:cNvPr id="17" name="Text 15"/>
          <p:cNvSpPr/>
          <p:nvPr/>
        </p:nvSpPr>
        <p:spPr>
          <a:xfrm>
            <a:off x="4818888" y="1984248"/>
            <a:ext cx="3986784"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database belongs to the whole organisation, not one department. All authorised users share the same integrated data — eliminating uncontrolled duplication.</a:t>
            </a:r>
            <a:endParaRPr lang="en-US" sz="950" dirty="0"/>
          </a:p>
        </p:txBody>
      </p:sp>
      <p:sp>
        <p:nvSpPr>
          <p:cNvPr id="18" name="Shape 16"/>
          <p:cNvSpPr/>
          <p:nvPr/>
        </p:nvSpPr>
        <p:spPr>
          <a:xfrm>
            <a:off x="4800600" y="2487168"/>
            <a:ext cx="4023360" cy="493776"/>
          </a:xfrm>
          <a:prstGeom prst="rect">
            <a:avLst/>
          </a:prstGeom>
          <a:solidFill>
            <a:srgbClr val="EFF6FF"/>
          </a:solidFill>
          <a:ln w="12700">
            <a:solidFill>
              <a:srgbClr val="3B82F6"/>
            </a:solidFill>
            <a:prstDash val="solid"/>
          </a:ln>
        </p:spPr>
      </p:sp>
      <p:sp>
        <p:nvSpPr>
          <p:cNvPr id="19" name="Text 17"/>
          <p:cNvSpPr/>
          <p:nvPr/>
        </p:nvSpPr>
        <p:spPr>
          <a:xfrm>
            <a:off x="4855464" y="2505456"/>
            <a:ext cx="3904488" cy="457200"/>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Example: Sales, Contracts, HR, and Payroll all read from the same Client and Staff tables. One update is visible to everyone immediately.</a:t>
            </a:r>
            <a:endParaRPr lang="en-US" sz="880" dirty="0"/>
          </a:p>
        </p:txBody>
      </p:sp>
      <p:sp>
        <p:nvSpPr>
          <p:cNvPr id="20" name="Shape 18"/>
          <p:cNvSpPr/>
          <p:nvPr/>
        </p:nvSpPr>
        <p:spPr>
          <a:xfrm>
            <a:off x="274320" y="3191256"/>
            <a:ext cx="4206240" cy="14173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1" name="Shape 19"/>
          <p:cNvSpPr/>
          <p:nvPr/>
        </p:nvSpPr>
        <p:spPr>
          <a:xfrm>
            <a:off x="274320" y="3191256"/>
            <a:ext cx="4206240" cy="310896"/>
          </a:xfrm>
          <a:prstGeom prst="rect">
            <a:avLst/>
          </a:prstGeom>
          <a:solidFill>
            <a:srgbClr val="0D9488"/>
          </a:solidFill>
          <a:ln w="12700">
            <a:solidFill>
              <a:srgbClr val="0D9488"/>
            </a:solidFill>
            <a:prstDash val="solid"/>
          </a:ln>
        </p:spPr>
      </p:sp>
      <p:sp>
        <p:nvSpPr>
          <p:cNvPr id="22" name="Text 20"/>
          <p:cNvSpPr/>
          <p:nvPr/>
        </p:nvSpPr>
        <p:spPr>
          <a:xfrm>
            <a:off x="384048" y="3236976"/>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Logically Related Data</a:t>
            </a:r>
            <a:endParaRPr lang="en-US" sz="1200" dirty="0"/>
          </a:p>
        </p:txBody>
      </p:sp>
      <p:sp>
        <p:nvSpPr>
          <p:cNvPr id="23" name="Text 21"/>
          <p:cNvSpPr/>
          <p:nvPr/>
        </p:nvSpPr>
        <p:spPr>
          <a:xfrm>
            <a:off x="384048" y="3557016"/>
            <a:ext cx="3986784"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DB represents entities (objects), attributes (properties), and relationships between entities. An Entity–Relationship (ER) diagram models these before building the DB.</a:t>
            </a:r>
            <a:endParaRPr lang="en-US" sz="950" dirty="0"/>
          </a:p>
        </p:txBody>
      </p:sp>
      <p:sp>
        <p:nvSpPr>
          <p:cNvPr id="24" name="Shape 22"/>
          <p:cNvSpPr/>
          <p:nvPr/>
        </p:nvSpPr>
        <p:spPr>
          <a:xfrm>
            <a:off x="365760" y="4059936"/>
            <a:ext cx="4023360" cy="493776"/>
          </a:xfrm>
          <a:prstGeom prst="rect">
            <a:avLst/>
          </a:prstGeom>
          <a:solidFill>
            <a:srgbClr val="EFF6FF"/>
          </a:solidFill>
          <a:ln w="12700">
            <a:solidFill>
              <a:srgbClr val="3B82F6"/>
            </a:solidFill>
            <a:prstDash val="solid"/>
          </a:ln>
        </p:spPr>
      </p:sp>
      <p:sp>
        <p:nvSpPr>
          <p:cNvPr id="25" name="Text 23"/>
          <p:cNvSpPr/>
          <p:nvPr/>
        </p:nvSpPr>
        <p:spPr>
          <a:xfrm>
            <a:off x="420624" y="4078224"/>
            <a:ext cx="3904488" cy="457200"/>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Example: DreamHome ER model shows Staff 'manages' PropertyForRent; Client 'views' PropertyForRent; Lease 'links' Client to PropertyForRent.</a:t>
            </a:r>
            <a:endParaRPr lang="en-US" sz="880" dirty="0"/>
          </a:p>
        </p:txBody>
      </p:sp>
      <p:sp>
        <p:nvSpPr>
          <p:cNvPr id="26" name="Shape 24"/>
          <p:cNvSpPr/>
          <p:nvPr/>
        </p:nvSpPr>
        <p:spPr>
          <a:xfrm>
            <a:off x="4709160" y="3191256"/>
            <a:ext cx="4206240" cy="14173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7" name="Shape 25"/>
          <p:cNvSpPr/>
          <p:nvPr/>
        </p:nvSpPr>
        <p:spPr>
          <a:xfrm>
            <a:off x="4709160" y="3191256"/>
            <a:ext cx="4206240" cy="310896"/>
          </a:xfrm>
          <a:prstGeom prst="rect">
            <a:avLst/>
          </a:prstGeom>
          <a:solidFill>
            <a:srgbClr val="7C3AED"/>
          </a:solidFill>
          <a:ln w="12700">
            <a:solidFill>
              <a:srgbClr val="7C3AED"/>
            </a:solidFill>
            <a:prstDash val="solid"/>
          </a:ln>
        </p:spPr>
      </p:sp>
      <p:sp>
        <p:nvSpPr>
          <p:cNvPr id="28" name="Text 26"/>
          <p:cNvSpPr/>
          <p:nvPr/>
        </p:nvSpPr>
        <p:spPr>
          <a:xfrm>
            <a:off x="4818888" y="3236976"/>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Controlled Access via DBMS</a:t>
            </a:r>
            <a:endParaRPr lang="en-US" sz="1200" dirty="0"/>
          </a:p>
        </p:txBody>
      </p:sp>
      <p:sp>
        <p:nvSpPr>
          <p:cNvPr id="29" name="Text 27"/>
          <p:cNvSpPr/>
          <p:nvPr/>
        </p:nvSpPr>
        <p:spPr>
          <a:xfrm>
            <a:off x="4818888" y="3557016"/>
            <a:ext cx="3986784"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All access to the database goes through the DBMS — providing security, integrity, concurrency, and recovery control. Solves root cause (2).</a:t>
            </a:r>
            <a:endParaRPr lang="en-US" sz="950" dirty="0"/>
          </a:p>
        </p:txBody>
      </p:sp>
      <p:sp>
        <p:nvSpPr>
          <p:cNvPr id="30" name="Shape 28"/>
          <p:cNvSpPr/>
          <p:nvPr/>
        </p:nvSpPr>
        <p:spPr>
          <a:xfrm>
            <a:off x="4800600" y="4059936"/>
            <a:ext cx="4023360" cy="493776"/>
          </a:xfrm>
          <a:prstGeom prst="rect">
            <a:avLst/>
          </a:prstGeom>
          <a:solidFill>
            <a:srgbClr val="EFF6FF"/>
          </a:solidFill>
          <a:ln w="12700">
            <a:solidFill>
              <a:srgbClr val="3B82F6"/>
            </a:solidFill>
            <a:prstDash val="solid"/>
          </a:ln>
        </p:spPr>
      </p:sp>
      <p:sp>
        <p:nvSpPr>
          <p:cNvPr id="31" name="Text 29"/>
          <p:cNvSpPr/>
          <p:nvPr/>
        </p:nvSpPr>
        <p:spPr>
          <a:xfrm>
            <a:off x="4855464" y="4078224"/>
            <a:ext cx="3904488" cy="457200"/>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 Example: A branch assistant cannot directly edit salary fields. Any attempt is blocked by the DBMS security system before reaching the data.</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6B8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FFFF"/>
          </a:solidFill>
          <a:ln w="12700">
            <a:solidFill>
              <a:srgbClr val="FFFFFF"/>
            </a:solidFill>
            <a:prstDash val="solid"/>
          </a:ln>
        </p:spPr>
      </p:sp>
      <p:sp>
        <p:nvSpPr>
          <p:cNvPr id="3" name="Shape 1"/>
          <p:cNvSpPr/>
          <p:nvPr/>
        </p:nvSpPr>
        <p:spPr>
          <a:xfrm>
            <a:off x="0" y="5079492"/>
            <a:ext cx="9144000" cy="64008"/>
          </a:xfrm>
          <a:prstGeom prst="rect">
            <a:avLst/>
          </a:prstGeom>
          <a:solidFill>
            <a:srgbClr val="FFFFFF"/>
          </a:solidFill>
          <a:ln w="12700">
            <a:solidFill>
              <a:srgbClr val="FFFFFF"/>
            </a:solidFill>
            <a:prstDash val="solid"/>
          </a:ln>
        </p:spPr>
      </p:sp>
      <p:sp>
        <p:nvSpPr>
          <p:cNvPr id="4" name="Shape 2"/>
          <p:cNvSpPr/>
          <p:nvPr/>
        </p:nvSpPr>
        <p:spPr>
          <a:xfrm>
            <a:off x="548640" y="1371600"/>
            <a:ext cx="1828800" cy="1828800"/>
          </a:xfrm>
          <a:prstGeom prst="ellipse">
            <a:avLst/>
          </a:prstGeom>
          <a:solidFill>
            <a:srgbClr val="FFFFFF"/>
          </a:solidFill>
          <a:ln w="12700">
            <a:solidFill>
              <a:srgbClr val="FFFFFF"/>
            </a:solidFill>
            <a:prstDash val="solid"/>
          </a:ln>
        </p:spPr>
      </p:sp>
      <p:sp>
        <p:nvSpPr>
          <p:cNvPr id="5" name="Text 3"/>
          <p:cNvSpPr/>
          <p:nvPr/>
        </p:nvSpPr>
        <p:spPr>
          <a:xfrm>
            <a:off x="548640" y="1371600"/>
            <a:ext cx="1828800" cy="1828800"/>
          </a:xfrm>
          <a:prstGeom prst="rect">
            <a:avLst/>
          </a:prstGeom>
          <a:noFill/>
          <a:ln/>
        </p:spPr>
        <p:txBody>
          <a:bodyPr wrap="square" lIns="0" tIns="0" rIns="0" bIns="0" rtlCol="0" anchor="ctr"/>
          <a:lstStyle/>
          <a:p>
            <a:pPr algn="ctr" indent="0" marL="0">
              <a:buNone/>
            </a:pPr>
            <a:r>
              <a:rPr lang="en-US" sz="2800" b="1" dirty="0">
                <a:solidFill>
                  <a:srgbClr val="0D6B8A"/>
                </a:solidFill>
                <a:latin typeface="Georgia" pitchFamily="34" charset="0"/>
                <a:ea typeface="Georgia" pitchFamily="34" charset="-122"/>
                <a:cs typeface="Georgia" pitchFamily="34" charset="-120"/>
              </a:rPr>
              <a:t>LO 2</a:t>
            </a:r>
            <a:endParaRPr lang="en-US" sz="2800" dirty="0"/>
          </a:p>
        </p:txBody>
      </p:sp>
      <p:sp>
        <p:nvSpPr>
          <p:cNvPr id="6" name="Text 4"/>
          <p:cNvSpPr/>
          <p:nvPr/>
        </p:nvSpPr>
        <p:spPr>
          <a:xfrm>
            <a:off x="2743200" y="1371600"/>
            <a:ext cx="6126480" cy="128016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Components of a DBMS</a:t>
            </a:r>
            <a:endParaRPr lang="en-US" sz="3400" dirty="0"/>
          </a:p>
        </p:txBody>
      </p:sp>
      <p:sp>
        <p:nvSpPr>
          <p:cNvPr id="7" name="Text 5"/>
          <p:cNvSpPr/>
          <p:nvPr/>
        </p:nvSpPr>
        <p:spPr>
          <a:xfrm>
            <a:off x="2743200" y="2743200"/>
            <a:ext cx="6126480" cy="731520"/>
          </a:xfrm>
          <a:prstGeom prst="rect">
            <a:avLst/>
          </a:prstGeom>
          <a:noFill/>
          <a:ln/>
        </p:spPr>
        <p:txBody>
          <a:bodyPr wrap="square" lIns="0" tIns="0" rIns="0" bIns="0" rtlCol="0" anchor="ctr"/>
          <a:lstStyle/>
          <a:p>
            <a:pPr indent="0" marL="0">
              <a:buNone/>
            </a:pPr>
            <a:r>
              <a:rPr lang="en-US" sz="1500" dirty="0">
                <a:solidFill>
                  <a:srgbClr val="D1FAE5"/>
                </a:solidFill>
                <a:latin typeface="Calibri" pitchFamily="34" charset="0"/>
                <a:ea typeface="Calibri" pitchFamily="34" charset="-122"/>
                <a:cs typeface="Calibri" pitchFamily="34" charset="-120"/>
              </a:rPr>
              <a:t>Describe the 5 environment components and what the DBMS software provides.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6B8A"/>
          </a:solidFill>
          <a:ln w="12700">
            <a:solidFill>
              <a:srgbClr val="0D6B8A"/>
            </a:solidFill>
            <a:prstDash val="solid"/>
          </a:ln>
        </p:spPr>
      </p:sp>
      <p:sp>
        <p:nvSpPr>
          <p:cNvPr id="3" name="Shape 1"/>
          <p:cNvSpPr/>
          <p:nvPr/>
        </p:nvSpPr>
        <p:spPr>
          <a:xfrm>
            <a:off x="0" y="73152"/>
            <a:ext cx="9144000" cy="384048"/>
          </a:xfrm>
          <a:prstGeom prst="rect">
            <a:avLst/>
          </a:prstGeom>
          <a:solidFill>
            <a:srgbClr val="0D6B8A"/>
          </a:solidFill>
          <a:ln w="12700">
            <a:solidFill>
              <a:srgbClr val="0D6B8A"/>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BAE6FD"/>
                </a:solidFill>
                <a:latin typeface="Calibri" pitchFamily="34" charset="0"/>
                <a:ea typeface="Calibri" pitchFamily="34" charset="-122"/>
                <a:cs typeface="Calibri" pitchFamily="34" charset="-120"/>
              </a:rPr>
              <a:t>LO 2  —  Components of a DBMS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The 5 Components of the DBMS Environment</a:t>
            </a:r>
            <a:endParaRPr lang="en-US" sz="2400" dirty="0"/>
          </a:p>
        </p:txBody>
      </p:sp>
      <p:sp>
        <p:nvSpPr>
          <p:cNvPr id="6" name="Shape 4"/>
          <p:cNvSpPr/>
          <p:nvPr/>
        </p:nvSpPr>
        <p:spPr>
          <a:xfrm>
            <a:off x="274320" y="1051560"/>
            <a:ext cx="8595360" cy="713232"/>
          </a:xfrm>
          <a:prstGeom prst="rect">
            <a:avLst/>
          </a:prstGeom>
          <a:solidFill>
            <a:srgbClr val="FFFFFF"/>
          </a:solidFill>
          <a:ln w="12700">
            <a:solidFill>
              <a:srgbClr val="E2E8F0"/>
            </a:solidFill>
            <a:prstDash val="solid"/>
          </a:ln>
        </p:spPr>
      </p:sp>
      <p:sp>
        <p:nvSpPr>
          <p:cNvPr id="7" name="Shape 5"/>
          <p:cNvSpPr/>
          <p:nvPr/>
        </p:nvSpPr>
        <p:spPr>
          <a:xfrm>
            <a:off x="274320" y="1051560"/>
            <a:ext cx="1097280" cy="713232"/>
          </a:xfrm>
          <a:prstGeom prst="rect">
            <a:avLst/>
          </a:prstGeom>
          <a:solidFill>
            <a:srgbClr val="1E3A5F"/>
          </a:solidFill>
          <a:ln w="12700">
            <a:solidFill>
              <a:srgbClr val="1E3A5F"/>
            </a:solidFill>
            <a:prstDash val="solid"/>
          </a:ln>
        </p:spPr>
      </p:sp>
      <p:sp>
        <p:nvSpPr>
          <p:cNvPr id="8" name="Text 6"/>
          <p:cNvSpPr/>
          <p:nvPr/>
        </p:nvSpPr>
        <p:spPr>
          <a:xfrm>
            <a:off x="292608" y="1234440"/>
            <a:ext cx="10515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 Hardware</a:t>
            </a:r>
            <a:endParaRPr lang="en-US" sz="1150" dirty="0"/>
          </a:p>
        </p:txBody>
      </p:sp>
      <p:sp>
        <p:nvSpPr>
          <p:cNvPr id="9" name="Text 7"/>
          <p:cNvSpPr/>
          <p:nvPr/>
        </p:nvSpPr>
        <p:spPr>
          <a:xfrm>
            <a:off x="1481328" y="1124712"/>
            <a:ext cx="315468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Physical machines — ranges from a single PC to a network of servers. The DBMS needs minimum RAM and disk space to run.</a:t>
            </a:r>
            <a:endParaRPr lang="en-US" sz="950" dirty="0"/>
          </a:p>
        </p:txBody>
      </p:sp>
      <p:sp>
        <p:nvSpPr>
          <p:cNvPr id="10" name="Shape 8"/>
          <p:cNvSpPr/>
          <p:nvPr/>
        </p:nvSpPr>
        <p:spPr>
          <a:xfrm>
            <a:off x="4754880" y="1115568"/>
            <a:ext cx="4023360" cy="612648"/>
          </a:xfrm>
          <a:prstGeom prst="rect">
            <a:avLst/>
          </a:prstGeom>
          <a:solidFill>
            <a:srgbClr val="EFF6FF"/>
          </a:solidFill>
          <a:ln w="12700">
            <a:solidFill>
              <a:srgbClr val="3B82F6"/>
            </a:solidFill>
            <a:prstDash val="solid"/>
          </a:ln>
        </p:spPr>
      </p:sp>
      <p:sp>
        <p:nvSpPr>
          <p:cNvPr id="11" name="Text 9"/>
          <p:cNvSpPr/>
          <p:nvPr/>
        </p:nvSpPr>
        <p:spPr>
          <a:xfrm>
            <a:off x="4818888" y="1143000"/>
            <a:ext cx="3886200" cy="548640"/>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DreamHome uses a client-server setup: one central Oracle server in London (backend) + workstations in each branch (frontend clients). Changes to property records in one branch are immediately visible to all other branches.</a:t>
            </a:r>
            <a:endParaRPr lang="en-US" sz="850" dirty="0"/>
          </a:p>
        </p:txBody>
      </p:sp>
      <p:sp>
        <p:nvSpPr>
          <p:cNvPr id="12" name="Shape 10"/>
          <p:cNvSpPr/>
          <p:nvPr/>
        </p:nvSpPr>
        <p:spPr>
          <a:xfrm>
            <a:off x="274320" y="1847088"/>
            <a:ext cx="8595360" cy="713232"/>
          </a:xfrm>
          <a:prstGeom prst="rect">
            <a:avLst/>
          </a:prstGeom>
          <a:solidFill>
            <a:srgbClr val="FFFFFF"/>
          </a:solidFill>
          <a:ln w="12700">
            <a:solidFill>
              <a:srgbClr val="E2E8F0"/>
            </a:solidFill>
            <a:prstDash val="solid"/>
          </a:ln>
        </p:spPr>
      </p:sp>
      <p:sp>
        <p:nvSpPr>
          <p:cNvPr id="13" name="Shape 11"/>
          <p:cNvSpPr/>
          <p:nvPr/>
        </p:nvSpPr>
        <p:spPr>
          <a:xfrm>
            <a:off x="274320" y="1847088"/>
            <a:ext cx="1097280" cy="713232"/>
          </a:xfrm>
          <a:prstGeom prst="rect">
            <a:avLst/>
          </a:prstGeom>
          <a:solidFill>
            <a:srgbClr val="0D6B8A"/>
          </a:solidFill>
          <a:ln w="12700">
            <a:solidFill>
              <a:srgbClr val="0D6B8A"/>
            </a:solidFill>
            <a:prstDash val="solid"/>
          </a:ln>
        </p:spPr>
      </p:sp>
      <p:sp>
        <p:nvSpPr>
          <p:cNvPr id="14" name="Text 12"/>
          <p:cNvSpPr/>
          <p:nvPr/>
        </p:nvSpPr>
        <p:spPr>
          <a:xfrm>
            <a:off x="292608" y="2029968"/>
            <a:ext cx="10515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 Software</a:t>
            </a:r>
            <a:endParaRPr lang="en-US" sz="1150" dirty="0"/>
          </a:p>
        </p:txBody>
      </p:sp>
      <p:sp>
        <p:nvSpPr>
          <p:cNvPr id="15" name="Text 13"/>
          <p:cNvSpPr/>
          <p:nvPr/>
        </p:nvSpPr>
        <p:spPr>
          <a:xfrm>
            <a:off x="1481328" y="1920240"/>
            <a:ext cx="315468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DBMS software, application programs, OS, and network software. Applications can be 3GL (Java, C++) or 4GL (SQL, report generators).</a:t>
            </a:r>
            <a:endParaRPr lang="en-US" sz="950" dirty="0"/>
          </a:p>
        </p:txBody>
      </p:sp>
      <p:sp>
        <p:nvSpPr>
          <p:cNvPr id="16" name="Shape 14"/>
          <p:cNvSpPr/>
          <p:nvPr/>
        </p:nvSpPr>
        <p:spPr>
          <a:xfrm>
            <a:off x="4754880" y="1911096"/>
            <a:ext cx="4023360" cy="612648"/>
          </a:xfrm>
          <a:prstGeom prst="rect">
            <a:avLst/>
          </a:prstGeom>
          <a:solidFill>
            <a:srgbClr val="EFF6FF"/>
          </a:solidFill>
          <a:ln w="12700">
            <a:solidFill>
              <a:srgbClr val="3B82F6"/>
            </a:solidFill>
            <a:prstDash val="solid"/>
          </a:ln>
        </p:spPr>
      </p:sp>
      <p:sp>
        <p:nvSpPr>
          <p:cNvPr id="17" name="Text 15"/>
          <p:cNvSpPr/>
          <p:nvPr/>
        </p:nvSpPr>
        <p:spPr>
          <a:xfrm>
            <a:off x="4818888" y="1938528"/>
            <a:ext cx="3886200" cy="548640"/>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DreamHome: Oracle DBMS + a Java rental application + Windows Server OS. The Java app uses embedded SQL to query Oracle. A 4GL report generator lets the branch manager print monthly rental summaries without writing any code.</a:t>
            </a:r>
            <a:endParaRPr lang="en-US" sz="850" dirty="0"/>
          </a:p>
        </p:txBody>
      </p:sp>
      <p:sp>
        <p:nvSpPr>
          <p:cNvPr id="18" name="Shape 16"/>
          <p:cNvSpPr/>
          <p:nvPr/>
        </p:nvSpPr>
        <p:spPr>
          <a:xfrm>
            <a:off x="274320" y="2642616"/>
            <a:ext cx="8595360" cy="713232"/>
          </a:xfrm>
          <a:prstGeom prst="rect">
            <a:avLst/>
          </a:prstGeom>
          <a:solidFill>
            <a:srgbClr val="FFFFFF"/>
          </a:solidFill>
          <a:ln w="12700">
            <a:solidFill>
              <a:srgbClr val="E2E8F0"/>
            </a:solidFill>
            <a:prstDash val="solid"/>
          </a:ln>
        </p:spPr>
      </p:sp>
      <p:sp>
        <p:nvSpPr>
          <p:cNvPr id="19" name="Shape 17"/>
          <p:cNvSpPr/>
          <p:nvPr/>
        </p:nvSpPr>
        <p:spPr>
          <a:xfrm>
            <a:off x="274320" y="2642616"/>
            <a:ext cx="1097280" cy="713232"/>
          </a:xfrm>
          <a:prstGeom prst="rect">
            <a:avLst/>
          </a:prstGeom>
          <a:solidFill>
            <a:srgbClr val="0D9488"/>
          </a:solidFill>
          <a:ln w="12700">
            <a:solidFill>
              <a:srgbClr val="0D9488"/>
            </a:solidFill>
            <a:prstDash val="solid"/>
          </a:ln>
        </p:spPr>
      </p:sp>
      <p:sp>
        <p:nvSpPr>
          <p:cNvPr id="20" name="Text 18"/>
          <p:cNvSpPr/>
          <p:nvPr/>
        </p:nvSpPr>
        <p:spPr>
          <a:xfrm>
            <a:off x="292608" y="2825496"/>
            <a:ext cx="10515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 Data</a:t>
            </a:r>
            <a:endParaRPr lang="en-US" sz="1150" dirty="0"/>
          </a:p>
        </p:txBody>
      </p:sp>
      <p:sp>
        <p:nvSpPr>
          <p:cNvPr id="21" name="Text 19"/>
          <p:cNvSpPr/>
          <p:nvPr/>
        </p:nvSpPr>
        <p:spPr>
          <a:xfrm>
            <a:off x="1481328" y="2715768"/>
            <a:ext cx="315468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Operational data (actual records) + metadata (system catalog). The schema defines the structure — field names, data types, and constraints.</a:t>
            </a:r>
            <a:endParaRPr lang="en-US" sz="950" dirty="0"/>
          </a:p>
        </p:txBody>
      </p:sp>
      <p:sp>
        <p:nvSpPr>
          <p:cNvPr id="22" name="Shape 20"/>
          <p:cNvSpPr/>
          <p:nvPr/>
        </p:nvSpPr>
        <p:spPr>
          <a:xfrm>
            <a:off x="4754880" y="2706624"/>
            <a:ext cx="4023360" cy="612648"/>
          </a:xfrm>
          <a:prstGeom prst="rect">
            <a:avLst/>
          </a:prstGeom>
          <a:solidFill>
            <a:srgbClr val="EFF6FF"/>
          </a:solidFill>
          <a:ln w="12700">
            <a:solidFill>
              <a:srgbClr val="3B82F6"/>
            </a:solidFill>
            <a:prstDash val="solid"/>
          </a:ln>
        </p:spPr>
      </p:sp>
      <p:sp>
        <p:nvSpPr>
          <p:cNvPr id="23" name="Text 21"/>
          <p:cNvSpPr/>
          <p:nvPr/>
        </p:nvSpPr>
        <p:spPr>
          <a:xfrm>
            <a:off x="4818888" y="2734056"/>
            <a:ext cx="3886200" cy="548640"/>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Operational data: 500 property records, 200 client records, 50 staff records. Metadata: catalog records that PropertyForRent.rent is DECIMAL(8,2) and must be &gt; 0. Apps read structure from the catalog — not from hardcoded definitions.</a:t>
            </a:r>
            <a:endParaRPr lang="en-US" sz="850" dirty="0"/>
          </a:p>
        </p:txBody>
      </p:sp>
      <p:sp>
        <p:nvSpPr>
          <p:cNvPr id="24" name="Shape 22"/>
          <p:cNvSpPr/>
          <p:nvPr/>
        </p:nvSpPr>
        <p:spPr>
          <a:xfrm>
            <a:off x="274320" y="3438144"/>
            <a:ext cx="8595360" cy="713232"/>
          </a:xfrm>
          <a:prstGeom prst="rect">
            <a:avLst/>
          </a:prstGeom>
          <a:solidFill>
            <a:srgbClr val="FFFFFF"/>
          </a:solidFill>
          <a:ln w="12700">
            <a:solidFill>
              <a:srgbClr val="E2E8F0"/>
            </a:solidFill>
            <a:prstDash val="solid"/>
          </a:ln>
        </p:spPr>
      </p:sp>
      <p:sp>
        <p:nvSpPr>
          <p:cNvPr id="25" name="Shape 23"/>
          <p:cNvSpPr/>
          <p:nvPr/>
        </p:nvSpPr>
        <p:spPr>
          <a:xfrm>
            <a:off x="274320" y="3438144"/>
            <a:ext cx="1097280" cy="713232"/>
          </a:xfrm>
          <a:prstGeom prst="rect">
            <a:avLst/>
          </a:prstGeom>
          <a:solidFill>
            <a:srgbClr val="7C3AED"/>
          </a:solidFill>
          <a:ln w="12700">
            <a:solidFill>
              <a:srgbClr val="7C3AED"/>
            </a:solidFill>
            <a:prstDash val="solid"/>
          </a:ln>
        </p:spPr>
      </p:sp>
      <p:sp>
        <p:nvSpPr>
          <p:cNvPr id="26" name="Text 24"/>
          <p:cNvSpPr/>
          <p:nvPr/>
        </p:nvSpPr>
        <p:spPr>
          <a:xfrm>
            <a:off x="292608" y="3621024"/>
            <a:ext cx="10515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 Procedures</a:t>
            </a:r>
            <a:endParaRPr lang="en-US" sz="1150" dirty="0"/>
          </a:p>
        </p:txBody>
      </p:sp>
      <p:sp>
        <p:nvSpPr>
          <p:cNvPr id="27" name="Text 25"/>
          <p:cNvSpPr/>
          <p:nvPr/>
        </p:nvSpPr>
        <p:spPr>
          <a:xfrm>
            <a:off x="1481328" y="3511296"/>
            <a:ext cx="315468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Documented instructions for using and managing the system — how to log on, run backups, handle failures, archive old data.</a:t>
            </a:r>
            <a:endParaRPr lang="en-US" sz="950" dirty="0"/>
          </a:p>
        </p:txBody>
      </p:sp>
      <p:sp>
        <p:nvSpPr>
          <p:cNvPr id="28" name="Shape 26"/>
          <p:cNvSpPr/>
          <p:nvPr/>
        </p:nvSpPr>
        <p:spPr>
          <a:xfrm>
            <a:off x="4754880" y="3502152"/>
            <a:ext cx="4023360" cy="612648"/>
          </a:xfrm>
          <a:prstGeom prst="rect">
            <a:avLst/>
          </a:prstGeom>
          <a:solidFill>
            <a:srgbClr val="EFF6FF"/>
          </a:solidFill>
          <a:ln w="12700">
            <a:solidFill>
              <a:srgbClr val="3B82F6"/>
            </a:solidFill>
            <a:prstDash val="solid"/>
          </a:ln>
        </p:spPr>
      </p:sp>
      <p:sp>
        <p:nvSpPr>
          <p:cNvPr id="29" name="Text 27"/>
          <p:cNvSpPr/>
          <p:nvPr/>
        </p:nvSpPr>
        <p:spPr>
          <a:xfrm>
            <a:off x="4818888" y="3529584"/>
            <a:ext cx="3886200" cy="548640"/>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DreamHome procedures: (a) Nightly backup of all lease records to offsite storage. (b) If the server crashes: call the DBA on-call, run the recovery script, verify data consistency before reopening branches. (c) Archive leases older than 7 years to secondary storage each January.</a:t>
            </a:r>
            <a:endParaRPr lang="en-US" sz="850" dirty="0"/>
          </a:p>
        </p:txBody>
      </p:sp>
      <p:sp>
        <p:nvSpPr>
          <p:cNvPr id="30" name="Shape 28"/>
          <p:cNvSpPr/>
          <p:nvPr/>
        </p:nvSpPr>
        <p:spPr>
          <a:xfrm>
            <a:off x="274320" y="4233672"/>
            <a:ext cx="8595360" cy="713232"/>
          </a:xfrm>
          <a:prstGeom prst="rect">
            <a:avLst/>
          </a:prstGeom>
          <a:solidFill>
            <a:srgbClr val="FFFFFF"/>
          </a:solidFill>
          <a:ln w="12700">
            <a:solidFill>
              <a:srgbClr val="E2E8F0"/>
            </a:solidFill>
            <a:prstDash val="solid"/>
          </a:ln>
        </p:spPr>
      </p:sp>
      <p:sp>
        <p:nvSpPr>
          <p:cNvPr id="31" name="Shape 29"/>
          <p:cNvSpPr/>
          <p:nvPr/>
        </p:nvSpPr>
        <p:spPr>
          <a:xfrm>
            <a:off x="274320" y="4233672"/>
            <a:ext cx="1097280" cy="713232"/>
          </a:xfrm>
          <a:prstGeom prst="rect">
            <a:avLst/>
          </a:prstGeom>
          <a:solidFill>
            <a:srgbClr val="059669"/>
          </a:solidFill>
          <a:ln w="12700">
            <a:solidFill>
              <a:srgbClr val="059669"/>
            </a:solidFill>
            <a:prstDash val="solid"/>
          </a:ln>
        </p:spPr>
      </p:sp>
      <p:sp>
        <p:nvSpPr>
          <p:cNvPr id="32" name="Text 30"/>
          <p:cNvSpPr/>
          <p:nvPr/>
        </p:nvSpPr>
        <p:spPr>
          <a:xfrm>
            <a:off x="292608" y="4416552"/>
            <a:ext cx="10515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 People</a:t>
            </a:r>
            <a:endParaRPr lang="en-US" sz="1150" dirty="0"/>
          </a:p>
        </p:txBody>
      </p:sp>
      <p:sp>
        <p:nvSpPr>
          <p:cNvPr id="33" name="Text 31"/>
          <p:cNvSpPr/>
          <p:nvPr/>
        </p:nvSpPr>
        <p:spPr>
          <a:xfrm>
            <a:off x="1481328" y="4306824"/>
            <a:ext cx="3154680" cy="59436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All the people in the DBMS environment: DA, DBA, Database Designers, Application Developers, and End-Users — covered fully in LO 3.</a:t>
            </a:r>
            <a:endParaRPr lang="en-US" sz="950" dirty="0"/>
          </a:p>
        </p:txBody>
      </p:sp>
      <p:sp>
        <p:nvSpPr>
          <p:cNvPr id="34" name="Shape 32"/>
          <p:cNvSpPr/>
          <p:nvPr/>
        </p:nvSpPr>
        <p:spPr>
          <a:xfrm>
            <a:off x="4754880" y="4297680"/>
            <a:ext cx="4023360" cy="612648"/>
          </a:xfrm>
          <a:prstGeom prst="rect">
            <a:avLst/>
          </a:prstGeom>
          <a:solidFill>
            <a:srgbClr val="EFF6FF"/>
          </a:solidFill>
          <a:ln w="12700">
            <a:solidFill>
              <a:srgbClr val="3B82F6"/>
            </a:solidFill>
            <a:prstDash val="solid"/>
          </a:ln>
        </p:spPr>
      </p:sp>
      <p:sp>
        <p:nvSpPr>
          <p:cNvPr id="35" name="Text 33"/>
          <p:cNvSpPr/>
          <p:nvPr/>
        </p:nvSpPr>
        <p:spPr>
          <a:xfrm>
            <a:off x="4818888" y="4325112"/>
            <a:ext cx="3886200" cy="548640"/>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DreamHome people: 1 DA (sets data policy), 2 DBAs (manage Oracle 24/7), 1 logical designer (drew the ER model), 3 developers (built the rental app), 50 branch receptionists (naïve users using menus), 10 branch managers (sophisticated users writing SQL reports).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6B8A"/>
          </a:solidFill>
          <a:ln w="12700">
            <a:solidFill>
              <a:srgbClr val="0D6B8A"/>
            </a:solidFill>
            <a:prstDash val="solid"/>
          </a:ln>
        </p:spPr>
      </p:sp>
      <p:sp>
        <p:nvSpPr>
          <p:cNvPr id="3" name="Shape 1"/>
          <p:cNvSpPr/>
          <p:nvPr/>
        </p:nvSpPr>
        <p:spPr>
          <a:xfrm>
            <a:off x="0" y="73152"/>
            <a:ext cx="9144000" cy="384048"/>
          </a:xfrm>
          <a:prstGeom prst="rect">
            <a:avLst/>
          </a:prstGeom>
          <a:solidFill>
            <a:srgbClr val="0D6B8A"/>
          </a:solidFill>
          <a:ln w="12700">
            <a:solidFill>
              <a:srgbClr val="0D6B8A"/>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BAE6FD"/>
                </a:solidFill>
                <a:latin typeface="Calibri" pitchFamily="34" charset="0"/>
                <a:ea typeface="Calibri" pitchFamily="34" charset="-122"/>
                <a:cs typeface="Calibri" pitchFamily="34" charset="-120"/>
              </a:rPr>
              <a:t>LO 2  —  Components of a DBMS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What the DBMS Software Provides</a:t>
            </a:r>
            <a:endParaRPr lang="en-US" sz="2400" dirty="0"/>
          </a:p>
        </p:txBody>
      </p:sp>
      <p:sp>
        <p:nvSpPr>
          <p:cNvPr id="6" name="Shape 4"/>
          <p:cNvSpPr/>
          <p:nvPr/>
        </p:nvSpPr>
        <p:spPr>
          <a:xfrm>
            <a:off x="228600" y="1051560"/>
            <a:ext cx="2743200" cy="173736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7" name="Shape 5"/>
          <p:cNvSpPr/>
          <p:nvPr/>
        </p:nvSpPr>
        <p:spPr>
          <a:xfrm>
            <a:off x="228600" y="1051560"/>
            <a:ext cx="2743200" cy="475488"/>
          </a:xfrm>
          <a:prstGeom prst="rect">
            <a:avLst/>
          </a:prstGeom>
          <a:solidFill>
            <a:srgbClr val="1B3A6B"/>
          </a:solidFill>
          <a:ln w="12700">
            <a:solidFill>
              <a:srgbClr val="1B3A6B"/>
            </a:solidFill>
            <a:prstDash val="solid"/>
          </a:ln>
        </p:spPr>
      </p:sp>
      <p:sp>
        <p:nvSpPr>
          <p:cNvPr id="8" name="Text 6"/>
          <p:cNvSpPr/>
          <p:nvPr/>
        </p:nvSpPr>
        <p:spPr>
          <a:xfrm>
            <a:off x="320040" y="1088136"/>
            <a:ext cx="2578608" cy="42062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DDL</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Data Definition Language</a:t>
            </a:r>
            <a:endParaRPr lang="en-US" sz="950" dirty="0"/>
          </a:p>
        </p:txBody>
      </p:sp>
      <p:sp>
        <p:nvSpPr>
          <p:cNvPr id="9" name="Text 7"/>
          <p:cNvSpPr/>
          <p:nvPr/>
        </p:nvSpPr>
        <p:spPr>
          <a:xfrm>
            <a:off x="320040" y="1581912"/>
            <a:ext cx="2578608"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Define the structure of tables, data types, and constraints.</a:t>
            </a:r>
            <a:endParaRPr lang="en-US" sz="950" dirty="0"/>
          </a:p>
        </p:txBody>
      </p:sp>
      <p:sp>
        <p:nvSpPr>
          <p:cNvPr id="10" name="Shape 8"/>
          <p:cNvSpPr/>
          <p:nvPr/>
        </p:nvSpPr>
        <p:spPr>
          <a:xfrm>
            <a:off x="301752" y="2075688"/>
            <a:ext cx="2596896" cy="658368"/>
          </a:xfrm>
          <a:prstGeom prst="rect">
            <a:avLst/>
          </a:prstGeom>
          <a:solidFill>
            <a:srgbClr val="EFF6FF"/>
          </a:solidFill>
          <a:ln w="12700">
            <a:solidFill>
              <a:srgbClr val="3B82F6"/>
            </a:solidFill>
            <a:prstDash val="solid"/>
          </a:ln>
        </p:spPr>
      </p:sp>
      <p:sp>
        <p:nvSpPr>
          <p:cNvPr id="11" name="Text 9"/>
          <p:cNvSpPr/>
          <p:nvPr/>
        </p:nvSpPr>
        <p:spPr>
          <a:xfrm>
            <a:off x="356616" y="2093976"/>
            <a:ext cx="2487168" cy="612648"/>
          </a:xfrm>
          <a:prstGeom prst="rect">
            <a:avLst/>
          </a:prstGeom>
          <a:noFill/>
          <a:ln/>
        </p:spPr>
        <p:txBody>
          <a:bodyPr wrap="square" lIns="0" tIns="0" rIns="0" bIns="0" rtlCol="0" anchor="ctr"/>
          <a:lstStyle/>
          <a:p>
            <a:pPr indent="0" marL="0">
              <a:buNone/>
            </a:pPr>
            <a:r>
              <a:rPr lang="en-US" sz="850" dirty="0">
                <a:solidFill>
                  <a:srgbClr val="1E3A5F"/>
                </a:solidFill>
                <a:latin typeface="Courier New" pitchFamily="34" charset="0"/>
                <a:ea typeface="Courier New" pitchFamily="34" charset="-122"/>
                <a:cs typeface="Courier New" pitchFamily="34" charset="-120"/>
              </a:rPr>
              <a:t>CREATE TABLE PropertyForRent (</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  propertyNo CHAR(5) PRIMARY KEY,</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  rent DECIMAL(8,2) NOT NULL,</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  ownerNo CHAR(5)</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a:t>
            </a:r>
            <a:endParaRPr lang="en-US" sz="850" dirty="0"/>
          </a:p>
        </p:txBody>
      </p:sp>
      <p:sp>
        <p:nvSpPr>
          <p:cNvPr id="12" name="Shape 10"/>
          <p:cNvSpPr/>
          <p:nvPr/>
        </p:nvSpPr>
        <p:spPr>
          <a:xfrm>
            <a:off x="3154680" y="1051560"/>
            <a:ext cx="2743200" cy="173736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3" name="Shape 11"/>
          <p:cNvSpPr/>
          <p:nvPr/>
        </p:nvSpPr>
        <p:spPr>
          <a:xfrm>
            <a:off x="3154680" y="1051560"/>
            <a:ext cx="2743200" cy="475488"/>
          </a:xfrm>
          <a:prstGeom prst="rect">
            <a:avLst/>
          </a:prstGeom>
          <a:solidFill>
            <a:srgbClr val="0D6B8A"/>
          </a:solidFill>
          <a:ln w="12700">
            <a:solidFill>
              <a:srgbClr val="0D6B8A"/>
            </a:solidFill>
            <a:prstDash val="solid"/>
          </a:ln>
        </p:spPr>
      </p:sp>
      <p:sp>
        <p:nvSpPr>
          <p:cNvPr id="14" name="Text 12"/>
          <p:cNvSpPr/>
          <p:nvPr/>
        </p:nvSpPr>
        <p:spPr>
          <a:xfrm>
            <a:off x="3246120" y="1088136"/>
            <a:ext cx="2578608" cy="42062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DML / SQL</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Data Manipulation Language</a:t>
            </a:r>
            <a:endParaRPr lang="en-US" sz="950" dirty="0"/>
          </a:p>
        </p:txBody>
      </p:sp>
      <p:sp>
        <p:nvSpPr>
          <p:cNvPr id="15" name="Text 13"/>
          <p:cNvSpPr/>
          <p:nvPr/>
        </p:nvSpPr>
        <p:spPr>
          <a:xfrm>
            <a:off x="3246120" y="1581912"/>
            <a:ext cx="2578608"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Insert, update, delete, and retrieve data. SQL is the ISO standard query language for all relational DBMSs.</a:t>
            </a:r>
            <a:endParaRPr lang="en-US" sz="950" dirty="0"/>
          </a:p>
        </p:txBody>
      </p:sp>
      <p:sp>
        <p:nvSpPr>
          <p:cNvPr id="16" name="Shape 14"/>
          <p:cNvSpPr/>
          <p:nvPr/>
        </p:nvSpPr>
        <p:spPr>
          <a:xfrm>
            <a:off x="3227832" y="2075688"/>
            <a:ext cx="2596896" cy="658368"/>
          </a:xfrm>
          <a:prstGeom prst="rect">
            <a:avLst/>
          </a:prstGeom>
          <a:solidFill>
            <a:srgbClr val="EFF6FF"/>
          </a:solidFill>
          <a:ln w="12700">
            <a:solidFill>
              <a:srgbClr val="3B82F6"/>
            </a:solidFill>
            <a:prstDash val="solid"/>
          </a:ln>
        </p:spPr>
      </p:sp>
      <p:sp>
        <p:nvSpPr>
          <p:cNvPr id="17" name="Text 15"/>
          <p:cNvSpPr/>
          <p:nvPr/>
        </p:nvSpPr>
        <p:spPr>
          <a:xfrm>
            <a:off x="3282696" y="2093976"/>
            <a:ext cx="2487168" cy="612648"/>
          </a:xfrm>
          <a:prstGeom prst="rect">
            <a:avLst/>
          </a:prstGeom>
          <a:noFill/>
          <a:ln/>
        </p:spPr>
        <p:txBody>
          <a:bodyPr wrap="square" lIns="0" tIns="0" rIns="0" bIns="0" rtlCol="0" anchor="ctr"/>
          <a:lstStyle/>
          <a:p>
            <a:pPr indent="0" marL="0">
              <a:buNone/>
            </a:pPr>
            <a:r>
              <a:rPr lang="en-US" sz="850" dirty="0">
                <a:solidFill>
                  <a:srgbClr val="1E3A5F"/>
                </a:solidFill>
                <a:latin typeface="Courier New" pitchFamily="34" charset="0"/>
                <a:ea typeface="Courier New" pitchFamily="34" charset="-122"/>
                <a:cs typeface="Courier New" pitchFamily="34" charset="-120"/>
              </a:rPr>
              <a:t>SELECT propertyNo, rent</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FROM PropertyForRent</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WHERE type='Flat'</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  AND rent &lt; 400;</a:t>
            </a:r>
            <a:endParaRPr lang="en-US" sz="850" dirty="0"/>
          </a:p>
        </p:txBody>
      </p:sp>
      <p:sp>
        <p:nvSpPr>
          <p:cNvPr id="18" name="Shape 16"/>
          <p:cNvSpPr/>
          <p:nvPr/>
        </p:nvSpPr>
        <p:spPr>
          <a:xfrm>
            <a:off x="6080760" y="1051560"/>
            <a:ext cx="2743200" cy="173736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9" name="Shape 17"/>
          <p:cNvSpPr/>
          <p:nvPr/>
        </p:nvSpPr>
        <p:spPr>
          <a:xfrm>
            <a:off x="6080760" y="1051560"/>
            <a:ext cx="2743200" cy="475488"/>
          </a:xfrm>
          <a:prstGeom prst="rect">
            <a:avLst/>
          </a:prstGeom>
          <a:solidFill>
            <a:srgbClr val="0D9488"/>
          </a:solidFill>
          <a:ln w="12700">
            <a:solidFill>
              <a:srgbClr val="0D9488"/>
            </a:solidFill>
            <a:prstDash val="solid"/>
          </a:ln>
        </p:spPr>
      </p:sp>
      <p:sp>
        <p:nvSpPr>
          <p:cNvPr id="20" name="Text 18"/>
          <p:cNvSpPr/>
          <p:nvPr/>
        </p:nvSpPr>
        <p:spPr>
          <a:xfrm>
            <a:off x="6172200" y="1088136"/>
            <a:ext cx="2578608" cy="42062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Security</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Access Control</a:t>
            </a:r>
            <a:endParaRPr lang="en-US" sz="950" dirty="0"/>
          </a:p>
        </p:txBody>
      </p:sp>
      <p:sp>
        <p:nvSpPr>
          <p:cNvPr id="21" name="Text 19"/>
          <p:cNvSpPr/>
          <p:nvPr/>
        </p:nvSpPr>
        <p:spPr>
          <a:xfrm>
            <a:off x="6172200" y="1581912"/>
            <a:ext cx="2578608"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Usernames, passwords, and role-based permissions control who can see or modify which data.</a:t>
            </a:r>
            <a:endParaRPr lang="en-US" sz="950" dirty="0"/>
          </a:p>
        </p:txBody>
      </p:sp>
      <p:sp>
        <p:nvSpPr>
          <p:cNvPr id="22" name="Shape 20"/>
          <p:cNvSpPr/>
          <p:nvPr/>
        </p:nvSpPr>
        <p:spPr>
          <a:xfrm>
            <a:off x="6153912" y="2075688"/>
            <a:ext cx="2596896" cy="658368"/>
          </a:xfrm>
          <a:prstGeom prst="rect">
            <a:avLst/>
          </a:prstGeom>
          <a:solidFill>
            <a:srgbClr val="EFF6FF"/>
          </a:solidFill>
          <a:ln w="12700">
            <a:solidFill>
              <a:srgbClr val="3B82F6"/>
            </a:solidFill>
            <a:prstDash val="solid"/>
          </a:ln>
        </p:spPr>
      </p:sp>
      <p:sp>
        <p:nvSpPr>
          <p:cNvPr id="23" name="Text 21"/>
          <p:cNvSpPr/>
          <p:nvPr/>
        </p:nvSpPr>
        <p:spPr>
          <a:xfrm>
            <a:off x="6208776" y="2093976"/>
            <a:ext cx="2487168" cy="612648"/>
          </a:xfrm>
          <a:prstGeom prst="rect">
            <a:avLst/>
          </a:prstGeom>
          <a:noFill/>
          <a:ln/>
        </p:spPr>
        <p:txBody>
          <a:bodyPr wrap="square" lIns="0" tIns="0" rIns="0" bIns="0" rtlCol="0" anchor="ctr"/>
          <a:lstStyle/>
          <a:p>
            <a:pPr indent="0" marL="0">
              <a:buNone/>
            </a:pPr>
            <a:r>
              <a:rPr lang="en-US" sz="850" dirty="0">
                <a:solidFill>
                  <a:srgbClr val="1E3A5F"/>
                </a:solidFill>
                <a:latin typeface="Courier New" pitchFamily="34" charset="0"/>
                <a:ea typeface="Courier New" pitchFamily="34" charset="-122"/>
                <a:cs typeface="Courier New" pitchFamily="34" charset="-120"/>
              </a:rPr>
              <a:t>DBA: full access to all tables.</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Branch Manager: own branch data.</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Receptionist: properties only.</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Salary data: HR &amp; Payroll only.</a:t>
            </a:r>
            <a:endParaRPr lang="en-US" sz="850" dirty="0"/>
          </a:p>
        </p:txBody>
      </p:sp>
      <p:sp>
        <p:nvSpPr>
          <p:cNvPr id="24" name="Shape 22"/>
          <p:cNvSpPr/>
          <p:nvPr/>
        </p:nvSpPr>
        <p:spPr>
          <a:xfrm>
            <a:off x="228600" y="2990088"/>
            <a:ext cx="2743200" cy="173736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5" name="Shape 23"/>
          <p:cNvSpPr/>
          <p:nvPr/>
        </p:nvSpPr>
        <p:spPr>
          <a:xfrm>
            <a:off x="228600" y="2990088"/>
            <a:ext cx="2743200" cy="475488"/>
          </a:xfrm>
          <a:prstGeom prst="rect">
            <a:avLst/>
          </a:prstGeom>
          <a:solidFill>
            <a:srgbClr val="7C3AED"/>
          </a:solidFill>
          <a:ln w="12700">
            <a:solidFill>
              <a:srgbClr val="7C3AED"/>
            </a:solidFill>
            <a:prstDash val="solid"/>
          </a:ln>
        </p:spPr>
      </p:sp>
      <p:sp>
        <p:nvSpPr>
          <p:cNvPr id="26" name="Text 24"/>
          <p:cNvSpPr/>
          <p:nvPr/>
        </p:nvSpPr>
        <p:spPr>
          <a:xfrm>
            <a:off x="320040" y="3026664"/>
            <a:ext cx="2578608" cy="42062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Integrity</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Constraint Enforcement</a:t>
            </a:r>
            <a:endParaRPr lang="en-US" sz="950" dirty="0"/>
          </a:p>
        </p:txBody>
      </p:sp>
      <p:sp>
        <p:nvSpPr>
          <p:cNvPr id="27" name="Text 25"/>
          <p:cNvSpPr/>
          <p:nvPr/>
        </p:nvSpPr>
        <p:spPr>
          <a:xfrm>
            <a:off x="320040" y="3520440"/>
            <a:ext cx="2578608"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DBMS automatically enforces business rules — invalid data can never enter the database from any application.</a:t>
            </a:r>
            <a:endParaRPr lang="en-US" sz="950" dirty="0"/>
          </a:p>
        </p:txBody>
      </p:sp>
      <p:sp>
        <p:nvSpPr>
          <p:cNvPr id="28" name="Shape 26"/>
          <p:cNvSpPr/>
          <p:nvPr/>
        </p:nvSpPr>
        <p:spPr>
          <a:xfrm>
            <a:off x="301752" y="4014216"/>
            <a:ext cx="2596896" cy="658368"/>
          </a:xfrm>
          <a:prstGeom prst="rect">
            <a:avLst/>
          </a:prstGeom>
          <a:solidFill>
            <a:srgbClr val="EFF6FF"/>
          </a:solidFill>
          <a:ln w="12700">
            <a:solidFill>
              <a:srgbClr val="3B82F6"/>
            </a:solidFill>
            <a:prstDash val="solid"/>
          </a:ln>
        </p:spPr>
      </p:sp>
      <p:sp>
        <p:nvSpPr>
          <p:cNvPr id="29" name="Text 27"/>
          <p:cNvSpPr/>
          <p:nvPr/>
        </p:nvSpPr>
        <p:spPr>
          <a:xfrm>
            <a:off x="356616" y="4032504"/>
            <a:ext cx="2487168" cy="612648"/>
          </a:xfrm>
          <a:prstGeom prst="rect">
            <a:avLst/>
          </a:prstGeom>
          <a:noFill/>
          <a:ln/>
        </p:spPr>
        <p:txBody>
          <a:bodyPr wrap="square" lIns="0" tIns="0" rIns="0" bIns="0" rtlCol="0" anchor="ctr"/>
          <a:lstStyle/>
          <a:p>
            <a:pPr indent="0" marL="0">
              <a:buNone/>
            </a:pPr>
            <a:r>
              <a:rPr lang="en-US" sz="850" dirty="0">
                <a:solidFill>
                  <a:srgbClr val="1E3A5F"/>
                </a:solidFill>
                <a:latin typeface="Courier New" pitchFamily="34" charset="0"/>
                <a:ea typeface="Courier New" pitchFamily="34" charset="-122"/>
                <a:cs typeface="Courier New" pitchFamily="34" charset="-120"/>
              </a:rPr>
              <a:t>Rule: rent must be &gt; 0.</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Rule: staff cannot manage &gt;100</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  properties simultaneously.</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DBMS rejects any violating insert.</a:t>
            </a:r>
            <a:endParaRPr lang="en-US" sz="850" dirty="0"/>
          </a:p>
        </p:txBody>
      </p:sp>
      <p:sp>
        <p:nvSpPr>
          <p:cNvPr id="30" name="Shape 28"/>
          <p:cNvSpPr/>
          <p:nvPr/>
        </p:nvSpPr>
        <p:spPr>
          <a:xfrm>
            <a:off x="3154680" y="2990088"/>
            <a:ext cx="2743200" cy="173736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31" name="Shape 29"/>
          <p:cNvSpPr/>
          <p:nvPr/>
        </p:nvSpPr>
        <p:spPr>
          <a:xfrm>
            <a:off x="3154680" y="2990088"/>
            <a:ext cx="2743200" cy="475488"/>
          </a:xfrm>
          <a:prstGeom prst="rect">
            <a:avLst/>
          </a:prstGeom>
          <a:solidFill>
            <a:srgbClr val="059669"/>
          </a:solidFill>
          <a:ln w="12700">
            <a:solidFill>
              <a:srgbClr val="059669"/>
            </a:solidFill>
            <a:prstDash val="solid"/>
          </a:ln>
        </p:spPr>
      </p:sp>
      <p:sp>
        <p:nvSpPr>
          <p:cNvPr id="32" name="Text 30"/>
          <p:cNvSpPr/>
          <p:nvPr/>
        </p:nvSpPr>
        <p:spPr>
          <a:xfrm>
            <a:off x="3246120" y="3026664"/>
            <a:ext cx="2578608" cy="42062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Concurrency</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Multi-User Control</a:t>
            </a:r>
            <a:endParaRPr lang="en-US" sz="950" dirty="0"/>
          </a:p>
        </p:txBody>
      </p:sp>
      <p:sp>
        <p:nvSpPr>
          <p:cNvPr id="33" name="Text 31"/>
          <p:cNvSpPr/>
          <p:nvPr/>
        </p:nvSpPr>
        <p:spPr>
          <a:xfrm>
            <a:off x="3246120" y="3520440"/>
            <a:ext cx="2578608"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Multiple users access the DB simultaneously without operations conflicting or corrupting each other's data.</a:t>
            </a:r>
            <a:endParaRPr lang="en-US" sz="950" dirty="0"/>
          </a:p>
        </p:txBody>
      </p:sp>
      <p:sp>
        <p:nvSpPr>
          <p:cNvPr id="34" name="Shape 32"/>
          <p:cNvSpPr/>
          <p:nvPr/>
        </p:nvSpPr>
        <p:spPr>
          <a:xfrm>
            <a:off x="3227832" y="4014216"/>
            <a:ext cx="2596896" cy="658368"/>
          </a:xfrm>
          <a:prstGeom prst="rect">
            <a:avLst/>
          </a:prstGeom>
          <a:solidFill>
            <a:srgbClr val="EFF6FF"/>
          </a:solidFill>
          <a:ln w="12700">
            <a:solidFill>
              <a:srgbClr val="3B82F6"/>
            </a:solidFill>
            <a:prstDash val="solid"/>
          </a:ln>
        </p:spPr>
      </p:sp>
      <p:sp>
        <p:nvSpPr>
          <p:cNvPr id="35" name="Text 33"/>
          <p:cNvSpPr/>
          <p:nvPr/>
        </p:nvSpPr>
        <p:spPr>
          <a:xfrm>
            <a:off x="3282696" y="4032504"/>
            <a:ext cx="2487168" cy="612648"/>
          </a:xfrm>
          <a:prstGeom prst="rect">
            <a:avLst/>
          </a:prstGeom>
          <a:noFill/>
          <a:ln/>
        </p:spPr>
        <p:txBody>
          <a:bodyPr wrap="square" lIns="0" tIns="0" rIns="0" bIns="0" rtlCol="0" anchor="ctr"/>
          <a:lstStyle/>
          <a:p>
            <a:pPr indent="0" marL="0">
              <a:buNone/>
            </a:pPr>
            <a:r>
              <a:rPr lang="en-US" sz="850" dirty="0">
                <a:solidFill>
                  <a:srgbClr val="1E3A5F"/>
                </a:solidFill>
                <a:latin typeface="Courier New" pitchFamily="34" charset="0"/>
                <a:ea typeface="Courier New" pitchFamily="34" charset="-122"/>
                <a:cs typeface="Courier New" pitchFamily="34" charset="-120"/>
              </a:rPr>
              <a:t>Two agents try to book the last</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seat at the same time.</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DBMS allows one; tells the other</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the seat is no longer available.</a:t>
            </a:r>
            <a:endParaRPr lang="en-US" sz="850" dirty="0"/>
          </a:p>
        </p:txBody>
      </p:sp>
      <p:sp>
        <p:nvSpPr>
          <p:cNvPr id="36" name="Shape 34"/>
          <p:cNvSpPr/>
          <p:nvPr/>
        </p:nvSpPr>
        <p:spPr>
          <a:xfrm>
            <a:off x="6080760" y="2990088"/>
            <a:ext cx="2743200" cy="173736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37" name="Shape 35"/>
          <p:cNvSpPr/>
          <p:nvPr/>
        </p:nvSpPr>
        <p:spPr>
          <a:xfrm>
            <a:off x="6080760" y="2990088"/>
            <a:ext cx="2743200" cy="475488"/>
          </a:xfrm>
          <a:prstGeom prst="rect">
            <a:avLst/>
          </a:prstGeom>
          <a:solidFill>
            <a:srgbClr val="B45309"/>
          </a:solidFill>
          <a:ln w="12700">
            <a:solidFill>
              <a:srgbClr val="B45309"/>
            </a:solidFill>
            <a:prstDash val="solid"/>
          </a:ln>
        </p:spPr>
      </p:sp>
      <p:sp>
        <p:nvSpPr>
          <p:cNvPr id="38" name="Text 36"/>
          <p:cNvSpPr/>
          <p:nvPr/>
        </p:nvSpPr>
        <p:spPr>
          <a:xfrm>
            <a:off x="6172200" y="3026664"/>
            <a:ext cx="2578608" cy="420624"/>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Recovery</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Backup &amp; Restore</a:t>
            </a:r>
            <a:endParaRPr lang="en-US" sz="950" dirty="0"/>
          </a:p>
        </p:txBody>
      </p:sp>
      <p:sp>
        <p:nvSpPr>
          <p:cNvPr id="39" name="Text 37"/>
          <p:cNvSpPr/>
          <p:nvPr/>
        </p:nvSpPr>
        <p:spPr>
          <a:xfrm>
            <a:off x="6172200" y="3520440"/>
            <a:ext cx="2578608" cy="47548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If the system crashes mid-transaction, the DBMS rolls back incomplete changes and restores a consistent state.</a:t>
            </a:r>
            <a:endParaRPr lang="en-US" sz="950" dirty="0"/>
          </a:p>
        </p:txBody>
      </p:sp>
      <p:sp>
        <p:nvSpPr>
          <p:cNvPr id="40" name="Shape 38"/>
          <p:cNvSpPr/>
          <p:nvPr/>
        </p:nvSpPr>
        <p:spPr>
          <a:xfrm>
            <a:off x="6153912" y="4014216"/>
            <a:ext cx="2596896" cy="658368"/>
          </a:xfrm>
          <a:prstGeom prst="rect">
            <a:avLst/>
          </a:prstGeom>
          <a:solidFill>
            <a:srgbClr val="EFF6FF"/>
          </a:solidFill>
          <a:ln w="12700">
            <a:solidFill>
              <a:srgbClr val="3B82F6"/>
            </a:solidFill>
            <a:prstDash val="solid"/>
          </a:ln>
        </p:spPr>
      </p:sp>
      <p:sp>
        <p:nvSpPr>
          <p:cNvPr id="41" name="Text 39"/>
          <p:cNvSpPr/>
          <p:nvPr/>
        </p:nvSpPr>
        <p:spPr>
          <a:xfrm>
            <a:off x="6208776" y="4032504"/>
            <a:ext cx="2487168" cy="612648"/>
          </a:xfrm>
          <a:prstGeom prst="rect">
            <a:avLst/>
          </a:prstGeom>
          <a:noFill/>
          <a:ln/>
        </p:spPr>
        <p:txBody>
          <a:bodyPr wrap="square" lIns="0" tIns="0" rIns="0" bIns="0" rtlCol="0" anchor="ctr"/>
          <a:lstStyle/>
          <a:p>
            <a:pPr indent="0" marL="0">
              <a:buNone/>
            </a:pPr>
            <a:r>
              <a:rPr lang="en-US" sz="850" dirty="0">
                <a:solidFill>
                  <a:srgbClr val="1E3A5F"/>
                </a:solidFill>
                <a:latin typeface="Courier New" pitchFamily="34" charset="0"/>
                <a:ea typeface="Courier New" pitchFamily="34" charset="-122"/>
                <a:cs typeface="Courier New" pitchFamily="34" charset="-120"/>
              </a:rPr>
              <a:t>Power cut during a bank transfer.</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DBMS rolls back the debit if the</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credit didn't complete — account</a:t>
            </a:r>
            <a:endParaRPr lang="en-US" sz="850" dirty="0"/>
          </a:p>
          <a:p>
            <a:pPr indent="0" marL="0">
              <a:buNone/>
            </a:pPr>
            <a:r>
              <a:rPr lang="en-US" sz="850" dirty="0">
                <a:solidFill>
                  <a:srgbClr val="1E3A5F"/>
                </a:solidFill>
                <a:latin typeface="Courier New" pitchFamily="34" charset="0"/>
                <a:ea typeface="Courier New" pitchFamily="34" charset="-122"/>
                <a:cs typeface="Courier New" pitchFamily="34" charset="-120"/>
              </a:rPr>
              <a:t>balance stays consistent.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6B8A"/>
          </a:solidFill>
          <a:ln w="12700">
            <a:solidFill>
              <a:srgbClr val="0D6B8A"/>
            </a:solidFill>
            <a:prstDash val="solid"/>
          </a:ln>
        </p:spPr>
      </p:sp>
      <p:sp>
        <p:nvSpPr>
          <p:cNvPr id="3" name="Shape 1"/>
          <p:cNvSpPr/>
          <p:nvPr/>
        </p:nvSpPr>
        <p:spPr>
          <a:xfrm>
            <a:off x="0" y="73152"/>
            <a:ext cx="9144000" cy="384048"/>
          </a:xfrm>
          <a:prstGeom prst="rect">
            <a:avLst/>
          </a:prstGeom>
          <a:solidFill>
            <a:srgbClr val="0D6B8A"/>
          </a:solidFill>
          <a:ln w="12700">
            <a:solidFill>
              <a:srgbClr val="0D6B8A"/>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BAE6FD"/>
                </a:solidFill>
                <a:latin typeface="Calibri" pitchFamily="34" charset="0"/>
                <a:ea typeface="Calibri" pitchFamily="34" charset="-122"/>
                <a:cs typeface="Calibri" pitchFamily="34" charset="-120"/>
              </a:rPr>
              <a:t>LO 2  —  Components of a DBMS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The View Mechanism — Customised Windows onto the Database</a:t>
            </a:r>
            <a:endParaRPr lang="en-US" sz="2200" dirty="0"/>
          </a:p>
        </p:txBody>
      </p:sp>
      <p:sp>
        <p:nvSpPr>
          <p:cNvPr id="6" name="Shape 4"/>
          <p:cNvSpPr/>
          <p:nvPr/>
        </p:nvSpPr>
        <p:spPr>
          <a:xfrm>
            <a:off x="274320" y="1051560"/>
            <a:ext cx="8595360" cy="457200"/>
          </a:xfrm>
          <a:prstGeom prst="rect">
            <a:avLst/>
          </a:prstGeom>
          <a:solidFill>
            <a:srgbClr val="0D6B8A"/>
          </a:solidFill>
          <a:ln w="12700">
            <a:solidFill>
              <a:srgbClr val="0D6B8A"/>
            </a:solidFill>
            <a:prstDash val="solid"/>
          </a:ln>
        </p:spPr>
      </p:sp>
      <p:sp>
        <p:nvSpPr>
          <p:cNvPr id="7" name="Text 5"/>
          <p:cNvSpPr/>
          <p:nvPr/>
        </p:nvSpPr>
        <p:spPr>
          <a:xfrm>
            <a:off x="411480" y="1069848"/>
            <a:ext cx="8321040" cy="42062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 view is a virtual subset of the database tailored for a specific user or department. Users see only what they need — and nothing they shouldn't.</a:t>
            </a:r>
            <a:endParaRPr lang="en-US" sz="1150" dirty="0"/>
          </a:p>
        </p:txBody>
      </p:sp>
      <p:sp>
        <p:nvSpPr>
          <p:cNvPr id="8" name="Shape 6"/>
          <p:cNvSpPr/>
          <p:nvPr/>
        </p:nvSpPr>
        <p:spPr>
          <a:xfrm>
            <a:off x="228600" y="1600200"/>
            <a:ext cx="4206240" cy="153619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9" name="Shape 7"/>
          <p:cNvSpPr/>
          <p:nvPr/>
        </p:nvSpPr>
        <p:spPr>
          <a:xfrm>
            <a:off x="228600" y="1600200"/>
            <a:ext cx="4206240" cy="292608"/>
          </a:xfrm>
          <a:prstGeom prst="rect">
            <a:avLst/>
          </a:prstGeom>
          <a:solidFill>
            <a:srgbClr val="1B3A6B"/>
          </a:solidFill>
          <a:ln w="12700">
            <a:solidFill>
              <a:srgbClr val="1B3A6B"/>
            </a:solidFill>
            <a:prstDash val="solid"/>
          </a:ln>
        </p:spPr>
      </p:sp>
      <p:sp>
        <p:nvSpPr>
          <p:cNvPr id="10" name="Text 8"/>
          <p:cNvSpPr/>
          <p:nvPr/>
        </p:nvSpPr>
        <p:spPr>
          <a:xfrm>
            <a:off x="338328" y="1636776"/>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Reduces Complexity</a:t>
            </a:r>
            <a:endParaRPr lang="en-US" sz="1200" dirty="0"/>
          </a:p>
        </p:txBody>
      </p:sp>
      <p:sp>
        <p:nvSpPr>
          <p:cNvPr id="11" name="Text 9"/>
          <p:cNvSpPr/>
          <p:nvPr/>
        </p:nvSpPr>
        <p:spPr>
          <a:xfrm>
            <a:off x="338328" y="1947672"/>
            <a:ext cx="3986784"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Users see only columns relevant to their work — not dozens of tables and hundreds of fields.</a:t>
            </a:r>
            <a:endParaRPr lang="en-US" sz="1000" dirty="0"/>
          </a:p>
        </p:txBody>
      </p:sp>
      <p:sp>
        <p:nvSpPr>
          <p:cNvPr id="12" name="Shape 10"/>
          <p:cNvSpPr/>
          <p:nvPr/>
        </p:nvSpPr>
        <p:spPr>
          <a:xfrm>
            <a:off x="320040" y="2450592"/>
            <a:ext cx="4023360" cy="640080"/>
          </a:xfrm>
          <a:prstGeom prst="rect">
            <a:avLst/>
          </a:prstGeom>
          <a:solidFill>
            <a:srgbClr val="EFF6FF"/>
          </a:solidFill>
          <a:ln w="12700">
            <a:solidFill>
              <a:srgbClr val="3B82F6"/>
            </a:solidFill>
            <a:prstDash val="solid"/>
          </a:ln>
        </p:spPr>
      </p:sp>
      <p:sp>
        <p:nvSpPr>
          <p:cNvPr id="13" name="Text 11"/>
          <p:cNvSpPr/>
          <p:nvPr/>
        </p:nvSpPr>
        <p:spPr>
          <a:xfrm>
            <a:off x="374904" y="2468880"/>
            <a:ext cx="3904488" cy="603504"/>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Contracts Dept view shows:</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propertyNo, rent, leaseStart,</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leaseEnd — nothing more.</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They don't see room counts or owner details.</a:t>
            </a:r>
            <a:endParaRPr lang="en-US" sz="880" dirty="0"/>
          </a:p>
        </p:txBody>
      </p:sp>
      <p:sp>
        <p:nvSpPr>
          <p:cNvPr id="14" name="Shape 12"/>
          <p:cNvSpPr/>
          <p:nvPr/>
        </p:nvSpPr>
        <p:spPr>
          <a:xfrm>
            <a:off x="4663440" y="1600200"/>
            <a:ext cx="4206240" cy="153619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5" name="Shape 13"/>
          <p:cNvSpPr/>
          <p:nvPr/>
        </p:nvSpPr>
        <p:spPr>
          <a:xfrm>
            <a:off x="4663440" y="1600200"/>
            <a:ext cx="4206240" cy="292608"/>
          </a:xfrm>
          <a:prstGeom prst="rect">
            <a:avLst/>
          </a:prstGeom>
          <a:solidFill>
            <a:srgbClr val="0D6B8A"/>
          </a:solidFill>
          <a:ln w="12700">
            <a:solidFill>
              <a:srgbClr val="0D6B8A"/>
            </a:solidFill>
            <a:prstDash val="solid"/>
          </a:ln>
        </p:spPr>
      </p:sp>
      <p:sp>
        <p:nvSpPr>
          <p:cNvPr id="16" name="Text 14"/>
          <p:cNvSpPr/>
          <p:nvPr/>
        </p:nvSpPr>
        <p:spPr>
          <a:xfrm>
            <a:off x="4773168" y="1636776"/>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Provides Security</a:t>
            </a:r>
            <a:endParaRPr lang="en-US" sz="1200" dirty="0"/>
          </a:p>
        </p:txBody>
      </p:sp>
      <p:sp>
        <p:nvSpPr>
          <p:cNvPr id="17" name="Text 15"/>
          <p:cNvSpPr/>
          <p:nvPr/>
        </p:nvSpPr>
        <p:spPr>
          <a:xfrm>
            <a:off x="4773168" y="1947672"/>
            <a:ext cx="3986784"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Sensitive columns are excluded from views. An unauthorised user literally cannot see data not in their view.</a:t>
            </a:r>
            <a:endParaRPr lang="en-US" sz="1000" dirty="0"/>
          </a:p>
        </p:txBody>
      </p:sp>
      <p:sp>
        <p:nvSpPr>
          <p:cNvPr id="18" name="Shape 16"/>
          <p:cNvSpPr/>
          <p:nvPr/>
        </p:nvSpPr>
        <p:spPr>
          <a:xfrm>
            <a:off x="4754880" y="2450592"/>
            <a:ext cx="4023360" cy="640080"/>
          </a:xfrm>
          <a:prstGeom prst="rect">
            <a:avLst/>
          </a:prstGeom>
          <a:solidFill>
            <a:srgbClr val="EFF6FF"/>
          </a:solidFill>
          <a:ln w="12700">
            <a:solidFill>
              <a:srgbClr val="3B82F6"/>
            </a:solidFill>
            <a:prstDash val="solid"/>
          </a:ln>
        </p:spPr>
      </p:sp>
      <p:sp>
        <p:nvSpPr>
          <p:cNvPr id="19" name="Text 17"/>
          <p:cNvSpPr/>
          <p:nvPr/>
        </p:nvSpPr>
        <p:spPr>
          <a:xfrm>
            <a:off x="4809744" y="2468880"/>
            <a:ext cx="3904488" cy="603504"/>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All staff view: staffNo, name,</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  position (no salary).</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HR &amp; Payroll view: all fields</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  including salary.</a:t>
            </a:r>
            <a:endParaRPr lang="en-US" sz="880" dirty="0"/>
          </a:p>
        </p:txBody>
      </p:sp>
      <p:sp>
        <p:nvSpPr>
          <p:cNvPr id="20" name="Shape 18"/>
          <p:cNvSpPr/>
          <p:nvPr/>
        </p:nvSpPr>
        <p:spPr>
          <a:xfrm>
            <a:off x="228600" y="3291840"/>
            <a:ext cx="4206240" cy="153619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1" name="Shape 19"/>
          <p:cNvSpPr/>
          <p:nvPr/>
        </p:nvSpPr>
        <p:spPr>
          <a:xfrm>
            <a:off x="228600" y="3291840"/>
            <a:ext cx="4206240" cy="292608"/>
          </a:xfrm>
          <a:prstGeom prst="rect">
            <a:avLst/>
          </a:prstGeom>
          <a:solidFill>
            <a:srgbClr val="0D9488"/>
          </a:solidFill>
          <a:ln w="12700">
            <a:solidFill>
              <a:srgbClr val="0D9488"/>
            </a:solidFill>
            <a:prstDash val="solid"/>
          </a:ln>
        </p:spPr>
      </p:sp>
      <p:sp>
        <p:nvSpPr>
          <p:cNvPr id="22" name="Text 20"/>
          <p:cNvSpPr/>
          <p:nvPr/>
        </p:nvSpPr>
        <p:spPr>
          <a:xfrm>
            <a:off x="338328" y="3328416"/>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Name Customisation</a:t>
            </a:r>
            <a:endParaRPr lang="en-US" sz="1200" dirty="0"/>
          </a:p>
        </p:txBody>
      </p:sp>
      <p:sp>
        <p:nvSpPr>
          <p:cNvPr id="23" name="Text 21"/>
          <p:cNvSpPr/>
          <p:nvPr/>
        </p:nvSpPr>
        <p:spPr>
          <a:xfrm>
            <a:off x="338328" y="3639312"/>
            <a:ext cx="3986784"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 view can rename columns to match each department's terminology, even if the underlying table uses different field names.</a:t>
            </a:r>
            <a:endParaRPr lang="en-US" sz="1000" dirty="0"/>
          </a:p>
        </p:txBody>
      </p:sp>
      <p:sp>
        <p:nvSpPr>
          <p:cNvPr id="24" name="Shape 22"/>
          <p:cNvSpPr/>
          <p:nvPr/>
        </p:nvSpPr>
        <p:spPr>
          <a:xfrm>
            <a:off x="320040" y="4142232"/>
            <a:ext cx="4023360" cy="640080"/>
          </a:xfrm>
          <a:prstGeom prst="rect">
            <a:avLst/>
          </a:prstGeom>
          <a:solidFill>
            <a:srgbClr val="EFF6FF"/>
          </a:solidFill>
          <a:ln w="12700">
            <a:solidFill>
              <a:srgbClr val="3B82F6"/>
            </a:solidFill>
            <a:prstDash val="solid"/>
          </a:ln>
        </p:spPr>
      </p:sp>
      <p:sp>
        <p:nvSpPr>
          <p:cNvPr id="25" name="Text 23"/>
          <p:cNvSpPr/>
          <p:nvPr/>
        </p:nvSpPr>
        <p:spPr>
          <a:xfrm>
            <a:off x="374904" y="4160520"/>
            <a:ext cx="3904488" cy="603504"/>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Database field: 'rent'</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Contracts view calls it:</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  'Monthly Rent'</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Payroll view calls it:</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  'Monthly Gross Pay'</a:t>
            </a:r>
            <a:endParaRPr lang="en-US" sz="880" dirty="0"/>
          </a:p>
        </p:txBody>
      </p:sp>
      <p:sp>
        <p:nvSpPr>
          <p:cNvPr id="26" name="Shape 24"/>
          <p:cNvSpPr/>
          <p:nvPr/>
        </p:nvSpPr>
        <p:spPr>
          <a:xfrm>
            <a:off x="4663440" y="3291840"/>
            <a:ext cx="4206240" cy="1536192"/>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7" name="Shape 25"/>
          <p:cNvSpPr/>
          <p:nvPr/>
        </p:nvSpPr>
        <p:spPr>
          <a:xfrm>
            <a:off x="4663440" y="3291840"/>
            <a:ext cx="4206240" cy="292608"/>
          </a:xfrm>
          <a:prstGeom prst="rect">
            <a:avLst/>
          </a:prstGeom>
          <a:solidFill>
            <a:srgbClr val="7C3AED"/>
          </a:solidFill>
          <a:ln w="12700">
            <a:solidFill>
              <a:srgbClr val="7C3AED"/>
            </a:solidFill>
            <a:prstDash val="solid"/>
          </a:ln>
        </p:spPr>
      </p:sp>
      <p:sp>
        <p:nvSpPr>
          <p:cNvPr id="28" name="Text 26"/>
          <p:cNvSpPr/>
          <p:nvPr/>
        </p:nvSpPr>
        <p:spPr>
          <a:xfrm>
            <a:off x="4773168" y="3328416"/>
            <a:ext cx="398678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Independence</a:t>
            </a:r>
            <a:endParaRPr lang="en-US" sz="1200" dirty="0"/>
          </a:p>
        </p:txBody>
      </p:sp>
      <p:sp>
        <p:nvSpPr>
          <p:cNvPr id="29" name="Text 27"/>
          <p:cNvSpPr/>
          <p:nvPr/>
        </p:nvSpPr>
        <p:spPr>
          <a:xfrm>
            <a:off x="4773168" y="3639312"/>
            <a:ext cx="3986784" cy="47548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If a table is restructured (fields added, renamed, or removed), views can shield applications from the change — apps using the view see no difference.</a:t>
            </a:r>
            <a:endParaRPr lang="en-US" sz="1000" dirty="0"/>
          </a:p>
        </p:txBody>
      </p:sp>
      <p:sp>
        <p:nvSpPr>
          <p:cNvPr id="30" name="Shape 28"/>
          <p:cNvSpPr/>
          <p:nvPr/>
        </p:nvSpPr>
        <p:spPr>
          <a:xfrm>
            <a:off x="4754880" y="4142232"/>
            <a:ext cx="4023360" cy="640080"/>
          </a:xfrm>
          <a:prstGeom prst="rect">
            <a:avLst/>
          </a:prstGeom>
          <a:solidFill>
            <a:srgbClr val="EFF6FF"/>
          </a:solidFill>
          <a:ln w="12700">
            <a:solidFill>
              <a:srgbClr val="3B82F6"/>
            </a:solidFill>
            <a:prstDash val="solid"/>
          </a:ln>
        </p:spPr>
      </p:sp>
      <p:sp>
        <p:nvSpPr>
          <p:cNvPr id="31" name="Text 29"/>
          <p:cNvSpPr/>
          <p:nvPr/>
        </p:nvSpPr>
        <p:spPr>
          <a:xfrm>
            <a:off x="4809744" y="4160520"/>
            <a:ext cx="3904488" cy="603504"/>
          </a:xfrm>
          <a:prstGeom prst="rect">
            <a:avLst/>
          </a:prstGeom>
          <a:noFill/>
          <a:ln/>
        </p:spPr>
        <p:txBody>
          <a:bodyPr wrap="square" lIns="0" tIns="0" rIns="0" bIns="0" rtlCol="0" anchor="ctr"/>
          <a:lstStyle/>
          <a:p>
            <a:pPr indent="0" marL="0">
              <a:buNone/>
            </a:pPr>
            <a:r>
              <a:rPr lang="en-US" sz="880" i="1" dirty="0">
                <a:solidFill>
                  <a:srgbClr val="1E3A5F"/>
                </a:solidFill>
                <a:latin typeface="Calibri" pitchFamily="34" charset="0"/>
                <a:ea typeface="Calibri" pitchFamily="34" charset="-122"/>
                <a:cs typeface="Calibri" pitchFamily="34" charset="-120"/>
              </a:rPr>
              <a:t>DBA splits Staff into</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StaffPersonal + StaffSalary.</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A view re-joins them.</a:t>
            </a:r>
            <a:endParaRPr lang="en-US" sz="880" dirty="0"/>
          </a:p>
          <a:p>
            <a:pPr indent="0" marL="0">
              <a:buNone/>
            </a:pPr>
            <a:r>
              <a:rPr lang="en-US" sz="880" i="1" dirty="0">
                <a:solidFill>
                  <a:srgbClr val="1E3A5F"/>
                </a:solidFill>
                <a:latin typeface="Calibri" pitchFamily="34" charset="0"/>
                <a:ea typeface="Calibri" pitchFamily="34" charset="-122"/>
                <a:cs typeface="Calibri" pitchFamily="34" charset="-120"/>
              </a:rPr>
              <a:t>HR app sees no difference at all.</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948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FFFF"/>
          </a:solidFill>
          <a:ln w="12700">
            <a:solidFill>
              <a:srgbClr val="FFFFFF"/>
            </a:solidFill>
            <a:prstDash val="solid"/>
          </a:ln>
        </p:spPr>
      </p:sp>
      <p:sp>
        <p:nvSpPr>
          <p:cNvPr id="3" name="Shape 1"/>
          <p:cNvSpPr/>
          <p:nvPr/>
        </p:nvSpPr>
        <p:spPr>
          <a:xfrm>
            <a:off x="0" y="5079492"/>
            <a:ext cx="9144000" cy="64008"/>
          </a:xfrm>
          <a:prstGeom prst="rect">
            <a:avLst/>
          </a:prstGeom>
          <a:solidFill>
            <a:srgbClr val="FFFFFF"/>
          </a:solidFill>
          <a:ln w="12700">
            <a:solidFill>
              <a:srgbClr val="FFFFFF"/>
            </a:solidFill>
            <a:prstDash val="solid"/>
          </a:ln>
        </p:spPr>
      </p:sp>
      <p:sp>
        <p:nvSpPr>
          <p:cNvPr id="4" name="Shape 2"/>
          <p:cNvSpPr/>
          <p:nvPr/>
        </p:nvSpPr>
        <p:spPr>
          <a:xfrm>
            <a:off x="548640" y="1371600"/>
            <a:ext cx="1828800" cy="1828800"/>
          </a:xfrm>
          <a:prstGeom prst="ellipse">
            <a:avLst/>
          </a:prstGeom>
          <a:solidFill>
            <a:srgbClr val="FFFFFF"/>
          </a:solidFill>
          <a:ln w="12700">
            <a:solidFill>
              <a:srgbClr val="FFFFFF"/>
            </a:solidFill>
            <a:prstDash val="solid"/>
          </a:ln>
        </p:spPr>
      </p:sp>
      <p:sp>
        <p:nvSpPr>
          <p:cNvPr id="5" name="Text 3"/>
          <p:cNvSpPr/>
          <p:nvPr/>
        </p:nvSpPr>
        <p:spPr>
          <a:xfrm>
            <a:off x="548640" y="1371600"/>
            <a:ext cx="1828800" cy="1828800"/>
          </a:xfrm>
          <a:prstGeom prst="rect">
            <a:avLst/>
          </a:prstGeom>
          <a:noFill/>
          <a:ln/>
        </p:spPr>
        <p:txBody>
          <a:bodyPr wrap="square" lIns="0" tIns="0" rIns="0" bIns="0" rtlCol="0" anchor="ctr"/>
          <a:lstStyle/>
          <a:p>
            <a:pPr algn="ctr" indent="0" marL="0">
              <a:buNone/>
            </a:pPr>
            <a:r>
              <a:rPr lang="en-US" sz="2800" b="1" dirty="0">
                <a:solidFill>
                  <a:srgbClr val="0D9488"/>
                </a:solidFill>
                <a:latin typeface="Georgia" pitchFamily="34" charset="0"/>
                <a:ea typeface="Georgia" pitchFamily="34" charset="-122"/>
                <a:cs typeface="Georgia" pitchFamily="34" charset="-120"/>
              </a:rPr>
              <a:t>LO 3</a:t>
            </a:r>
            <a:endParaRPr lang="en-US" sz="2800" dirty="0"/>
          </a:p>
        </p:txBody>
      </p:sp>
      <p:sp>
        <p:nvSpPr>
          <p:cNvPr id="6" name="Text 4"/>
          <p:cNvSpPr/>
          <p:nvPr/>
        </p:nvSpPr>
        <p:spPr>
          <a:xfrm>
            <a:off x="2743200" y="1371600"/>
            <a:ext cx="6126480" cy="128016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Database Users</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and Their Roles</a:t>
            </a:r>
            <a:endParaRPr lang="en-US" sz="3400" dirty="0"/>
          </a:p>
        </p:txBody>
      </p:sp>
      <p:sp>
        <p:nvSpPr>
          <p:cNvPr id="7" name="Text 5"/>
          <p:cNvSpPr/>
          <p:nvPr/>
        </p:nvSpPr>
        <p:spPr>
          <a:xfrm>
            <a:off x="2743200" y="2743200"/>
            <a:ext cx="6126480" cy="731520"/>
          </a:xfrm>
          <a:prstGeom prst="rect">
            <a:avLst/>
          </a:prstGeom>
          <a:noFill/>
          <a:ln/>
        </p:spPr>
        <p:txBody>
          <a:bodyPr wrap="square" lIns="0" tIns="0" rIns="0" bIns="0" rtlCol="0" anchor="ctr"/>
          <a:lstStyle/>
          <a:p>
            <a:pPr indent="0" marL="0">
              <a:buNone/>
            </a:pPr>
            <a:r>
              <a:rPr lang="en-US" sz="1500" dirty="0">
                <a:solidFill>
                  <a:srgbClr val="D1FAE5"/>
                </a:solidFill>
                <a:latin typeface="Calibri" pitchFamily="34" charset="0"/>
                <a:ea typeface="Calibri" pitchFamily="34" charset="-122"/>
                <a:cs typeface="Calibri" pitchFamily="34" charset="-120"/>
              </a:rPr>
              <a:t>Identify all roles in the database environment and what each person does.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0" y="73152"/>
            <a:ext cx="9144000" cy="384048"/>
          </a:xfrm>
          <a:prstGeom prst="rect">
            <a:avLst/>
          </a:prstGeom>
          <a:solidFill>
            <a:srgbClr val="0D9488"/>
          </a:solidFill>
          <a:ln w="12700">
            <a:solidFill>
              <a:srgbClr val="0D9488"/>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CCFBF1"/>
                </a:solidFill>
                <a:latin typeface="Calibri" pitchFamily="34" charset="0"/>
                <a:ea typeface="Calibri" pitchFamily="34" charset="-122"/>
                <a:cs typeface="Calibri" pitchFamily="34" charset="-120"/>
              </a:rPr>
              <a:t>LO 3  —  Database Users and Their Roles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Who Does What in the Database Environment?</a:t>
            </a:r>
            <a:endParaRPr lang="en-US" sz="2400" dirty="0"/>
          </a:p>
        </p:txBody>
      </p:sp>
      <p:sp>
        <p:nvSpPr>
          <p:cNvPr id="6" name="Shape 4"/>
          <p:cNvSpPr/>
          <p:nvPr/>
        </p:nvSpPr>
        <p:spPr>
          <a:xfrm>
            <a:off x="228600" y="1051560"/>
            <a:ext cx="4206240" cy="120700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7" name="Shape 5"/>
          <p:cNvSpPr/>
          <p:nvPr/>
        </p:nvSpPr>
        <p:spPr>
          <a:xfrm>
            <a:off x="228600" y="1051560"/>
            <a:ext cx="4206240" cy="301752"/>
          </a:xfrm>
          <a:prstGeom prst="rect">
            <a:avLst/>
          </a:prstGeom>
          <a:solidFill>
            <a:srgbClr val="1B2A4A"/>
          </a:solidFill>
          <a:ln w="12700">
            <a:solidFill>
              <a:srgbClr val="1B2A4A"/>
            </a:solidFill>
            <a:prstDash val="solid"/>
          </a:ln>
        </p:spPr>
      </p:sp>
      <p:sp>
        <p:nvSpPr>
          <p:cNvPr id="8" name="Text 6"/>
          <p:cNvSpPr/>
          <p:nvPr/>
        </p:nvSpPr>
        <p:spPr>
          <a:xfrm>
            <a:off x="320040" y="1088136"/>
            <a:ext cx="29260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Administrator (DA)</a:t>
            </a:r>
            <a:endParaRPr lang="en-US" sz="1100" dirty="0"/>
          </a:p>
        </p:txBody>
      </p:sp>
      <p:sp>
        <p:nvSpPr>
          <p:cNvPr id="9" name="Shape 7"/>
          <p:cNvSpPr/>
          <p:nvPr/>
        </p:nvSpPr>
        <p:spPr>
          <a:xfrm>
            <a:off x="3246120" y="1088136"/>
            <a:ext cx="1115568" cy="237744"/>
          </a:xfrm>
          <a:prstGeom prst="rect">
            <a:avLst/>
          </a:prstGeom>
          <a:solidFill>
            <a:srgbClr val="FFFFFF"/>
          </a:solidFill>
          <a:ln w="12700">
            <a:solidFill>
              <a:srgbClr val="FFFFFF"/>
            </a:solidFill>
            <a:prstDash val="solid"/>
          </a:ln>
        </p:spPr>
      </p:sp>
      <p:sp>
        <p:nvSpPr>
          <p:cNvPr id="10" name="Text 8"/>
          <p:cNvSpPr/>
          <p:nvPr/>
        </p:nvSpPr>
        <p:spPr>
          <a:xfrm>
            <a:off x="3246120" y="1088136"/>
            <a:ext cx="1115568" cy="237744"/>
          </a:xfrm>
          <a:prstGeom prst="rect">
            <a:avLst/>
          </a:prstGeom>
          <a:noFill/>
          <a:ln/>
        </p:spPr>
        <p:txBody>
          <a:bodyPr wrap="square" lIns="0" tIns="0" rIns="0" bIns="0" rtlCol="0" anchor="ctr"/>
          <a:lstStyle/>
          <a:p>
            <a:pPr algn="r" indent="0" marL="0">
              <a:buNone/>
            </a:pPr>
            <a:r>
              <a:rPr lang="en-US" sz="800" b="1" i="1" dirty="0">
                <a:solidFill>
                  <a:srgbClr val="1B2A4A"/>
                </a:solidFill>
                <a:latin typeface="Calibri" pitchFamily="34" charset="0"/>
                <a:ea typeface="Calibri" pitchFamily="34" charset="-122"/>
                <a:cs typeface="Calibri" pitchFamily="34" charset="-120"/>
              </a:rPr>
              <a:t>Strategic / Managerial</a:t>
            </a:r>
            <a:endParaRPr lang="en-US" sz="800" dirty="0"/>
          </a:p>
        </p:txBody>
      </p:sp>
      <p:sp>
        <p:nvSpPr>
          <p:cNvPr id="11" name="Text 9"/>
          <p:cNvSpPr/>
          <p:nvPr/>
        </p:nvSpPr>
        <p:spPr>
          <a:xfrm>
            <a:off x="365760" y="1399032"/>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Responsible for the management of the overall data resource</a:t>
            </a:r>
            <a:endParaRPr lang="en-US" sz="900" dirty="0"/>
          </a:p>
        </p:txBody>
      </p:sp>
      <p:sp>
        <p:nvSpPr>
          <p:cNvPr id="12" name="Text 10"/>
          <p:cNvSpPr/>
          <p:nvPr/>
        </p:nvSpPr>
        <p:spPr>
          <a:xfrm>
            <a:off x="365760" y="1618488"/>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Database planning, standards, policies, and procedures</a:t>
            </a:r>
            <a:endParaRPr lang="en-US" sz="900" dirty="0"/>
          </a:p>
        </p:txBody>
      </p:sp>
      <p:sp>
        <p:nvSpPr>
          <p:cNvPr id="13" name="Text 11"/>
          <p:cNvSpPr/>
          <p:nvPr/>
        </p:nvSpPr>
        <p:spPr>
          <a:xfrm>
            <a:off x="365760" y="1837944"/>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Conceptual/logical database design oversight</a:t>
            </a:r>
            <a:endParaRPr lang="en-US" sz="900" dirty="0"/>
          </a:p>
        </p:txBody>
      </p:sp>
      <p:sp>
        <p:nvSpPr>
          <p:cNvPr id="14" name="Shape 12"/>
          <p:cNvSpPr/>
          <p:nvPr/>
        </p:nvSpPr>
        <p:spPr>
          <a:xfrm>
            <a:off x="2468880" y="1380744"/>
            <a:ext cx="1892808" cy="822960"/>
          </a:xfrm>
          <a:prstGeom prst="rect">
            <a:avLst/>
          </a:prstGeom>
          <a:solidFill>
            <a:srgbClr val="EFF6FF"/>
          </a:solidFill>
          <a:ln w="12700">
            <a:solidFill>
              <a:srgbClr val="3B82F6"/>
            </a:solidFill>
            <a:prstDash val="solid"/>
          </a:ln>
        </p:spPr>
      </p:sp>
      <p:sp>
        <p:nvSpPr>
          <p:cNvPr id="15" name="Text 13"/>
          <p:cNvSpPr/>
          <p:nvPr/>
        </p:nvSpPr>
        <p:spPr>
          <a:xfrm>
            <a:off x="2514600" y="1399032"/>
            <a:ext cx="1810512" cy="786384"/>
          </a:xfrm>
          <a:prstGeom prst="rect">
            <a:avLst/>
          </a:prstGeom>
          <a:noFill/>
          <a:ln/>
        </p:spPr>
        <p:txBody>
          <a:bodyPr wrap="square" lIns="0" tIns="0" rIns="0" bIns="0" rtlCol="0" anchor="ctr"/>
          <a:lstStyle/>
          <a:p>
            <a:pPr indent="0" marL="0">
              <a:buNone/>
            </a:pPr>
            <a:r>
              <a:rPr lang="en-US" sz="780" i="1" dirty="0">
                <a:solidFill>
                  <a:srgbClr val="1E3A5F"/>
                </a:solidFill>
                <a:latin typeface="Calibri" pitchFamily="34" charset="0"/>
                <a:ea typeface="Calibri" pitchFamily="34" charset="-122"/>
                <a:cs typeface="Calibri" pitchFamily="34" charset="-120"/>
              </a:rPr>
              <a:t>💡 At DreamHome: The DA decides the company will store all customer data in Oracle, sets a policy that salary data must always be encrypted, and consults the CEO on a 5-year data strategy.</a:t>
            </a:r>
            <a:endParaRPr lang="en-US" sz="780" dirty="0"/>
          </a:p>
        </p:txBody>
      </p:sp>
      <p:sp>
        <p:nvSpPr>
          <p:cNvPr id="16" name="Shape 14"/>
          <p:cNvSpPr/>
          <p:nvPr/>
        </p:nvSpPr>
        <p:spPr>
          <a:xfrm>
            <a:off x="4663440" y="1051560"/>
            <a:ext cx="4206240" cy="120700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7" name="Shape 15"/>
          <p:cNvSpPr/>
          <p:nvPr/>
        </p:nvSpPr>
        <p:spPr>
          <a:xfrm>
            <a:off x="4663440" y="1051560"/>
            <a:ext cx="4206240" cy="301752"/>
          </a:xfrm>
          <a:prstGeom prst="rect">
            <a:avLst/>
          </a:prstGeom>
          <a:solidFill>
            <a:srgbClr val="0D6B8A"/>
          </a:solidFill>
          <a:ln w="12700">
            <a:solidFill>
              <a:srgbClr val="0D6B8A"/>
            </a:solidFill>
            <a:prstDash val="solid"/>
          </a:ln>
        </p:spPr>
      </p:sp>
      <p:sp>
        <p:nvSpPr>
          <p:cNvPr id="18" name="Text 16"/>
          <p:cNvSpPr/>
          <p:nvPr/>
        </p:nvSpPr>
        <p:spPr>
          <a:xfrm>
            <a:off x="4754880" y="1088136"/>
            <a:ext cx="29260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Database Administrator (DBA)</a:t>
            </a:r>
            <a:endParaRPr lang="en-US" sz="1100" dirty="0"/>
          </a:p>
        </p:txBody>
      </p:sp>
      <p:sp>
        <p:nvSpPr>
          <p:cNvPr id="19" name="Shape 17"/>
          <p:cNvSpPr/>
          <p:nvPr/>
        </p:nvSpPr>
        <p:spPr>
          <a:xfrm>
            <a:off x="7680960" y="1088136"/>
            <a:ext cx="1115568" cy="237744"/>
          </a:xfrm>
          <a:prstGeom prst="rect">
            <a:avLst/>
          </a:prstGeom>
          <a:solidFill>
            <a:srgbClr val="FFFFFF"/>
          </a:solidFill>
          <a:ln w="12700">
            <a:solidFill>
              <a:srgbClr val="FFFFFF"/>
            </a:solidFill>
            <a:prstDash val="solid"/>
          </a:ln>
        </p:spPr>
      </p:sp>
      <p:sp>
        <p:nvSpPr>
          <p:cNvPr id="20" name="Text 18"/>
          <p:cNvSpPr/>
          <p:nvPr/>
        </p:nvSpPr>
        <p:spPr>
          <a:xfrm>
            <a:off x="7680960" y="1088136"/>
            <a:ext cx="1115568" cy="237744"/>
          </a:xfrm>
          <a:prstGeom prst="rect">
            <a:avLst/>
          </a:prstGeom>
          <a:noFill/>
          <a:ln/>
        </p:spPr>
        <p:txBody>
          <a:bodyPr wrap="square" lIns="0" tIns="0" rIns="0" bIns="0" rtlCol="0" anchor="ctr"/>
          <a:lstStyle/>
          <a:p>
            <a:pPr algn="r" indent="0" marL="0">
              <a:buNone/>
            </a:pPr>
            <a:r>
              <a:rPr lang="en-US" sz="800" b="1" i="1" dirty="0">
                <a:solidFill>
                  <a:srgbClr val="0D6B8A"/>
                </a:solidFill>
                <a:latin typeface="Calibri" pitchFamily="34" charset="0"/>
                <a:ea typeface="Calibri" pitchFamily="34" charset="-122"/>
                <a:cs typeface="Calibri" pitchFamily="34" charset="-120"/>
              </a:rPr>
              <a:t>Technical / Operational</a:t>
            </a:r>
            <a:endParaRPr lang="en-US" sz="800" dirty="0"/>
          </a:p>
        </p:txBody>
      </p:sp>
      <p:sp>
        <p:nvSpPr>
          <p:cNvPr id="21" name="Text 19"/>
          <p:cNvSpPr/>
          <p:nvPr/>
        </p:nvSpPr>
        <p:spPr>
          <a:xfrm>
            <a:off x="4800600" y="1399032"/>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Physical DB design and implementation in the target DBMS</a:t>
            </a:r>
            <a:endParaRPr lang="en-US" sz="900" dirty="0"/>
          </a:p>
        </p:txBody>
      </p:sp>
      <p:sp>
        <p:nvSpPr>
          <p:cNvPr id="22" name="Text 20"/>
          <p:cNvSpPr/>
          <p:nvPr/>
        </p:nvSpPr>
        <p:spPr>
          <a:xfrm>
            <a:off x="4800600" y="1618488"/>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Security and integrity control — who can access what</a:t>
            </a:r>
            <a:endParaRPr lang="en-US" sz="900" dirty="0"/>
          </a:p>
        </p:txBody>
      </p:sp>
      <p:sp>
        <p:nvSpPr>
          <p:cNvPr id="23" name="Text 21"/>
          <p:cNvSpPr/>
          <p:nvPr/>
        </p:nvSpPr>
        <p:spPr>
          <a:xfrm>
            <a:off x="4800600" y="1837944"/>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Performance tuning, concurrency control, backup &amp; recovery</a:t>
            </a:r>
            <a:endParaRPr lang="en-US" sz="900" dirty="0"/>
          </a:p>
        </p:txBody>
      </p:sp>
      <p:sp>
        <p:nvSpPr>
          <p:cNvPr id="24" name="Shape 22"/>
          <p:cNvSpPr/>
          <p:nvPr/>
        </p:nvSpPr>
        <p:spPr>
          <a:xfrm>
            <a:off x="6903720" y="1380744"/>
            <a:ext cx="1892808" cy="822960"/>
          </a:xfrm>
          <a:prstGeom prst="rect">
            <a:avLst/>
          </a:prstGeom>
          <a:solidFill>
            <a:srgbClr val="EFF6FF"/>
          </a:solidFill>
          <a:ln w="12700">
            <a:solidFill>
              <a:srgbClr val="3B82F6"/>
            </a:solidFill>
            <a:prstDash val="solid"/>
          </a:ln>
        </p:spPr>
      </p:sp>
      <p:sp>
        <p:nvSpPr>
          <p:cNvPr id="25" name="Text 23"/>
          <p:cNvSpPr/>
          <p:nvPr/>
        </p:nvSpPr>
        <p:spPr>
          <a:xfrm>
            <a:off x="6949440" y="1399032"/>
            <a:ext cx="1810512" cy="786384"/>
          </a:xfrm>
          <a:prstGeom prst="rect">
            <a:avLst/>
          </a:prstGeom>
          <a:noFill/>
          <a:ln/>
        </p:spPr>
        <p:txBody>
          <a:bodyPr wrap="square" lIns="0" tIns="0" rIns="0" bIns="0" rtlCol="0" anchor="ctr"/>
          <a:lstStyle/>
          <a:p>
            <a:pPr indent="0" marL="0">
              <a:buNone/>
            </a:pPr>
            <a:r>
              <a:rPr lang="en-US" sz="780" i="1" dirty="0">
                <a:solidFill>
                  <a:srgbClr val="1E3A5F"/>
                </a:solidFill>
                <a:latin typeface="Calibri" pitchFamily="34" charset="0"/>
                <a:ea typeface="Calibri" pitchFamily="34" charset="-122"/>
                <a:cs typeface="Calibri" pitchFamily="34" charset="-120"/>
              </a:rPr>
              <a:t>💡 At DreamHome: The DBA creates all tables in Oracle, sets up user passwords so receptionists can only read property data, schedules nightly backups, and monitors query performance.</a:t>
            </a:r>
            <a:endParaRPr lang="en-US" sz="780" dirty="0"/>
          </a:p>
        </p:txBody>
      </p:sp>
      <p:sp>
        <p:nvSpPr>
          <p:cNvPr id="26" name="Shape 24"/>
          <p:cNvSpPr/>
          <p:nvPr/>
        </p:nvSpPr>
        <p:spPr>
          <a:xfrm>
            <a:off x="228600" y="2404872"/>
            <a:ext cx="4206240" cy="120700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7" name="Shape 25"/>
          <p:cNvSpPr/>
          <p:nvPr/>
        </p:nvSpPr>
        <p:spPr>
          <a:xfrm>
            <a:off x="228600" y="2404872"/>
            <a:ext cx="4206240" cy="301752"/>
          </a:xfrm>
          <a:prstGeom prst="rect">
            <a:avLst/>
          </a:prstGeom>
          <a:solidFill>
            <a:srgbClr val="0D9488"/>
          </a:solidFill>
          <a:ln w="12700">
            <a:solidFill>
              <a:srgbClr val="0D9488"/>
            </a:solidFill>
            <a:prstDash val="solid"/>
          </a:ln>
        </p:spPr>
      </p:sp>
      <p:sp>
        <p:nvSpPr>
          <p:cNvPr id="28" name="Text 26"/>
          <p:cNvSpPr/>
          <p:nvPr/>
        </p:nvSpPr>
        <p:spPr>
          <a:xfrm>
            <a:off x="320040" y="2441448"/>
            <a:ext cx="29260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Logical Database Designer</a:t>
            </a:r>
            <a:endParaRPr lang="en-US" sz="1100" dirty="0"/>
          </a:p>
        </p:txBody>
      </p:sp>
      <p:sp>
        <p:nvSpPr>
          <p:cNvPr id="29" name="Shape 27"/>
          <p:cNvSpPr/>
          <p:nvPr/>
        </p:nvSpPr>
        <p:spPr>
          <a:xfrm>
            <a:off x="3246120" y="2441448"/>
            <a:ext cx="1115568" cy="237744"/>
          </a:xfrm>
          <a:prstGeom prst="rect">
            <a:avLst/>
          </a:prstGeom>
          <a:solidFill>
            <a:srgbClr val="FFFFFF"/>
          </a:solidFill>
          <a:ln w="12700">
            <a:solidFill>
              <a:srgbClr val="FFFFFF"/>
            </a:solidFill>
            <a:prstDash val="solid"/>
          </a:ln>
        </p:spPr>
      </p:sp>
      <p:sp>
        <p:nvSpPr>
          <p:cNvPr id="30" name="Text 28"/>
          <p:cNvSpPr/>
          <p:nvPr/>
        </p:nvSpPr>
        <p:spPr>
          <a:xfrm>
            <a:off x="3246120" y="2441448"/>
            <a:ext cx="1115568" cy="237744"/>
          </a:xfrm>
          <a:prstGeom prst="rect">
            <a:avLst/>
          </a:prstGeom>
          <a:noFill/>
          <a:ln/>
        </p:spPr>
        <p:txBody>
          <a:bodyPr wrap="square" lIns="0" tIns="0" rIns="0" bIns="0" rtlCol="0" anchor="ctr"/>
          <a:lstStyle/>
          <a:p>
            <a:pPr algn="r" indent="0" marL="0">
              <a:buNone/>
            </a:pPr>
            <a:r>
              <a:rPr lang="en-US" sz="800" b="1" i="1" dirty="0">
                <a:solidFill>
                  <a:srgbClr val="0D9488"/>
                </a:solidFill>
                <a:latin typeface="Calibri" pitchFamily="34" charset="0"/>
                <a:ea typeface="Calibri" pitchFamily="34" charset="-122"/>
                <a:cs typeface="Calibri" pitchFamily="34" charset="-120"/>
              </a:rPr>
              <a:t>Analysis &amp; Modelling</a:t>
            </a:r>
            <a:endParaRPr lang="en-US" sz="800" dirty="0"/>
          </a:p>
        </p:txBody>
      </p:sp>
      <p:sp>
        <p:nvSpPr>
          <p:cNvPr id="31" name="Text 29"/>
          <p:cNvSpPr/>
          <p:nvPr/>
        </p:nvSpPr>
        <p:spPr>
          <a:xfrm>
            <a:off x="365760" y="2752344"/>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Identifies entities, attributes, and relationships in the organisation</a:t>
            </a:r>
            <a:endParaRPr lang="en-US" sz="900" dirty="0"/>
          </a:p>
        </p:txBody>
      </p:sp>
      <p:sp>
        <p:nvSpPr>
          <p:cNvPr id="32" name="Text 30"/>
          <p:cNvSpPr/>
          <p:nvPr/>
        </p:nvSpPr>
        <p:spPr>
          <a:xfrm>
            <a:off x="365760" y="2971800"/>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Defines all business rules and constraints on the data</a:t>
            </a:r>
            <a:endParaRPr lang="en-US" sz="900" dirty="0"/>
          </a:p>
        </p:txBody>
      </p:sp>
      <p:sp>
        <p:nvSpPr>
          <p:cNvPr id="33" name="Text 31"/>
          <p:cNvSpPr/>
          <p:nvPr/>
        </p:nvSpPr>
        <p:spPr>
          <a:xfrm>
            <a:off x="365760" y="3191256"/>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Produces a conceptual model (ER diagram) — independent of any DBMS</a:t>
            </a:r>
            <a:endParaRPr lang="en-US" sz="900" dirty="0"/>
          </a:p>
        </p:txBody>
      </p:sp>
      <p:sp>
        <p:nvSpPr>
          <p:cNvPr id="34" name="Shape 32"/>
          <p:cNvSpPr/>
          <p:nvPr/>
        </p:nvSpPr>
        <p:spPr>
          <a:xfrm>
            <a:off x="2468880" y="2734056"/>
            <a:ext cx="1892808" cy="822960"/>
          </a:xfrm>
          <a:prstGeom prst="rect">
            <a:avLst/>
          </a:prstGeom>
          <a:solidFill>
            <a:srgbClr val="EFF6FF"/>
          </a:solidFill>
          <a:ln w="12700">
            <a:solidFill>
              <a:srgbClr val="3B82F6"/>
            </a:solidFill>
            <a:prstDash val="solid"/>
          </a:ln>
        </p:spPr>
      </p:sp>
      <p:sp>
        <p:nvSpPr>
          <p:cNvPr id="35" name="Text 33"/>
          <p:cNvSpPr/>
          <p:nvPr/>
        </p:nvSpPr>
        <p:spPr>
          <a:xfrm>
            <a:off x="2514600" y="2752344"/>
            <a:ext cx="1810512" cy="786384"/>
          </a:xfrm>
          <a:prstGeom prst="rect">
            <a:avLst/>
          </a:prstGeom>
          <a:noFill/>
          <a:ln/>
        </p:spPr>
        <p:txBody>
          <a:bodyPr wrap="square" lIns="0" tIns="0" rIns="0" bIns="0" rtlCol="0" anchor="ctr"/>
          <a:lstStyle/>
          <a:p>
            <a:pPr indent="0" marL="0">
              <a:buNone/>
            </a:pPr>
            <a:r>
              <a:rPr lang="en-US" sz="780" i="1" dirty="0">
                <a:solidFill>
                  <a:srgbClr val="1E3A5F"/>
                </a:solidFill>
                <a:latin typeface="Calibri" pitchFamily="34" charset="0"/>
                <a:ea typeface="Calibri" pitchFamily="34" charset="-122"/>
                <a:cs typeface="Calibri" pitchFamily="34" charset="-120"/>
              </a:rPr>
              <a:t>💡 At DreamHome: The logical designer interviews branch managers, draws the ER diagram with 6 entities (Branch, Staff, Property, Client, Owner, Lease), and defines rules like 'staff cannot manage &gt;100 properties'.</a:t>
            </a:r>
            <a:endParaRPr lang="en-US" sz="780" dirty="0"/>
          </a:p>
        </p:txBody>
      </p:sp>
      <p:sp>
        <p:nvSpPr>
          <p:cNvPr id="36" name="Shape 34"/>
          <p:cNvSpPr/>
          <p:nvPr/>
        </p:nvSpPr>
        <p:spPr>
          <a:xfrm>
            <a:off x="4663440" y="2404872"/>
            <a:ext cx="4206240" cy="120700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37" name="Shape 35"/>
          <p:cNvSpPr/>
          <p:nvPr/>
        </p:nvSpPr>
        <p:spPr>
          <a:xfrm>
            <a:off x="4663440" y="2404872"/>
            <a:ext cx="4206240" cy="301752"/>
          </a:xfrm>
          <a:prstGeom prst="rect">
            <a:avLst/>
          </a:prstGeom>
          <a:solidFill>
            <a:srgbClr val="7C3AED"/>
          </a:solidFill>
          <a:ln w="12700">
            <a:solidFill>
              <a:srgbClr val="7C3AED"/>
            </a:solidFill>
            <a:prstDash val="solid"/>
          </a:ln>
        </p:spPr>
      </p:sp>
      <p:sp>
        <p:nvSpPr>
          <p:cNvPr id="38" name="Text 36"/>
          <p:cNvSpPr/>
          <p:nvPr/>
        </p:nvSpPr>
        <p:spPr>
          <a:xfrm>
            <a:off x="4754880" y="2441448"/>
            <a:ext cx="29260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Physical Database Designer</a:t>
            </a:r>
            <a:endParaRPr lang="en-US" sz="1100" dirty="0"/>
          </a:p>
        </p:txBody>
      </p:sp>
      <p:sp>
        <p:nvSpPr>
          <p:cNvPr id="39" name="Shape 37"/>
          <p:cNvSpPr/>
          <p:nvPr/>
        </p:nvSpPr>
        <p:spPr>
          <a:xfrm>
            <a:off x="7680960" y="2441448"/>
            <a:ext cx="1115568" cy="237744"/>
          </a:xfrm>
          <a:prstGeom prst="rect">
            <a:avLst/>
          </a:prstGeom>
          <a:solidFill>
            <a:srgbClr val="FFFFFF"/>
          </a:solidFill>
          <a:ln w="12700">
            <a:solidFill>
              <a:srgbClr val="FFFFFF"/>
            </a:solidFill>
            <a:prstDash val="solid"/>
          </a:ln>
        </p:spPr>
      </p:sp>
      <p:sp>
        <p:nvSpPr>
          <p:cNvPr id="40" name="Text 38"/>
          <p:cNvSpPr/>
          <p:nvPr/>
        </p:nvSpPr>
        <p:spPr>
          <a:xfrm>
            <a:off x="7680960" y="2441448"/>
            <a:ext cx="1115568" cy="237744"/>
          </a:xfrm>
          <a:prstGeom prst="rect">
            <a:avLst/>
          </a:prstGeom>
          <a:noFill/>
          <a:ln/>
        </p:spPr>
        <p:txBody>
          <a:bodyPr wrap="square" lIns="0" tIns="0" rIns="0" bIns="0" rtlCol="0" anchor="ctr"/>
          <a:lstStyle/>
          <a:p>
            <a:pPr algn="r" indent="0" marL="0">
              <a:buNone/>
            </a:pPr>
            <a:r>
              <a:rPr lang="en-US" sz="800" b="1" i="1" dirty="0">
                <a:solidFill>
                  <a:srgbClr val="7C3AED"/>
                </a:solidFill>
                <a:latin typeface="Calibri" pitchFamily="34" charset="0"/>
                <a:ea typeface="Calibri" pitchFamily="34" charset="-122"/>
                <a:cs typeface="Calibri" pitchFamily="34" charset="-120"/>
              </a:rPr>
              <a:t>Implementation</a:t>
            </a:r>
            <a:endParaRPr lang="en-US" sz="800" dirty="0"/>
          </a:p>
        </p:txBody>
      </p:sp>
      <p:sp>
        <p:nvSpPr>
          <p:cNvPr id="41" name="Text 39"/>
          <p:cNvSpPr/>
          <p:nvPr/>
        </p:nvSpPr>
        <p:spPr>
          <a:xfrm>
            <a:off x="4800600" y="2752344"/>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Maps the logical design into actual tables and integrity constraints</a:t>
            </a:r>
            <a:endParaRPr lang="en-US" sz="900" dirty="0"/>
          </a:p>
        </p:txBody>
      </p:sp>
      <p:sp>
        <p:nvSpPr>
          <p:cNvPr id="42" name="Text 40"/>
          <p:cNvSpPr/>
          <p:nvPr/>
        </p:nvSpPr>
        <p:spPr>
          <a:xfrm>
            <a:off x="4800600" y="2971800"/>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Selects storage structures and access methods (e.g. indexes) for performance</a:t>
            </a:r>
            <a:endParaRPr lang="en-US" sz="900" dirty="0"/>
          </a:p>
        </p:txBody>
      </p:sp>
      <p:sp>
        <p:nvSpPr>
          <p:cNvPr id="43" name="Text 41"/>
          <p:cNvSpPr/>
          <p:nvPr/>
        </p:nvSpPr>
        <p:spPr>
          <a:xfrm>
            <a:off x="4800600" y="3191256"/>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Designs security measures at the physical level</a:t>
            </a:r>
            <a:endParaRPr lang="en-US" sz="900" dirty="0"/>
          </a:p>
        </p:txBody>
      </p:sp>
      <p:sp>
        <p:nvSpPr>
          <p:cNvPr id="44" name="Shape 42"/>
          <p:cNvSpPr/>
          <p:nvPr/>
        </p:nvSpPr>
        <p:spPr>
          <a:xfrm>
            <a:off x="6903720" y="2734056"/>
            <a:ext cx="1892808" cy="822960"/>
          </a:xfrm>
          <a:prstGeom prst="rect">
            <a:avLst/>
          </a:prstGeom>
          <a:solidFill>
            <a:srgbClr val="EFF6FF"/>
          </a:solidFill>
          <a:ln w="12700">
            <a:solidFill>
              <a:srgbClr val="3B82F6"/>
            </a:solidFill>
            <a:prstDash val="solid"/>
          </a:ln>
        </p:spPr>
      </p:sp>
      <p:sp>
        <p:nvSpPr>
          <p:cNvPr id="45" name="Text 43"/>
          <p:cNvSpPr/>
          <p:nvPr/>
        </p:nvSpPr>
        <p:spPr>
          <a:xfrm>
            <a:off x="6949440" y="2752344"/>
            <a:ext cx="1810512" cy="786384"/>
          </a:xfrm>
          <a:prstGeom prst="rect">
            <a:avLst/>
          </a:prstGeom>
          <a:noFill/>
          <a:ln/>
        </p:spPr>
        <p:txBody>
          <a:bodyPr wrap="square" lIns="0" tIns="0" rIns="0" bIns="0" rtlCol="0" anchor="ctr"/>
          <a:lstStyle/>
          <a:p>
            <a:pPr indent="0" marL="0">
              <a:buNone/>
            </a:pPr>
            <a:r>
              <a:rPr lang="en-US" sz="780" i="1" dirty="0">
                <a:solidFill>
                  <a:srgbClr val="1E3A5F"/>
                </a:solidFill>
                <a:latin typeface="Calibri" pitchFamily="34" charset="0"/>
                <a:ea typeface="Calibri" pitchFamily="34" charset="-122"/>
                <a:cs typeface="Calibri" pitchFamily="34" charset="-120"/>
              </a:rPr>
              <a:t>💡 At DreamHome: The physical designer creates indexes on propertyNo and clientNo in Oracle to speed up searches, and decides to partition the Lease table by year for faster historical queries.</a:t>
            </a:r>
            <a:endParaRPr lang="en-US" sz="780" dirty="0"/>
          </a:p>
        </p:txBody>
      </p:sp>
      <p:sp>
        <p:nvSpPr>
          <p:cNvPr id="46" name="Shape 44"/>
          <p:cNvSpPr/>
          <p:nvPr/>
        </p:nvSpPr>
        <p:spPr>
          <a:xfrm>
            <a:off x="228600" y="3758184"/>
            <a:ext cx="4206240" cy="120700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47" name="Shape 45"/>
          <p:cNvSpPr/>
          <p:nvPr/>
        </p:nvSpPr>
        <p:spPr>
          <a:xfrm>
            <a:off x="228600" y="3758184"/>
            <a:ext cx="4206240" cy="301752"/>
          </a:xfrm>
          <a:prstGeom prst="rect">
            <a:avLst/>
          </a:prstGeom>
          <a:solidFill>
            <a:srgbClr val="059669"/>
          </a:solidFill>
          <a:ln w="12700">
            <a:solidFill>
              <a:srgbClr val="059669"/>
            </a:solidFill>
            <a:prstDash val="solid"/>
          </a:ln>
        </p:spPr>
      </p:sp>
      <p:sp>
        <p:nvSpPr>
          <p:cNvPr id="48" name="Text 46"/>
          <p:cNvSpPr/>
          <p:nvPr/>
        </p:nvSpPr>
        <p:spPr>
          <a:xfrm>
            <a:off x="320040" y="3794760"/>
            <a:ext cx="29260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Application Developer</a:t>
            </a:r>
            <a:endParaRPr lang="en-US" sz="1100" dirty="0"/>
          </a:p>
        </p:txBody>
      </p:sp>
      <p:sp>
        <p:nvSpPr>
          <p:cNvPr id="49" name="Shape 47"/>
          <p:cNvSpPr/>
          <p:nvPr/>
        </p:nvSpPr>
        <p:spPr>
          <a:xfrm>
            <a:off x="3246120" y="3794760"/>
            <a:ext cx="1115568" cy="237744"/>
          </a:xfrm>
          <a:prstGeom prst="rect">
            <a:avLst/>
          </a:prstGeom>
          <a:solidFill>
            <a:srgbClr val="FFFFFF"/>
          </a:solidFill>
          <a:ln w="12700">
            <a:solidFill>
              <a:srgbClr val="FFFFFF"/>
            </a:solidFill>
            <a:prstDash val="solid"/>
          </a:ln>
        </p:spPr>
      </p:sp>
      <p:sp>
        <p:nvSpPr>
          <p:cNvPr id="50" name="Text 48"/>
          <p:cNvSpPr/>
          <p:nvPr/>
        </p:nvSpPr>
        <p:spPr>
          <a:xfrm>
            <a:off x="3246120" y="3794760"/>
            <a:ext cx="1115568" cy="237744"/>
          </a:xfrm>
          <a:prstGeom prst="rect">
            <a:avLst/>
          </a:prstGeom>
          <a:noFill/>
          <a:ln/>
        </p:spPr>
        <p:txBody>
          <a:bodyPr wrap="square" lIns="0" tIns="0" rIns="0" bIns="0" rtlCol="0" anchor="ctr"/>
          <a:lstStyle/>
          <a:p>
            <a:pPr algn="r" indent="0" marL="0">
              <a:buNone/>
            </a:pPr>
            <a:r>
              <a:rPr lang="en-US" sz="800" b="1" i="1" dirty="0">
                <a:solidFill>
                  <a:srgbClr val="059669"/>
                </a:solidFill>
                <a:latin typeface="Calibri" pitchFamily="34" charset="0"/>
                <a:ea typeface="Calibri" pitchFamily="34" charset="-122"/>
                <a:cs typeface="Calibri" pitchFamily="34" charset="-120"/>
              </a:rPr>
              <a:t>Development</a:t>
            </a:r>
            <a:endParaRPr lang="en-US" sz="800" dirty="0"/>
          </a:p>
        </p:txBody>
      </p:sp>
      <p:sp>
        <p:nvSpPr>
          <p:cNvPr id="51" name="Text 49"/>
          <p:cNvSpPr/>
          <p:nvPr/>
        </p:nvSpPr>
        <p:spPr>
          <a:xfrm>
            <a:off x="365760" y="4105656"/>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Implements programs based on specifications from systems analysts</a:t>
            </a:r>
            <a:endParaRPr lang="en-US" sz="900" dirty="0"/>
          </a:p>
        </p:txBody>
      </p:sp>
      <p:sp>
        <p:nvSpPr>
          <p:cNvPr id="52" name="Text 50"/>
          <p:cNvSpPr/>
          <p:nvPr/>
        </p:nvSpPr>
        <p:spPr>
          <a:xfrm>
            <a:off x="365760" y="4325112"/>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Embeds SQL statements in 3GL (Java, C++) or 4GL (SQL forms) programs</a:t>
            </a:r>
            <a:endParaRPr lang="en-US" sz="900" dirty="0"/>
          </a:p>
        </p:txBody>
      </p:sp>
      <p:sp>
        <p:nvSpPr>
          <p:cNvPr id="53" name="Text 51"/>
          <p:cNvSpPr/>
          <p:nvPr/>
        </p:nvSpPr>
        <p:spPr>
          <a:xfrm>
            <a:off x="365760" y="4544568"/>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Provides all the functionality that end-users need to do their jobs</a:t>
            </a:r>
            <a:endParaRPr lang="en-US" sz="900" dirty="0"/>
          </a:p>
        </p:txBody>
      </p:sp>
      <p:sp>
        <p:nvSpPr>
          <p:cNvPr id="54" name="Shape 52"/>
          <p:cNvSpPr/>
          <p:nvPr/>
        </p:nvSpPr>
        <p:spPr>
          <a:xfrm>
            <a:off x="2468880" y="4087368"/>
            <a:ext cx="1892808" cy="822960"/>
          </a:xfrm>
          <a:prstGeom prst="rect">
            <a:avLst/>
          </a:prstGeom>
          <a:solidFill>
            <a:srgbClr val="EFF6FF"/>
          </a:solidFill>
          <a:ln w="12700">
            <a:solidFill>
              <a:srgbClr val="3B82F6"/>
            </a:solidFill>
            <a:prstDash val="solid"/>
          </a:ln>
        </p:spPr>
      </p:sp>
      <p:sp>
        <p:nvSpPr>
          <p:cNvPr id="55" name="Text 53"/>
          <p:cNvSpPr/>
          <p:nvPr/>
        </p:nvSpPr>
        <p:spPr>
          <a:xfrm>
            <a:off x="2514600" y="4105656"/>
            <a:ext cx="1810512" cy="786384"/>
          </a:xfrm>
          <a:prstGeom prst="rect">
            <a:avLst/>
          </a:prstGeom>
          <a:noFill/>
          <a:ln/>
        </p:spPr>
        <p:txBody>
          <a:bodyPr wrap="square" lIns="0" tIns="0" rIns="0" bIns="0" rtlCol="0" anchor="ctr"/>
          <a:lstStyle/>
          <a:p>
            <a:pPr indent="0" marL="0">
              <a:buNone/>
            </a:pPr>
            <a:r>
              <a:rPr lang="en-US" sz="780" i="1" dirty="0">
                <a:solidFill>
                  <a:srgbClr val="1E3A5F"/>
                </a:solidFill>
                <a:latin typeface="Calibri" pitchFamily="34" charset="0"/>
                <a:ea typeface="Calibri" pitchFamily="34" charset="-122"/>
                <a:cs typeface="Calibri" pitchFamily="34" charset="-120"/>
              </a:rPr>
              <a:t>💡 At DreamHome: The developer builds the Java 'Property Search' screen — it lets receptionists filter by property type, rooms, and max rent, then displays matching properties from the Oracle database.</a:t>
            </a:r>
            <a:endParaRPr lang="en-US" sz="780" dirty="0"/>
          </a:p>
        </p:txBody>
      </p:sp>
      <p:sp>
        <p:nvSpPr>
          <p:cNvPr id="56" name="Shape 54"/>
          <p:cNvSpPr/>
          <p:nvPr/>
        </p:nvSpPr>
        <p:spPr>
          <a:xfrm>
            <a:off x="4663440" y="3758184"/>
            <a:ext cx="4206240" cy="120700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57" name="Shape 55"/>
          <p:cNvSpPr/>
          <p:nvPr/>
        </p:nvSpPr>
        <p:spPr>
          <a:xfrm>
            <a:off x="4663440" y="3758184"/>
            <a:ext cx="4206240" cy="301752"/>
          </a:xfrm>
          <a:prstGeom prst="rect">
            <a:avLst/>
          </a:prstGeom>
          <a:solidFill>
            <a:srgbClr val="B45309"/>
          </a:solidFill>
          <a:ln w="12700">
            <a:solidFill>
              <a:srgbClr val="B45309"/>
            </a:solidFill>
            <a:prstDash val="solid"/>
          </a:ln>
        </p:spPr>
      </p:sp>
      <p:sp>
        <p:nvSpPr>
          <p:cNvPr id="58" name="Text 56"/>
          <p:cNvSpPr/>
          <p:nvPr/>
        </p:nvSpPr>
        <p:spPr>
          <a:xfrm>
            <a:off x="4754880" y="3794760"/>
            <a:ext cx="292608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End-Users</a:t>
            </a:r>
            <a:endParaRPr lang="en-US" sz="1100" dirty="0"/>
          </a:p>
        </p:txBody>
      </p:sp>
      <p:sp>
        <p:nvSpPr>
          <p:cNvPr id="59" name="Shape 57"/>
          <p:cNvSpPr/>
          <p:nvPr/>
        </p:nvSpPr>
        <p:spPr>
          <a:xfrm>
            <a:off x="7680960" y="3794760"/>
            <a:ext cx="1115568" cy="237744"/>
          </a:xfrm>
          <a:prstGeom prst="rect">
            <a:avLst/>
          </a:prstGeom>
          <a:solidFill>
            <a:srgbClr val="FFFFFF"/>
          </a:solidFill>
          <a:ln w="12700">
            <a:solidFill>
              <a:srgbClr val="FFFFFF"/>
            </a:solidFill>
            <a:prstDash val="solid"/>
          </a:ln>
        </p:spPr>
      </p:sp>
      <p:sp>
        <p:nvSpPr>
          <p:cNvPr id="60" name="Text 58"/>
          <p:cNvSpPr/>
          <p:nvPr/>
        </p:nvSpPr>
        <p:spPr>
          <a:xfrm>
            <a:off x="7680960" y="3794760"/>
            <a:ext cx="1115568" cy="237744"/>
          </a:xfrm>
          <a:prstGeom prst="rect">
            <a:avLst/>
          </a:prstGeom>
          <a:noFill/>
          <a:ln/>
        </p:spPr>
        <p:txBody>
          <a:bodyPr wrap="square" lIns="0" tIns="0" rIns="0" bIns="0" rtlCol="0" anchor="ctr"/>
          <a:lstStyle/>
          <a:p>
            <a:pPr algn="r" indent="0" marL="0">
              <a:buNone/>
            </a:pPr>
            <a:r>
              <a:rPr lang="en-US" sz="800" b="1" i="1" dirty="0">
                <a:solidFill>
                  <a:srgbClr val="B45309"/>
                </a:solidFill>
                <a:latin typeface="Calibri" pitchFamily="34" charset="0"/>
                <a:ea typeface="Calibri" pitchFamily="34" charset="-122"/>
                <a:cs typeface="Calibri" pitchFamily="34" charset="-120"/>
              </a:rPr>
              <a:t>Naïve  &amp;  Sophisticated</a:t>
            </a:r>
            <a:endParaRPr lang="en-US" sz="800" dirty="0"/>
          </a:p>
        </p:txBody>
      </p:sp>
      <p:sp>
        <p:nvSpPr>
          <p:cNvPr id="61" name="Text 59"/>
          <p:cNvSpPr/>
          <p:nvPr/>
        </p:nvSpPr>
        <p:spPr>
          <a:xfrm>
            <a:off x="4800600" y="4105656"/>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Naïve users: unaware of DBMS; use pre-built screens and menus</a:t>
            </a:r>
            <a:endParaRPr lang="en-US" sz="900" dirty="0"/>
          </a:p>
        </p:txBody>
      </p:sp>
      <p:sp>
        <p:nvSpPr>
          <p:cNvPr id="62" name="Text 60"/>
          <p:cNvSpPr/>
          <p:nvPr/>
        </p:nvSpPr>
        <p:spPr>
          <a:xfrm>
            <a:off x="4800600" y="4325112"/>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Sophisticated users: understand DB structure; write SQL directly</a:t>
            </a:r>
            <a:endParaRPr lang="en-US" sz="900" dirty="0"/>
          </a:p>
        </p:txBody>
      </p:sp>
      <p:sp>
        <p:nvSpPr>
          <p:cNvPr id="63" name="Text 61"/>
          <p:cNvSpPr/>
          <p:nvPr/>
        </p:nvSpPr>
        <p:spPr>
          <a:xfrm>
            <a:off x="4800600" y="4544568"/>
            <a:ext cx="2011680" cy="21945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Some sophisticated users build their own small application programs</a:t>
            </a:r>
            <a:endParaRPr lang="en-US" sz="900" dirty="0"/>
          </a:p>
        </p:txBody>
      </p:sp>
      <p:sp>
        <p:nvSpPr>
          <p:cNvPr id="64" name="Shape 62"/>
          <p:cNvSpPr/>
          <p:nvPr/>
        </p:nvSpPr>
        <p:spPr>
          <a:xfrm>
            <a:off x="6903720" y="4087368"/>
            <a:ext cx="1892808" cy="822960"/>
          </a:xfrm>
          <a:prstGeom prst="rect">
            <a:avLst/>
          </a:prstGeom>
          <a:solidFill>
            <a:srgbClr val="EFF6FF"/>
          </a:solidFill>
          <a:ln w="12700">
            <a:solidFill>
              <a:srgbClr val="3B82F6"/>
            </a:solidFill>
            <a:prstDash val="solid"/>
          </a:ln>
        </p:spPr>
      </p:sp>
      <p:sp>
        <p:nvSpPr>
          <p:cNvPr id="65" name="Text 63"/>
          <p:cNvSpPr/>
          <p:nvPr/>
        </p:nvSpPr>
        <p:spPr>
          <a:xfrm>
            <a:off x="6949440" y="4105656"/>
            <a:ext cx="1810512" cy="786384"/>
          </a:xfrm>
          <a:prstGeom prst="rect">
            <a:avLst/>
          </a:prstGeom>
          <a:noFill/>
          <a:ln/>
        </p:spPr>
        <p:txBody>
          <a:bodyPr wrap="square" lIns="0" tIns="0" rIns="0" bIns="0" rtlCol="0" anchor="ctr"/>
          <a:lstStyle/>
          <a:p>
            <a:pPr indent="0" marL="0">
              <a:buNone/>
            </a:pPr>
            <a:r>
              <a:rPr lang="en-US" sz="780" i="1" dirty="0">
                <a:solidFill>
                  <a:srgbClr val="1E3A5F"/>
                </a:solidFill>
                <a:latin typeface="Calibri" pitchFamily="34" charset="0"/>
                <a:ea typeface="Calibri" pitchFamily="34" charset="-122"/>
                <a:cs typeface="Calibri" pitchFamily="34" charset="-120"/>
              </a:rPr>
              <a:t>💡 At DreamHome — Naïve: A branch receptionist scans a bar code to look up a property — an app does all the database work invisibly. Sophisticated: A branch manager types an SQL query to list all overdue rent payments this month.</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C3AE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FFFF"/>
          </a:solidFill>
          <a:ln w="12700">
            <a:solidFill>
              <a:srgbClr val="FFFFFF"/>
            </a:solidFill>
            <a:prstDash val="solid"/>
          </a:ln>
        </p:spPr>
      </p:sp>
      <p:sp>
        <p:nvSpPr>
          <p:cNvPr id="3" name="Shape 1"/>
          <p:cNvSpPr/>
          <p:nvPr/>
        </p:nvSpPr>
        <p:spPr>
          <a:xfrm>
            <a:off x="0" y="5079492"/>
            <a:ext cx="9144000" cy="64008"/>
          </a:xfrm>
          <a:prstGeom prst="rect">
            <a:avLst/>
          </a:prstGeom>
          <a:solidFill>
            <a:srgbClr val="FFFFFF"/>
          </a:solidFill>
          <a:ln w="12700">
            <a:solidFill>
              <a:srgbClr val="FFFFFF"/>
            </a:solidFill>
            <a:prstDash val="solid"/>
          </a:ln>
        </p:spPr>
      </p:sp>
      <p:sp>
        <p:nvSpPr>
          <p:cNvPr id="4" name="Shape 2"/>
          <p:cNvSpPr/>
          <p:nvPr/>
        </p:nvSpPr>
        <p:spPr>
          <a:xfrm>
            <a:off x="548640" y="1371600"/>
            <a:ext cx="1828800" cy="1828800"/>
          </a:xfrm>
          <a:prstGeom prst="ellipse">
            <a:avLst/>
          </a:prstGeom>
          <a:solidFill>
            <a:srgbClr val="FFFFFF"/>
          </a:solidFill>
          <a:ln w="12700">
            <a:solidFill>
              <a:srgbClr val="FFFFFF"/>
            </a:solidFill>
            <a:prstDash val="solid"/>
          </a:ln>
        </p:spPr>
      </p:sp>
      <p:sp>
        <p:nvSpPr>
          <p:cNvPr id="5" name="Text 3"/>
          <p:cNvSpPr/>
          <p:nvPr/>
        </p:nvSpPr>
        <p:spPr>
          <a:xfrm>
            <a:off x="548640" y="1371600"/>
            <a:ext cx="1828800" cy="1828800"/>
          </a:xfrm>
          <a:prstGeom prst="rect">
            <a:avLst/>
          </a:prstGeom>
          <a:noFill/>
          <a:ln/>
        </p:spPr>
        <p:txBody>
          <a:bodyPr wrap="square" lIns="0" tIns="0" rIns="0" bIns="0" rtlCol="0" anchor="ctr"/>
          <a:lstStyle/>
          <a:p>
            <a:pPr algn="ctr" indent="0" marL="0">
              <a:buNone/>
            </a:pPr>
            <a:r>
              <a:rPr lang="en-US" sz="2800" b="1" dirty="0">
                <a:solidFill>
                  <a:srgbClr val="7C3AED"/>
                </a:solidFill>
                <a:latin typeface="Georgia" pitchFamily="34" charset="0"/>
                <a:ea typeface="Georgia" pitchFamily="34" charset="-122"/>
                <a:cs typeface="Georgia" pitchFamily="34" charset="-120"/>
              </a:rPr>
              <a:t>LO 4</a:t>
            </a:r>
            <a:endParaRPr lang="en-US" sz="2800" dirty="0"/>
          </a:p>
        </p:txBody>
      </p:sp>
      <p:sp>
        <p:nvSpPr>
          <p:cNvPr id="6" name="Text 4"/>
          <p:cNvSpPr/>
          <p:nvPr/>
        </p:nvSpPr>
        <p:spPr>
          <a:xfrm>
            <a:off x="2743200" y="1371600"/>
            <a:ext cx="6126480" cy="128016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Importance, Advantages</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&amp; Disadvantages of DBMSs</a:t>
            </a:r>
            <a:endParaRPr lang="en-US" sz="3400" dirty="0"/>
          </a:p>
        </p:txBody>
      </p:sp>
      <p:sp>
        <p:nvSpPr>
          <p:cNvPr id="7" name="Text 5"/>
          <p:cNvSpPr/>
          <p:nvPr/>
        </p:nvSpPr>
        <p:spPr>
          <a:xfrm>
            <a:off x="2743200" y="2743200"/>
            <a:ext cx="6126480" cy="731520"/>
          </a:xfrm>
          <a:prstGeom prst="rect">
            <a:avLst/>
          </a:prstGeom>
          <a:noFill/>
          <a:ln/>
        </p:spPr>
        <p:txBody>
          <a:bodyPr wrap="square" lIns="0" tIns="0" rIns="0" bIns="0" rtlCol="0" anchor="ctr"/>
          <a:lstStyle/>
          <a:p>
            <a:pPr indent="0" marL="0">
              <a:buNone/>
            </a:pPr>
            <a:r>
              <a:rPr lang="en-US" sz="1500" dirty="0">
                <a:solidFill>
                  <a:srgbClr val="D1FAE5"/>
                </a:solidFill>
                <a:latin typeface="Calibri" pitchFamily="34" charset="0"/>
                <a:ea typeface="Calibri" pitchFamily="34" charset="-122"/>
                <a:cs typeface="Calibri" pitchFamily="34" charset="-120"/>
              </a:rPr>
              <a:t>Why databases matter — and what they cost organisations.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3AED"/>
          </a:solidFill>
          <a:ln w="12700">
            <a:solidFill>
              <a:srgbClr val="7C3AED"/>
            </a:solidFill>
            <a:prstDash val="solid"/>
          </a:ln>
        </p:spPr>
      </p:sp>
      <p:sp>
        <p:nvSpPr>
          <p:cNvPr id="3" name="Shape 1"/>
          <p:cNvSpPr/>
          <p:nvPr/>
        </p:nvSpPr>
        <p:spPr>
          <a:xfrm>
            <a:off x="0" y="73152"/>
            <a:ext cx="9144000" cy="384048"/>
          </a:xfrm>
          <a:prstGeom prst="rect">
            <a:avLst/>
          </a:prstGeom>
          <a:solidFill>
            <a:srgbClr val="7C3AED"/>
          </a:solidFill>
          <a:ln w="12700">
            <a:solidFill>
              <a:srgbClr val="7C3AED"/>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EDE9FE"/>
                </a:solidFill>
                <a:latin typeface="Calibri" pitchFamily="34" charset="0"/>
                <a:ea typeface="Calibri" pitchFamily="34" charset="-122"/>
                <a:cs typeface="Calibri" pitchFamily="34" charset="-120"/>
              </a:rPr>
              <a:t>LO 4  —  Importance, Advantages &amp; Disadvantages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Advantages of the Database Approach</a:t>
            </a:r>
            <a:endParaRPr lang="en-US" sz="2400" dirty="0"/>
          </a:p>
        </p:txBody>
      </p:sp>
      <p:sp>
        <p:nvSpPr>
          <p:cNvPr id="6" name="Shape 4"/>
          <p:cNvSpPr/>
          <p:nvPr/>
        </p:nvSpPr>
        <p:spPr>
          <a:xfrm>
            <a:off x="228600" y="1051560"/>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7" name="Shape 5"/>
          <p:cNvSpPr/>
          <p:nvPr/>
        </p:nvSpPr>
        <p:spPr>
          <a:xfrm>
            <a:off x="228600" y="1051560"/>
            <a:ext cx="109728" cy="1188720"/>
          </a:xfrm>
          <a:prstGeom prst="rect">
            <a:avLst/>
          </a:prstGeom>
          <a:solidFill>
            <a:srgbClr val="0D9488"/>
          </a:solidFill>
          <a:ln w="12700">
            <a:solidFill>
              <a:srgbClr val="0D9488"/>
            </a:solidFill>
            <a:prstDash val="solid"/>
          </a:ln>
        </p:spPr>
      </p:sp>
      <p:sp>
        <p:nvSpPr>
          <p:cNvPr id="8" name="Text 6"/>
          <p:cNvSpPr/>
          <p:nvPr/>
        </p:nvSpPr>
        <p:spPr>
          <a:xfrm>
            <a:off x="429768" y="1115568"/>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Control of Data Redundancy</a:t>
            </a:r>
            <a:endParaRPr lang="en-US" sz="1150" dirty="0"/>
          </a:p>
        </p:txBody>
      </p:sp>
      <p:sp>
        <p:nvSpPr>
          <p:cNvPr id="9" name="Text 7"/>
          <p:cNvSpPr/>
          <p:nvPr/>
        </p:nvSpPr>
        <p:spPr>
          <a:xfrm>
            <a:off x="429768" y="1399032"/>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DB integrates files — data stored once. Controlled duplication only where needed to model relationships.</a:t>
            </a:r>
            <a:endParaRPr lang="en-US" sz="950" dirty="0"/>
          </a:p>
        </p:txBody>
      </p:sp>
      <p:sp>
        <p:nvSpPr>
          <p:cNvPr id="10" name="Shape 8"/>
          <p:cNvSpPr/>
          <p:nvPr/>
        </p:nvSpPr>
        <p:spPr>
          <a:xfrm>
            <a:off x="429768" y="1810512"/>
            <a:ext cx="3895344" cy="384048"/>
          </a:xfrm>
          <a:prstGeom prst="rect">
            <a:avLst/>
          </a:prstGeom>
          <a:solidFill>
            <a:srgbClr val="EFF6FF"/>
          </a:solidFill>
          <a:ln w="12700">
            <a:solidFill>
              <a:srgbClr val="3B82F6"/>
            </a:solidFill>
            <a:prstDash val="solid"/>
          </a:ln>
        </p:spPr>
      </p:sp>
      <p:sp>
        <p:nvSpPr>
          <p:cNvPr id="11" name="Text 9"/>
          <p:cNvSpPr/>
          <p:nvPr/>
        </p:nvSpPr>
        <p:spPr>
          <a:xfrm>
            <a:off x="484632" y="1828800"/>
            <a:ext cx="3785616" cy="347472"/>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Client address stored once. Sales, Contracts, and Marketing all read the same record — no conflicting copies.</a:t>
            </a:r>
            <a:endParaRPr lang="en-US" sz="850" dirty="0"/>
          </a:p>
        </p:txBody>
      </p:sp>
      <p:sp>
        <p:nvSpPr>
          <p:cNvPr id="12" name="Shape 10"/>
          <p:cNvSpPr/>
          <p:nvPr/>
        </p:nvSpPr>
        <p:spPr>
          <a:xfrm>
            <a:off x="4663440" y="1051560"/>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3" name="Shape 11"/>
          <p:cNvSpPr/>
          <p:nvPr/>
        </p:nvSpPr>
        <p:spPr>
          <a:xfrm>
            <a:off x="4663440" y="1051560"/>
            <a:ext cx="109728" cy="1188720"/>
          </a:xfrm>
          <a:prstGeom prst="rect">
            <a:avLst/>
          </a:prstGeom>
          <a:solidFill>
            <a:srgbClr val="0D9488"/>
          </a:solidFill>
          <a:ln w="12700">
            <a:solidFill>
              <a:srgbClr val="0D9488"/>
            </a:solidFill>
            <a:prstDash val="solid"/>
          </a:ln>
        </p:spPr>
      </p:sp>
      <p:sp>
        <p:nvSpPr>
          <p:cNvPr id="14" name="Text 12"/>
          <p:cNvSpPr/>
          <p:nvPr/>
        </p:nvSpPr>
        <p:spPr>
          <a:xfrm>
            <a:off x="4864608" y="1115568"/>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Data Consistency</a:t>
            </a:r>
            <a:endParaRPr lang="en-US" sz="1150" dirty="0"/>
          </a:p>
        </p:txBody>
      </p:sp>
      <p:sp>
        <p:nvSpPr>
          <p:cNvPr id="15" name="Text 13"/>
          <p:cNvSpPr/>
          <p:nvPr/>
        </p:nvSpPr>
        <p:spPr>
          <a:xfrm>
            <a:off x="4864608" y="1399032"/>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Data stored once means one update makes the new value immediately visible to all departments and applications.</a:t>
            </a:r>
            <a:endParaRPr lang="en-US" sz="950" dirty="0"/>
          </a:p>
        </p:txBody>
      </p:sp>
      <p:sp>
        <p:nvSpPr>
          <p:cNvPr id="16" name="Shape 14"/>
          <p:cNvSpPr/>
          <p:nvPr/>
        </p:nvSpPr>
        <p:spPr>
          <a:xfrm>
            <a:off x="4864608" y="1810512"/>
            <a:ext cx="3895344" cy="384048"/>
          </a:xfrm>
          <a:prstGeom prst="rect">
            <a:avLst/>
          </a:prstGeom>
          <a:solidFill>
            <a:srgbClr val="EFF6FF"/>
          </a:solidFill>
          <a:ln w="12700">
            <a:solidFill>
              <a:srgbClr val="3B82F6"/>
            </a:solidFill>
            <a:prstDash val="solid"/>
          </a:ln>
        </p:spPr>
      </p:sp>
      <p:sp>
        <p:nvSpPr>
          <p:cNvPr id="17" name="Text 15"/>
          <p:cNvSpPr/>
          <p:nvPr/>
        </p:nvSpPr>
        <p:spPr>
          <a:xfrm>
            <a:off x="4919472" y="1828800"/>
            <a:ext cx="3785616" cy="347472"/>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Client changes phone number. One UPDATE query — the Sales app, Lease app, and Payroll system all instantly see the new number.</a:t>
            </a:r>
            <a:endParaRPr lang="en-US" sz="850" dirty="0"/>
          </a:p>
        </p:txBody>
      </p:sp>
      <p:sp>
        <p:nvSpPr>
          <p:cNvPr id="18" name="Shape 16"/>
          <p:cNvSpPr/>
          <p:nvPr/>
        </p:nvSpPr>
        <p:spPr>
          <a:xfrm>
            <a:off x="228600" y="2386584"/>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9" name="Shape 17"/>
          <p:cNvSpPr/>
          <p:nvPr/>
        </p:nvSpPr>
        <p:spPr>
          <a:xfrm>
            <a:off x="228600" y="2386584"/>
            <a:ext cx="109728" cy="1188720"/>
          </a:xfrm>
          <a:prstGeom prst="rect">
            <a:avLst/>
          </a:prstGeom>
          <a:solidFill>
            <a:srgbClr val="0D9488"/>
          </a:solidFill>
          <a:ln w="12700">
            <a:solidFill>
              <a:srgbClr val="0D9488"/>
            </a:solidFill>
            <a:prstDash val="solid"/>
          </a:ln>
        </p:spPr>
      </p:sp>
      <p:sp>
        <p:nvSpPr>
          <p:cNvPr id="20" name="Text 18"/>
          <p:cNvSpPr/>
          <p:nvPr/>
        </p:nvSpPr>
        <p:spPr>
          <a:xfrm>
            <a:off x="429768" y="2450592"/>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More Information from Same Data</a:t>
            </a:r>
            <a:endParaRPr lang="en-US" sz="1150" dirty="0"/>
          </a:p>
        </p:txBody>
      </p:sp>
      <p:sp>
        <p:nvSpPr>
          <p:cNvPr id="21" name="Text 19"/>
          <p:cNvSpPr/>
          <p:nvPr/>
        </p:nvSpPr>
        <p:spPr>
          <a:xfrm>
            <a:off x="429768" y="2734056"/>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Integration allows cross-departmental queries impossible in file systems — new relationships emerge from existing data.</a:t>
            </a:r>
            <a:endParaRPr lang="en-US" sz="950" dirty="0"/>
          </a:p>
        </p:txBody>
      </p:sp>
      <p:sp>
        <p:nvSpPr>
          <p:cNvPr id="22" name="Shape 20"/>
          <p:cNvSpPr/>
          <p:nvPr/>
        </p:nvSpPr>
        <p:spPr>
          <a:xfrm>
            <a:off x="429768" y="3145536"/>
            <a:ext cx="3895344" cy="384048"/>
          </a:xfrm>
          <a:prstGeom prst="rect">
            <a:avLst/>
          </a:prstGeom>
          <a:solidFill>
            <a:srgbClr val="EFF6FF"/>
          </a:solidFill>
          <a:ln w="12700">
            <a:solidFill>
              <a:srgbClr val="3B82F6"/>
            </a:solidFill>
            <a:prstDash val="solid"/>
          </a:ln>
        </p:spPr>
      </p:sp>
      <p:sp>
        <p:nvSpPr>
          <p:cNvPr id="23" name="Text 21"/>
          <p:cNvSpPr/>
          <p:nvPr/>
        </p:nvSpPr>
        <p:spPr>
          <a:xfrm>
            <a:off x="484632" y="3163824"/>
            <a:ext cx="3785616" cy="347472"/>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Sales can now see lease details. Contracts can see owner details. A manager queries profitability across all 50 branches in one SQL statement.</a:t>
            </a:r>
            <a:endParaRPr lang="en-US" sz="850" dirty="0"/>
          </a:p>
        </p:txBody>
      </p:sp>
      <p:sp>
        <p:nvSpPr>
          <p:cNvPr id="24" name="Shape 22"/>
          <p:cNvSpPr/>
          <p:nvPr/>
        </p:nvSpPr>
        <p:spPr>
          <a:xfrm>
            <a:off x="4663440" y="2386584"/>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5" name="Shape 23"/>
          <p:cNvSpPr/>
          <p:nvPr/>
        </p:nvSpPr>
        <p:spPr>
          <a:xfrm>
            <a:off x="4663440" y="2386584"/>
            <a:ext cx="109728" cy="1188720"/>
          </a:xfrm>
          <a:prstGeom prst="rect">
            <a:avLst/>
          </a:prstGeom>
          <a:solidFill>
            <a:srgbClr val="0D9488"/>
          </a:solidFill>
          <a:ln w="12700">
            <a:solidFill>
              <a:srgbClr val="0D9488"/>
            </a:solidFill>
            <a:prstDash val="solid"/>
          </a:ln>
        </p:spPr>
      </p:sp>
      <p:sp>
        <p:nvSpPr>
          <p:cNvPr id="26" name="Text 24"/>
          <p:cNvSpPr/>
          <p:nvPr/>
        </p:nvSpPr>
        <p:spPr>
          <a:xfrm>
            <a:off x="4864608" y="2450592"/>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Improved Security &amp; Integrity</a:t>
            </a:r>
            <a:endParaRPr lang="en-US" sz="1150" dirty="0"/>
          </a:p>
        </p:txBody>
      </p:sp>
      <p:sp>
        <p:nvSpPr>
          <p:cNvPr id="27" name="Text 25"/>
          <p:cNvSpPr/>
          <p:nvPr/>
        </p:nvSpPr>
        <p:spPr>
          <a:xfrm>
            <a:off x="4864608" y="2734056"/>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DBA defines access rights (security) and data rules (integrity). DBMS enforces both automatically for ALL applications — not just some.</a:t>
            </a:r>
            <a:endParaRPr lang="en-US" sz="950" dirty="0"/>
          </a:p>
        </p:txBody>
      </p:sp>
      <p:sp>
        <p:nvSpPr>
          <p:cNvPr id="28" name="Shape 26"/>
          <p:cNvSpPr/>
          <p:nvPr/>
        </p:nvSpPr>
        <p:spPr>
          <a:xfrm>
            <a:off x="4864608" y="3145536"/>
            <a:ext cx="3895344" cy="384048"/>
          </a:xfrm>
          <a:prstGeom prst="rect">
            <a:avLst/>
          </a:prstGeom>
          <a:solidFill>
            <a:srgbClr val="EFF6FF"/>
          </a:solidFill>
          <a:ln w="12700">
            <a:solidFill>
              <a:srgbClr val="3B82F6"/>
            </a:solidFill>
            <a:prstDash val="solid"/>
          </a:ln>
        </p:spPr>
      </p:sp>
      <p:sp>
        <p:nvSpPr>
          <p:cNvPr id="29" name="Text 27"/>
          <p:cNvSpPr/>
          <p:nvPr/>
        </p:nvSpPr>
        <p:spPr>
          <a:xfrm>
            <a:off x="4919472" y="3163824"/>
            <a:ext cx="3785616" cy="347472"/>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Integrity: rent must be &gt; 0. Security: only HR sees salary. DBMS enforces these rules regardless of which application is used to access the data.</a:t>
            </a:r>
            <a:endParaRPr lang="en-US" sz="850" dirty="0"/>
          </a:p>
        </p:txBody>
      </p:sp>
      <p:sp>
        <p:nvSpPr>
          <p:cNvPr id="30" name="Shape 28"/>
          <p:cNvSpPr/>
          <p:nvPr/>
        </p:nvSpPr>
        <p:spPr>
          <a:xfrm>
            <a:off x="228600" y="3721608"/>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31" name="Shape 29"/>
          <p:cNvSpPr/>
          <p:nvPr/>
        </p:nvSpPr>
        <p:spPr>
          <a:xfrm>
            <a:off x="228600" y="3721608"/>
            <a:ext cx="109728" cy="1188720"/>
          </a:xfrm>
          <a:prstGeom prst="rect">
            <a:avLst/>
          </a:prstGeom>
          <a:solidFill>
            <a:srgbClr val="0D9488"/>
          </a:solidFill>
          <a:ln w="12700">
            <a:solidFill>
              <a:srgbClr val="0D9488"/>
            </a:solidFill>
            <a:prstDash val="solid"/>
          </a:ln>
        </p:spPr>
      </p:sp>
      <p:sp>
        <p:nvSpPr>
          <p:cNvPr id="32" name="Text 30"/>
          <p:cNvSpPr/>
          <p:nvPr/>
        </p:nvSpPr>
        <p:spPr>
          <a:xfrm>
            <a:off x="429768" y="3785616"/>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Data Independence</a:t>
            </a:r>
            <a:endParaRPr lang="en-US" sz="1150" dirty="0"/>
          </a:p>
        </p:txBody>
      </p:sp>
      <p:sp>
        <p:nvSpPr>
          <p:cNvPr id="33" name="Text 31"/>
          <p:cNvSpPr/>
          <p:nvPr/>
        </p:nvSpPr>
        <p:spPr>
          <a:xfrm>
            <a:off x="429768" y="4069080"/>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Structure separated from applications. Changes to the DB (adding fields, restructuring tables) don't break existing apps.</a:t>
            </a:r>
            <a:endParaRPr lang="en-US" sz="950" dirty="0"/>
          </a:p>
        </p:txBody>
      </p:sp>
      <p:sp>
        <p:nvSpPr>
          <p:cNvPr id="34" name="Shape 32"/>
          <p:cNvSpPr/>
          <p:nvPr/>
        </p:nvSpPr>
        <p:spPr>
          <a:xfrm>
            <a:off x="429768" y="4480560"/>
            <a:ext cx="3895344" cy="384048"/>
          </a:xfrm>
          <a:prstGeom prst="rect">
            <a:avLst/>
          </a:prstGeom>
          <a:solidFill>
            <a:srgbClr val="EFF6FF"/>
          </a:solidFill>
          <a:ln w="12700">
            <a:solidFill>
              <a:srgbClr val="3B82F6"/>
            </a:solidFill>
            <a:prstDash val="solid"/>
          </a:ln>
        </p:spPr>
      </p:sp>
      <p:sp>
        <p:nvSpPr>
          <p:cNvPr id="35" name="Text 33"/>
          <p:cNvSpPr/>
          <p:nvPr/>
        </p:nvSpPr>
        <p:spPr>
          <a:xfrm>
            <a:off x="484632" y="4498848"/>
            <a:ext cx="3785616" cy="347472"/>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DBA adds 'energyRating' to PropertyForRent. The Sales app and Lease app continue working with no code changes — they are unaffected.</a:t>
            </a:r>
            <a:endParaRPr lang="en-US" sz="850" dirty="0"/>
          </a:p>
        </p:txBody>
      </p:sp>
      <p:sp>
        <p:nvSpPr>
          <p:cNvPr id="36" name="Shape 34"/>
          <p:cNvSpPr/>
          <p:nvPr/>
        </p:nvSpPr>
        <p:spPr>
          <a:xfrm>
            <a:off x="4663440" y="3721608"/>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37" name="Shape 35"/>
          <p:cNvSpPr/>
          <p:nvPr/>
        </p:nvSpPr>
        <p:spPr>
          <a:xfrm>
            <a:off x="4663440" y="3721608"/>
            <a:ext cx="109728" cy="1188720"/>
          </a:xfrm>
          <a:prstGeom prst="rect">
            <a:avLst/>
          </a:prstGeom>
          <a:solidFill>
            <a:srgbClr val="0D9488"/>
          </a:solidFill>
          <a:ln w="12700">
            <a:solidFill>
              <a:srgbClr val="0D9488"/>
            </a:solidFill>
            <a:prstDash val="solid"/>
          </a:ln>
        </p:spPr>
      </p:sp>
      <p:sp>
        <p:nvSpPr>
          <p:cNvPr id="38" name="Text 36"/>
          <p:cNvSpPr/>
          <p:nvPr/>
        </p:nvSpPr>
        <p:spPr>
          <a:xfrm>
            <a:off x="4864608" y="3785616"/>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Concurrency, Backup &amp; Recovery</a:t>
            </a:r>
            <a:endParaRPr lang="en-US" sz="1150" dirty="0"/>
          </a:p>
        </p:txBody>
      </p:sp>
      <p:sp>
        <p:nvSpPr>
          <p:cNvPr id="39" name="Text 37"/>
          <p:cNvSpPr/>
          <p:nvPr/>
        </p:nvSpPr>
        <p:spPr>
          <a:xfrm>
            <a:off x="4864608" y="4069080"/>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DBMS manages simultaneous users safely. Modern DBMS minimises data lost on failure — far better than nightly file backups.</a:t>
            </a:r>
            <a:endParaRPr lang="en-US" sz="950" dirty="0"/>
          </a:p>
        </p:txBody>
      </p:sp>
      <p:sp>
        <p:nvSpPr>
          <p:cNvPr id="40" name="Shape 38"/>
          <p:cNvSpPr/>
          <p:nvPr/>
        </p:nvSpPr>
        <p:spPr>
          <a:xfrm>
            <a:off x="4864608" y="4480560"/>
            <a:ext cx="3895344" cy="384048"/>
          </a:xfrm>
          <a:prstGeom prst="rect">
            <a:avLst/>
          </a:prstGeom>
          <a:solidFill>
            <a:srgbClr val="EFF6FF"/>
          </a:solidFill>
          <a:ln w="12700">
            <a:solidFill>
              <a:srgbClr val="3B82F6"/>
            </a:solidFill>
            <a:prstDash val="solid"/>
          </a:ln>
        </p:spPr>
      </p:sp>
      <p:sp>
        <p:nvSpPr>
          <p:cNvPr id="41" name="Text 39"/>
          <p:cNvSpPr/>
          <p:nvPr/>
        </p:nvSpPr>
        <p:spPr>
          <a:xfrm>
            <a:off x="4919472" y="4498848"/>
            <a:ext cx="3785616" cy="347472"/>
          </a:xfrm>
          <a:prstGeom prst="rect">
            <a:avLst/>
          </a:prstGeom>
          <a:noFill/>
          <a:ln/>
        </p:spPr>
        <p:txBody>
          <a:bodyPr wrap="square" lIns="0" tIns="0" rIns="0" bIns="0" rtlCol="0" anchor="ctr"/>
          <a:lstStyle/>
          <a:p>
            <a:pPr indent="0" marL="0">
              <a:buNone/>
            </a:pPr>
            <a:r>
              <a:rPr lang="en-US" sz="850" i="1" dirty="0">
                <a:solidFill>
                  <a:srgbClr val="1E3A5F"/>
                </a:solidFill>
                <a:latin typeface="Calibri" pitchFamily="34" charset="0"/>
                <a:ea typeface="Calibri" pitchFamily="34" charset="-122"/>
                <a:cs typeface="Calibri" pitchFamily="34" charset="-120"/>
              </a:rPr>
              <a:t>💡 30 branch staff access the DB simultaneously — no lost updates. After a server crash, DBMS recovers to the last committed transaction automatically.</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3AED"/>
          </a:solidFill>
          <a:ln w="12700">
            <a:solidFill>
              <a:srgbClr val="7C3AED"/>
            </a:solidFill>
            <a:prstDash val="solid"/>
          </a:ln>
        </p:spPr>
      </p:sp>
      <p:sp>
        <p:nvSpPr>
          <p:cNvPr id="3" name="Shape 1"/>
          <p:cNvSpPr/>
          <p:nvPr/>
        </p:nvSpPr>
        <p:spPr>
          <a:xfrm>
            <a:off x="0" y="73152"/>
            <a:ext cx="9144000" cy="384048"/>
          </a:xfrm>
          <a:prstGeom prst="rect">
            <a:avLst/>
          </a:prstGeom>
          <a:solidFill>
            <a:srgbClr val="7C3AED"/>
          </a:solidFill>
          <a:ln w="12700">
            <a:solidFill>
              <a:srgbClr val="7C3AED"/>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EDE9FE"/>
                </a:solidFill>
                <a:latin typeface="Calibri" pitchFamily="34" charset="0"/>
                <a:ea typeface="Calibri" pitchFamily="34" charset="-122"/>
                <a:cs typeface="Calibri" pitchFamily="34" charset="-120"/>
              </a:rPr>
              <a:t>LO 4  —  Importance, Advantages &amp; Disadvantages</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Disadvantages of the Database Approach</a:t>
            </a:r>
            <a:endParaRPr lang="en-US" sz="2400" dirty="0"/>
          </a:p>
        </p:txBody>
      </p:sp>
      <p:sp>
        <p:nvSpPr>
          <p:cNvPr id="6" name="Shape 4"/>
          <p:cNvSpPr/>
          <p:nvPr/>
        </p:nvSpPr>
        <p:spPr>
          <a:xfrm>
            <a:off x="228600" y="1051560"/>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7" name="Shape 5"/>
          <p:cNvSpPr/>
          <p:nvPr/>
        </p:nvSpPr>
        <p:spPr>
          <a:xfrm>
            <a:off x="228600" y="1051560"/>
            <a:ext cx="109728" cy="1188720"/>
          </a:xfrm>
          <a:prstGeom prst="rect">
            <a:avLst/>
          </a:prstGeom>
          <a:solidFill>
            <a:srgbClr val="DC2626"/>
          </a:solidFill>
          <a:ln w="12700">
            <a:solidFill>
              <a:srgbClr val="DC2626"/>
            </a:solidFill>
            <a:prstDash val="solid"/>
          </a:ln>
        </p:spPr>
      </p:sp>
      <p:sp>
        <p:nvSpPr>
          <p:cNvPr id="8" name="Text 6"/>
          <p:cNvSpPr/>
          <p:nvPr/>
        </p:nvSpPr>
        <p:spPr>
          <a:xfrm>
            <a:off x="429768" y="1115568"/>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Complexity</a:t>
            </a:r>
            <a:endParaRPr lang="en-US" sz="1150" dirty="0"/>
          </a:p>
        </p:txBody>
      </p:sp>
      <p:sp>
        <p:nvSpPr>
          <p:cNvPr id="9" name="Text 7"/>
          <p:cNvSpPr/>
          <p:nvPr/>
        </p:nvSpPr>
        <p:spPr>
          <a:xfrm>
            <a:off x="429768" y="1399032"/>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 full-featured DBMS is enormously sophisticated software. Poor understanding leads to bad design — with serious consequences for the organisation.</a:t>
            </a:r>
            <a:endParaRPr lang="en-US" sz="950" dirty="0"/>
          </a:p>
        </p:txBody>
      </p:sp>
      <p:sp>
        <p:nvSpPr>
          <p:cNvPr id="10" name="Shape 8"/>
          <p:cNvSpPr/>
          <p:nvPr/>
        </p:nvSpPr>
        <p:spPr>
          <a:xfrm>
            <a:off x="429768" y="1810512"/>
            <a:ext cx="3895344" cy="384048"/>
          </a:xfrm>
          <a:prstGeom prst="rect">
            <a:avLst/>
          </a:prstGeom>
          <a:solidFill>
            <a:srgbClr val="FEF2F2"/>
          </a:solidFill>
          <a:ln w="12700">
            <a:solidFill>
              <a:srgbClr val="DC2626"/>
            </a:solidFill>
            <a:prstDash val="solid"/>
          </a:ln>
        </p:spPr>
      </p:sp>
      <p:sp>
        <p:nvSpPr>
          <p:cNvPr id="11" name="Text 9"/>
          <p:cNvSpPr/>
          <p:nvPr/>
        </p:nvSpPr>
        <p:spPr>
          <a:xfrm>
            <a:off x="484632" y="1828800"/>
            <a:ext cx="3785616" cy="347472"/>
          </a:xfrm>
          <a:prstGeom prst="rect">
            <a:avLst/>
          </a:prstGeom>
          <a:noFill/>
          <a:ln/>
        </p:spPr>
        <p:txBody>
          <a:bodyPr wrap="square" lIns="0" tIns="0" rIns="0" bIns="0" rtlCol="0" anchor="ctr"/>
          <a:lstStyle/>
          <a:p>
            <a:pPr indent="0" marL="0">
              <a:buNone/>
            </a:pPr>
            <a:r>
              <a:rPr lang="en-US" sz="850" i="1" dirty="0">
                <a:solidFill>
                  <a:srgbClr val="991B1B"/>
                </a:solidFill>
                <a:latin typeface="Calibri" pitchFamily="34" charset="0"/>
                <a:ea typeface="Calibri" pitchFamily="34" charset="-122"/>
                <a:cs typeface="Calibri" pitchFamily="34" charset="-120"/>
              </a:rPr>
              <a:t>⚠ A poorly designed schema at DreamHome causes every property search to scan ALL 10,000 records instead of using an index — making the system unusably slow.</a:t>
            </a:r>
            <a:endParaRPr lang="en-US" sz="850" dirty="0"/>
          </a:p>
        </p:txBody>
      </p:sp>
      <p:sp>
        <p:nvSpPr>
          <p:cNvPr id="12" name="Shape 10"/>
          <p:cNvSpPr/>
          <p:nvPr/>
        </p:nvSpPr>
        <p:spPr>
          <a:xfrm>
            <a:off x="4663440" y="1051560"/>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3" name="Shape 11"/>
          <p:cNvSpPr/>
          <p:nvPr/>
        </p:nvSpPr>
        <p:spPr>
          <a:xfrm>
            <a:off x="4663440" y="1051560"/>
            <a:ext cx="109728" cy="1188720"/>
          </a:xfrm>
          <a:prstGeom prst="rect">
            <a:avLst/>
          </a:prstGeom>
          <a:solidFill>
            <a:srgbClr val="DC2626"/>
          </a:solidFill>
          <a:ln w="12700">
            <a:solidFill>
              <a:srgbClr val="DC2626"/>
            </a:solidFill>
            <a:prstDash val="solid"/>
          </a:ln>
        </p:spPr>
      </p:sp>
      <p:sp>
        <p:nvSpPr>
          <p:cNvPr id="14" name="Text 12"/>
          <p:cNvSpPr/>
          <p:nvPr/>
        </p:nvSpPr>
        <p:spPr>
          <a:xfrm>
            <a:off x="4864608" y="1115568"/>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Size</a:t>
            </a:r>
            <a:endParaRPr lang="en-US" sz="1150" dirty="0"/>
          </a:p>
        </p:txBody>
      </p:sp>
      <p:sp>
        <p:nvSpPr>
          <p:cNvPr id="15" name="Text 13"/>
          <p:cNvSpPr/>
          <p:nvPr/>
        </p:nvSpPr>
        <p:spPr>
          <a:xfrm>
            <a:off x="4864608" y="1399032"/>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DBMS occupies substantial disk space and requires large amounts of memory. The more users and data, the bigger the system required.</a:t>
            </a:r>
            <a:endParaRPr lang="en-US" sz="950" dirty="0"/>
          </a:p>
        </p:txBody>
      </p:sp>
      <p:sp>
        <p:nvSpPr>
          <p:cNvPr id="16" name="Shape 14"/>
          <p:cNvSpPr/>
          <p:nvPr/>
        </p:nvSpPr>
        <p:spPr>
          <a:xfrm>
            <a:off x="4864608" y="1810512"/>
            <a:ext cx="3895344" cy="384048"/>
          </a:xfrm>
          <a:prstGeom prst="rect">
            <a:avLst/>
          </a:prstGeom>
          <a:solidFill>
            <a:srgbClr val="FEF2F2"/>
          </a:solidFill>
          <a:ln w="12700">
            <a:solidFill>
              <a:srgbClr val="DC2626"/>
            </a:solidFill>
            <a:prstDash val="solid"/>
          </a:ln>
        </p:spPr>
      </p:sp>
      <p:sp>
        <p:nvSpPr>
          <p:cNvPr id="17" name="Text 15"/>
          <p:cNvSpPr/>
          <p:nvPr/>
        </p:nvSpPr>
        <p:spPr>
          <a:xfrm>
            <a:off x="4919472" y="1828800"/>
            <a:ext cx="3785616" cy="347472"/>
          </a:xfrm>
          <a:prstGeom prst="rect">
            <a:avLst/>
          </a:prstGeom>
          <a:noFill/>
          <a:ln/>
        </p:spPr>
        <p:txBody>
          <a:bodyPr wrap="square" lIns="0" tIns="0" rIns="0" bIns="0" rtlCol="0" anchor="ctr"/>
          <a:lstStyle/>
          <a:p>
            <a:pPr indent="0" marL="0">
              <a:buNone/>
            </a:pPr>
            <a:r>
              <a:rPr lang="en-US" sz="850" i="1" dirty="0">
                <a:solidFill>
                  <a:srgbClr val="991B1B"/>
                </a:solidFill>
                <a:latin typeface="Calibri" pitchFamily="34" charset="0"/>
                <a:ea typeface="Calibri" pitchFamily="34" charset="-122"/>
                <a:cs typeface="Calibri" pitchFamily="34" charset="-120"/>
              </a:rPr>
              <a:t>⚠ A large Oracle installation with audit logs, undo segments, and multiple databases may need terabytes of storage and 256GB RAM just to run efficiently.</a:t>
            </a:r>
            <a:endParaRPr lang="en-US" sz="850" dirty="0"/>
          </a:p>
        </p:txBody>
      </p:sp>
      <p:sp>
        <p:nvSpPr>
          <p:cNvPr id="18" name="Shape 16"/>
          <p:cNvSpPr/>
          <p:nvPr/>
        </p:nvSpPr>
        <p:spPr>
          <a:xfrm>
            <a:off x="228600" y="2386584"/>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19" name="Shape 17"/>
          <p:cNvSpPr/>
          <p:nvPr/>
        </p:nvSpPr>
        <p:spPr>
          <a:xfrm>
            <a:off x="228600" y="2386584"/>
            <a:ext cx="109728" cy="1188720"/>
          </a:xfrm>
          <a:prstGeom prst="rect">
            <a:avLst/>
          </a:prstGeom>
          <a:solidFill>
            <a:srgbClr val="DC2626"/>
          </a:solidFill>
          <a:ln w="12700">
            <a:solidFill>
              <a:srgbClr val="DC2626"/>
            </a:solidFill>
            <a:prstDash val="solid"/>
          </a:ln>
        </p:spPr>
      </p:sp>
      <p:sp>
        <p:nvSpPr>
          <p:cNvPr id="20" name="Text 18"/>
          <p:cNvSpPr/>
          <p:nvPr/>
        </p:nvSpPr>
        <p:spPr>
          <a:xfrm>
            <a:off x="429768" y="2450592"/>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Cost of DBMSs</a:t>
            </a:r>
            <a:endParaRPr lang="en-US" sz="1150" dirty="0"/>
          </a:p>
        </p:txBody>
      </p:sp>
      <p:sp>
        <p:nvSpPr>
          <p:cNvPr id="21" name="Text 19"/>
          <p:cNvSpPr/>
          <p:nvPr/>
        </p:nvSpPr>
        <p:spPr>
          <a:xfrm>
            <a:off x="429768" y="2734056"/>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Multi-user enterprise DBMSs can cost $100,000 to $1,000,000+ in licence fees, plus annual maintenance (typically 20–22% of list price per year).</a:t>
            </a:r>
            <a:endParaRPr lang="en-US" sz="950" dirty="0"/>
          </a:p>
        </p:txBody>
      </p:sp>
      <p:sp>
        <p:nvSpPr>
          <p:cNvPr id="22" name="Shape 20"/>
          <p:cNvSpPr/>
          <p:nvPr/>
        </p:nvSpPr>
        <p:spPr>
          <a:xfrm>
            <a:off x="429768" y="3145536"/>
            <a:ext cx="3895344" cy="384048"/>
          </a:xfrm>
          <a:prstGeom prst="rect">
            <a:avLst/>
          </a:prstGeom>
          <a:solidFill>
            <a:srgbClr val="FEF2F2"/>
          </a:solidFill>
          <a:ln w="12700">
            <a:solidFill>
              <a:srgbClr val="DC2626"/>
            </a:solidFill>
            <a:prstDash val="solid"/>
          </a:ln>
        </p:spPr>
      </p:sp>
      <p:sp>
        <p:nvSpPr>
          <p:cNvPr id="23" name="Text 21"/>
          <p:cNvSpPr/>
          <p:nvPr/>
        </p:nvSpPr>
        <p:spPr>
          <a:xfrm>
            <a:off x="484632" y="3163824"/>
            <a:ext cx="3785616" cy="347472"/>
          </a:xfrm>
          <a:prstGeom prst="rect">
            <a:avLst/>
          </a:prstGeom>
          <a:noFill/>
          <a:ln/>
        </p:spPr>
        <p:txBody>
          <a:bodyPr wrap="square" lIns="0" tIns="0" rIns="0" bIns="0" rtlCol="0" anchor="ctr"/>
          <a:lstStyle/>
          <a:p>
            <a:pPr indent="0" marL="0">
              <a:buNone/>
            </a:pPr>
            <a:r>
              <a:rPr lang="en-US" sz="850" i="1" dirty="0">
                <a:solidFill>
                  <a:srgbClr val="991B1B"/>
                </a:solidFill>
                <a:latin typeface="Calibri" pitchFamily="34" charset="0"/>
                <a:ea typeface="Calibri" pitchFamily="34" charset="-122"/>
                <a:cs typeface="Calibri" pitchFamily="34" charset="-120"/>
              </a:rPr>
              <a:t>⚠ DreamHome evaluates Oracle Enterprise at $47,500 per CPU vs. PostgreSQL at $0. For a 50-branch rollout, this is a very significant budget difference.</a:t>
            </a:r>
            <a:endParaRPr lang="en-US" sz="850" dirty="0"/>
          </a:p>
        </p:txBody>
      </p:sp>
      <p:sp>
        <p:nvSpPr>
          <p:cNvPr id="24" name="Shape 22"/>
          <p:cNvSpPr/>
          <p:nvPr/>
        </p:nvSpPr>
        <p:spPr>
          <a:xfrm>
            <a:off x="4663440" y="2386584"/>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25" name="Shape 23"/>
          <p:cNvSpPr/>
          <p:nvPr/>
        </p:nvSpPr>
        <p:spPr>
          <a:xfrm>
            <a:off x="4663440" y="2386584"/>
            <a:ext cx="109728" cy="1188720"/>
          </a:xfrm>
          <a:prstGeom prst="rect">
            <a:avLst/>
          </a:prstGeom>
          <a:solidFill>
            <a:srgbClr val="DC2626"/>
          </a:solidFill>
          <a:ln w="12700">
            <a:solidFill>
              <a:srgbClr val="DC2626"/>
            </a:solidFill>
            <a:prstDash val="solid"/>
          </a:ln>
        </p:spPr>
      </p:sp>
      <p:sp>
        <p:nvSpPr>
          <p:cNvPr id="26" name="Text 24"/>
          <p:cNvSpPr/>
          <p:nvPr/>
        </p:nvSpPr>
        <p:spPr>
          <a:xfrm>
            <a:off x="4864608" y="2450592"/>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Hardware &amp; Conversion Costs</a:t>
            </a:r>
            <a:endParaRPr lang="en-US" sz="1150" dirty="0"/>
          </a:p>
        </p:txBody>
      </p:sp>
      <p:sp>
        <p:nvSpPr>
          <p:cNvPr id="27" name="Text 25"/>
          <p:cNvSpPr/>
          <p:nvPr/>
        </p:nvSpPr>
        <p:spPr>
          <a:xfrm>
            <a:off x="4864608" y="2734056"/>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Additional servers and storage may be needed. Converting existing file-based systems is expensive — staff retraining and specialist consultants add significantly to costs.</a:t>
            </a:r>
            <a:endParaRPr lang="en-US" sz="950" dirty="0"/>
          </a:p>
        </p:txBody>
      </p:sp>
      <p:sp>
        <p:nvSpPr>
          <p:cNvPr id="28" name="Shape 26"/>
          <p:cNvSpPr/>
          <p:nvPr/>
        </p:nvSpPr>
        <p:spPr>
          <a:xfrm>
            <a:off x="4864608" y="3145536"/>
            <a:ext cx="3895344" cy="384048"/>
          </a:xfrm>
          <a:prstGeom prst="rect">
            <a:avLst/>
          </a:prstGeom>
          <a:solidFill>
            <a:srgbClr val="FEF2F2"/>
          </a:solidFill>
          <a:ln w="12700">
            <a:solidFill>
              <a:srgbClr val="DC2626"/>
            </a:solidFill>
            <a:prstDash val="solid"/>
          </a:ln>
        </p:spPr>
      </p:sp>
      <p:sp>
        <p:nvSpPr>
          <p:cNvPr id="29" name="Text 27"/>
          <p:cNvSpPr/>
          <p:nvPr/>
        </p:nvSpPr>
        <p:spPr>
          <a:xfrm>
            <a:off x="4919472" y="3163824"/>
            <a:ext cx="3785616" cy="347472"/>
          </a:xfrm>
          <a:prstGeom prst="rect">
            <a:avLst/>
          </a:prstGeom>
          <a:noFill/>
          <a:ln/>
        </p:spPr>
        <p:txBody>
          <a:bodyPr wrap="square" lIns="0" tIns="0" rIns="0" bIns="0" rtlCol="0" anchor="ctr"/>
          <a:lstStyle/>
          <a:p>
            <a:pPr indent="0" marL="0">
              <a:buNone/>
            </a:pPr>
            <a:r>
              <a:rPr lang="en-US" sz="850" i="1" dirty="0">
                <a:solidFill>
                  <a:srgbClr val="991B1B"/>
                </a:solidFill>
                <a:latin typeface="Calibri" pitchFamily="34" charset="0"/>
                <a:ea typeface="Calibri" pitchFamily="34" charset="-122"/>
                <a:cs typeface="Calibri" pitchFamily="34" charset="-120"/>
              </a:rPr>
              <a:t>⚠ A bank converting 30-year-old COBOL file systems to Oracle may spend more on conversion consultants and data migration than on the DBMS licence itself.</a:t>
            </a:r>
            <a:endParaRPr lang="en-US" sz="850" dirty="0"/>
          </a:p>
        </p:txBody>
      </p:sp>
      <p:sp>
        <p:nvSpPr>
          <p:cNvPr id="30" name="Shape 28"/>
          <p:cNvSpPr/>
          <p:nvPr/>
        </p:nvSpPr>
        <p:spPr>
          <a:xfrm>
            <a:off x="228600" y="3721608"/>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31" name="Shape 29"/>
          <p:cNvSpPr/>
          <p:nvPr/>
        </p:nvSpPr>
        <p:spPr>
          <a:xfrm>
            <a:off x="228600" y="3721608"/>
            <a:ext cx="109728" cy="1188720"/>
          </a:xfrm>
          <a:prstGeom prst="rect">
            <a:avLst/>
          </a:prstGeom>
          <a:solidFill>
            <a:srgbClr val="DC2626"/>
          </a:solidFill>
          <a:ln w="12700">
            <a:solidFill>
              <a:srgbClr val="DC2626"/>
            </a:solidFill>
            <a:prstDash val="solid"/>
          </a:ln>
        </p:spPr>
      </p:sp>
      <p:sp>
        <p:nvSpPr>
          <p:cNvPr id="32" name="Text 30"/>
          <p:cNvSpPr/>
          <p:nvPr/>
        </p:nvSpPr>
        <p:spPr>
          <a:xfrm>
            <a:off x="429768" y="3785616"/>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Performance</a:t>
            </a:r>
            <a:endParaRPr lang="en-US" sz="1150" dirty="0"/>
          </a:p>
        </p:txBody>
      </p:sp>
      <p:sp>
        <p:nvSpPr>
          <p:cNvPr id="33" name="Text 31"/>
          <p:cNvSpPr/>
          <p:nvPr/>
        </p:nvSpPr>
        <p:spPr>
          <a:xfrm>
            <a:off x="429768" y="4069080"/>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 general-purpose DBMS adds overhead vs. a file system built for one task. High-frequency or simple applications may actually run slower with a DBMS.</a:t>
            </a:r>
            <a:endParaRPr lang="en-US" sz="950" dirty="0"/>
          </a:p>
        </p:txBody>
      </p:sp>
      <p:sp>
        <p:nvSpPr>
          <p:cNvPr id="34" name="Shape 32"/>
          <p:cNvSpPr/>
          <p:nvPr/>
        </p:nvSpPr>
        <p:spPr>
          <a:xfrm>
            <a:off x="429768" y="4480560"/>
            <a:ext cx="3895344" cy="384048"/>
          </a:xfrm>
          <a:prstGeom prst="rect">
            <a:avLst/>
          </a:prstGeom>
          <a:solidFill>
            <a:srgbClr val="FEF2F2"/>
          </a:solidFill>
          <a:ln w="12700">
            <a:solidFill>
              <a:srgbClr val="DC2626"/>
            </a:solidFill>
            <a:prstDash val="solid"/>
          </a:ln>
        </p:spPr>
      </p:sp>
      <p:sp>
        <p:nvSpPr>
          <p:cNvPr id="35" name="Text 33"/>
          <p:cNvSpPr/>
          <p:nvPr/>
        </p:nvSpPr>
        <p:spPr>
          <a:xfrm>
            <a:off x="484632" y="4498848"/>
            <a:ext cx="3785616" cy="347472"/>
          </a:xfrm>
          <a:prstGeom prst="rect">
            <a:avLst/>
          </a:prstGeom>
          <a:noFill/>
          <a:ln/>
        </p:spPr>
        <p:txBody>
          <a:bodyPr wrap="square" lIns="0" tIns="0" rIns="0" bIns="0" rtlCol="0" anchor="ctr"/>
          <a:lstStyle/>
          <a:p>
            <a:pPr indent="0" marL="0">
              <a:buNone/>
            </a:pPr>
            <a:r>
              <a:rPr lang="en-US" sz="850" i="1" dirty="0">
                <a:solidFill>
                  <a:srgbClr val="991B1B"/>
                </a:solidFill>
                <a:latin typeface="Calibri" pitchFamily="34" charset="0"/>
                <a:ea typeface="Calibri" pitchFamily="34" charset="-122"/>
                <a:cs typeface="Calibri" pitchFamily="34" charset="-120"/>
              </a:rPr>
              <a:t>⚠ A simple invoicing system with flat files ran in 2ms per transaction. After moving to Oracle with full ACID compliance and audit logging, it runs in 8ms.</a:t>
            </a:r>
            <a:endParaRPr lang="en-US" sz="850" dirty="0"/>
          </a:p>
        </p:txBody>
      </p:sp>
      <p:sp>
        <p:nvSpPr>
          <p:cNvPr id="36" name="Shape 34"/>
          <p:cNvSpPr/>
          <p:nvPr/>
        </p:nvSpPr>
        <p:spPr>
          <a:xfrm>
            <a:off x="4663440" y="3721608"/>
            <a:ext cx="4206240" cy="118872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9000"/>
              </a:srgbClr>
            </a:outerShdw>
          </a:effectLst>
        </p:spPr>
      </p:sp>
      <p:sp>
        <p:nvSpPr>
          <p:cNvPr id="37" name="Shape 35"/>
          <p:cNvSpPr/>
          <p:nvPr/>
        </p:nvSpPr>
        <p:spPr>
          <a:xfrm>
            <a:off x="4663440" y="3721608"/>
            <a:ext cx="109728" cy="1188720"/>
          </a:xfrm>
          <a:prstGeom prst="rect">
            <a:avLst/>
          </a:prstGeom>
          <a:solidFill>
            <a:srgbClr val="DC2626"/>
          </a:solidFill>
          <a:ln w="12700">
            <a:solidFill>
              <a:srgbClr val="DC2626"/>
            </a:solidFill>
            <a:prstDash val="solid"/>
          </a:ln>
        </p:spPr>
      </p:sp>
      <p:sp>
        <p:nvSpPr>
          <p:cNvPr id="38" name="Text 36"/>
          <p:cNvSpPr/>
          <p:nvPr/>
        </p:nvSpPr>
        <p:spPr>
          <a:xfrm>
            <a:off x="4864608" y="3785616"/>
            <a:ext cx="3895344"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  Greater Impact of Failure</a:t>
            </a:r>
            <a:endParaRPr lang="en-US" sz="1150" dirty="0"/>
          </a:p>
        </p:txBody>
      </p:sp>
      <p:sp>
        <p:nvSpPr>
          <p:cNvPr id="39" name="Text 37"/>
          <p:cNvSpPr/>
          <p:nvPr/>
        </p:nvSpPr>
        <p:spPr>
          <a:xfrm>
            <a:off x="4864608" y="4069080"/>
            <a:ext cx="3895344" cy="384048"/>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Centralising all data increases risk. A single DBMS failure immediately affects EVERY user and EVERY application — no department can work independently.</a:t>
            </a:r>
            <a:endParaRPr lang="en-US" sz="950" dirty="0"/>
          </a:p>
        </p:txBody>
      </p:sp>
      <p:sp>
        <p:nvSpPr>
          <p:cNvPr id="40" name="Shape 38"/>
          <p:cNvSpPr/>
          <p:nvPr/>
        </p:nvSpPr>
        <p:spPr>
          <a:xfrm>
            <a:off x="4864608" y="4480560"/>
            <a:ext cx="3895344" cy="384048"/>
          </a:xfrm>
          <a:prstGeom prst="rect">
            <a:avLst/>
          </a:prstGeom>
          <a:solidFill>
            <a:srgbClr val="FEF2F2"/>
          </a:solidFill>
          <a:ln w="12700">
            <a:solidFill>
              <a:srgbClr val="DC2626"/>
            </a:solidFill>
            <a:prstDash val="solid"/>
          </a:ln>
        </p:spPr>
      </p:sp>
      <p:sp>
        <p:nvSpPr>
          <p:cNvPr id="41" name="Text 39"/>
          <p:cNvSpPr/>
          <p:nvPr/>
        </p:nvSpPr>
        <p:spPr>
          <a:xfrm>
            <a:off x="4919472" y="4498848"/>
            <a:ext cx="3785616" cy="347472"/>
          </a:xfrm>
          <a:prstGeom prst="rect">
            <a:avLst/>
          </a:prstGeom>
          <a:noFill/>
          <a:ln/>
        </p:spPr>
        <p:txBody>
          <a:bodyPr wrap="square" lIns="0" tIns="0" rIns="0" bIns="0" rtlCol="0" anchor="ctr"/>
          <a:lstStyle/>
          <a:p>
            <a:pPr indent="0" marL="0">
              <a:buNone/>
            </a:pPr>
            <a:r>
              <a:rPr lang="en-US" sz="850" i="1" dirty="0">
                <a:solidFill>
                  <a:srgbClr val="991B1B"/>
                </a:solidFill>
                <a:latin typeface="Calibri" pitchFamily="34" charset="0"/>
                <a:ea typeface="Calibri" pitchFamily="34" charset="-122"/>
                <a:cs typeface="Calibri" pitchFamily="34" charset="-120"/>
              </a:rPr>
              <a:t>⚠ DreamHome's Oracle server goes down. ALL 50 branches simultaneously lose access to properties, clients, leases, and staff records until the server recovers.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9669"/>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FFFF"/>
          </a:solidFill>
          <a:ln w="12700">
            <a:solidFill>
              <a:srgbClr val="FFFFFF"/>
            </a:solidFill>
            <a:prstDash val="solid"/>
          </a:ln>
        </p:spPr>
      </p:sp>
      <p:sp>
        <p:nvSpPr>
          <p:cNvPr id="3" name="Shape 1"/>
          <p:cNvSpPr/>
          <p:nvPr/>
        </p:nvSpPr>
        <p:spPr>
          <a:xfrm>
            <a:off x="0" y="5079492"/>
            <a:ext cx="9144000" cy="64008"/>
          </a:xfrm>
          <a:prstGeom prst="rect">
            <a:avLst/>
          </a:prstGeom>
          <a:solidFill>
            <a:srgbClr val="FFFFFF"/>
          </a:solidFill>
          <a:ln w="12700">
            <a:solidFill>
              <a:srgbClr val="FFFFFF"/>
            </a:solidFill>
            <a:prstDash val="solid"/>
          </a:ln>
        </p:spPr>
      </p:sp>
      <p:sp>
        <p:nvSpPr>
          <p:cNvPr id="4" name="Shape 2"/>
          <p:cNvSpPr/>
          <p:nvPr/>
        </p:nvSpPr>
        <p:spPr>
          <a:xfrm>
            <a:off x="548640" y="1371600"/>
            <a:ext cx="1828800" cy="1828800"/>
          </a:xfrm>
          <a:prstGeom prst="ellipse">
            <a:avLst/>
          </a:prstGeom>
          <a:solidFill>
            <a:srgbClr val="FFFFFF"/>
          </a:solidFill>
          <a:ln w="12700">
            <a:solidFill>
              <a:srgbClr val="FFFFFF"/>
            </a:solidFill>
            <a:prstDash val="solid"/>
          </a:ln>
        </p:spPr>
      </p:sp>
      <p:sp>
        <p:nvSpPr>
          <p:cNvPr id="5" name="Text 3"/>
          <p:cNvSpPr/>
          <p:nvPr/>
        </p:nvSpPr>
        <p:spPr>
          <a:xfrm>
            <a:off x="548640" y="1371600"/>
            <a:ext cx="1828800" cy="1828800"/>
          </a:xfrm>
          <a:prstGeom prst="rect">
            <a:avLst/>
          </a:prstGeom>
          <a:noFill/>
          <a:ln/>
        </p:spPr>
        <p:txBody>
          <a:bodyPr wrap="square" lIns="0" tIns="0" rIns="0" bIns="0" rtlCol="0" anchor="ctr"/>
          <a:lstStyle/>
          <a:p>
            <a:pPr algn="ctr" indent="0" marL="0">
              <a:buNone/>
            </a:pPr>
            <a:r>
              <a:rPr lang="en-US" sz="2800" b="1" dirty="0">
                <a:solidFill>
                  <a:srgbClr val="059669"/>
                </a:solidFill>
                <a:latin typeface="Georgia" pitchFamily="34" charset="0"/>
                <a:ea typeface="Georgia" pitchFamily="34" charset="-122"/>
                <a:cs typeface="Georgia" pitchFamily="34" charset="-120"/>
              </a:rPr>
              <a:t>LO 5</a:t>
            </a:r>
            <a:endParaRPr lang="en-US" sz="2800" dirty="0"/>
          </a:p>
        </p:txBody>
      </p:sp>
      <p:sp>
        <p:nvSpPr>
          <p:cNvPr id="6" name="Text 4"/>
          <p:cNvSpPr/>
          <p:nvPr/>
        </p:nvSpPr>
        <p:spPr>
          <a:xfrm>
            <a:off x="2743200" y="1371600"/>
            <a:ext cx="6126480" cy="128016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Real-World Scenario:</a:t>
            </a:r>
            <a:endParaRPr lang="en-US" sz="3400" dirty="0"/>
          </a:p>
          <a:p>
            <a:pPr indent="0" marL="0">
              <a:buNone/>
            </a:pPr>
            <a:r>
              <a:rPr lang="en-US" sz="3400" b="1" dirty="0">
                <a:solidFill>
                  <a:srgbClr val="FFFFFF"/>
                </a:solidFill>
                <a:latin typeface="Georgia" pitchFamily="34" charset="0"/>
                <a:ea typeface="Georgia" pitchFamily="34" charset="-122"/>
                <a:cs typeface="Georgia" pitchFamily="34" charset="-120"/>
              </a:rPr>
              <a:t>DreamHome</a:t>
            </a:r>
            <a:endParaRPr lang="en-US" sz="3400" dirty="0"/>
          </a:p>
        </p:txBody>
      </p:sp>
      <p:sp>
        <p:nvSpPr>
          <p:cNvPr id="7" name="Text 5"/>
          <p:cNvSpPr/>
          <p:nvPr/>
        </p:nvSpPr>
        <p:spPr>
          <a:xfrm>
            <a:off x="2743200" y="2743200"/>
            <a:ext cx="6126480" cy="731520"/>
          </a:xfrm>
          <a:prstGeom prst="rect">
            <a:avLst/>
          </a:prstGeom>
          <a:noFill/>
          <a:ln/>
        </p:spPr>
        <p:txBody>
          <a:bodyPr wrap="square" lIns="0" tIns="0" rIns="0" bIns="0" rtlCol="0" anchor="ctr"/>
          <a:lstStyle/>
          <a:p>
            <a:pPr indent="0" marL="0">
              <a:buNone/>
            </a:pPr>
            <a:r>
              <a:rPr lang="en-US" sz="1500" dirty="0">
                <a:solidFill>
                  <a:srgbClr val="D1FAE5"/>
                </a:solidFill>
                <a:latin typeface="Calibri" pitchFamily="34" charset="0"/>
                <a:ea typeface="Calibri" pitchFamily="34" charset="-122"/>
                <a:cs typeface="Calibri" pitchFamily="34" charset="-120"/>
              </a:rPr>
              <a:t>Walk through a complete database scenario from problem to DBMS solution.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59669"/>
          </a:solidFill>
          <a:ln w="12700">
            <a:solidFill>
              <a:srgbClr val="059669"/>
            </a:solidFill>
            <a:prstDash val="solid"/>
          </a:ln>
        </p:spPr>
      </p:sp>
      <p:sp>
        <p:nvSpPr>
          <p:cNvPr id="3" name="Shape 1"/>
          <p:cNvSpPr/>
          <p:nvPr/>
        </p:nvSpPr>
        <p:spPr>
          <a:xfrm>
            <a:off x="0" y="73152"/>
            <a:ext cx="9144000" cy="384048"/>
          </a:xfrm>
          <a:prstGeom prst="rect">
            <a:avLst/>
          </a:prstGeom>
          <a:solidFill>
            <a:srgbClr val="059669"/>
          </a:solidFill>
          <a:ln w="12700">
            <a:solidFill>
              <a:srgbClr val="059669"/>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D1FAE5"/>
                </a:solidFill>
                <a:latin typeface="Calibri" pitchFamily="34" charset="0"/>
                <a:ea typeface="Calibri" pitchFamily="34" charset="-122"/>
                <a:cs typeface="Calibri" pitchFamily="34" charset="-120"/>
              </a:rPr>
              <a:t>LO 5  —  Real-World Scenario: DreamHome</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DreamHome Property Management — The Scenario</a:t>
            </a:r>
            <a:endParaRPr lang="en-US" sz="2200" dirty="0"/>
          </a:p>
        </p:txBody>
      </p:sp>
      <p:sp>
        <p:nvSpPr>
          <p:cNvPr id="6" name="Shape 4"/>
          <p:cNvSpPr/>
          <p:nvPr/>
        </p:nvSpPr>
        <p:spPr>
          <a:xfrm>
            <a:off x="274320" y="1051560"/>
            <a:ext cx="8595360" cy="475488"/>
          </a:xfrm>
          <a:prstGeom prst="rect">
            <a:avLst/>
          </a:prstGeom>
          <a:solidFill>
            <a:srgbClr val="F0FDF4"/>
          </a:solidFill>
          <a:ln w="12700">
            <a:solidFill>
              <a:srgbClr val="059669"/>
            </a:solidFill>
            <a:prstDash val="solid"/>
          </a:ln>
        </p:spPr>
      </p:sp>
      <p:sp>
        <p:nvSpPr>
          <p:cNvPr id="7" name="Text 5"/>
          <p:cNvSpPr/>
          <p:nvPr/>
        </p:nvSpPr>
        <p:spPr>
          <a:xfrm>
            <a:off x="411480" y="1069848"/>
            <a:ext cx="8321040" cy="438912"/>
          </a:xfrm>
          <a:prstGeom prst="rect">
            <a:avLst/>
          </a:prstGeom>
          <a:noFill/>
          <a:ln/>
        </p:spPr>
        <p:txBody>
          <a:bodyPr wrap="square" lIns="0" tIns="0" rIns="0" bIns="0" rtlCol="0" anchor="ctr"/>
          <a:lstStyle/>
          <a:p>
            <a:pPr indent="0" marL="0">
              <a:buNone/>
            </a:pPr>
            <a:r>
              <a:rPr lang="en-US" sz="1050" dirty="0">
                <a:solidFill>
                  <a:srgbClr val="14532D"/>
                </a:solidFill>
                <a:latin typeface="Calibri" pitchFamily="34" charset="0"/>
                <a:ea typeface="Calibri" pitchFamily="34" charset="-122"/>
                <a:cs typeface="Calibri" pitchFamily="34" charset="-120"/>
              </a:rPr>
              <a:t>DreamHome is a property management company with 50 UK branches. Before the DBMS: Sales, Contracts, HR, and Payroll each maintained separate files — causing data duplication, inconsistencies, and no cross-department visibility. After implementing a DBMS: one integrated database serves all departments.</a:t>
            </a:r>
            <a:endParaRPr lang="en-US" sz="1050" dirty="0"/>
          </a:p>
        </p:txBody>
      </p:sp>
      <p:sp>
        <p:nvSpPr>
          <p:cNvPr id="8" name="Text 6"/>
          <p:cNvSpPr/>
          <p:nvPr/>
        </p:nvSpPr>
        <p:spPr>
          <a:xfrm>
            <a:off x="274320" y="1618488"/>
            <a:ext cx="822960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6 Entities in the DreamHome Database:</a:t>
            </a:r>
            <a:endParaRPr lang="en-US" sz="1300" dirty="0"/>
          </a:p>
        </p:txBody>
      </p:sp>
      <p:sp>
        <p:nvSpPr>
          <p:cNvPr id="9" name="Shape 7"/>
          <p:cNvSpPr/>
          <p:nvPr/>
        </p:nvSpPr>
        <p:spPr>
          <a:xfrm>
            <a:off x="228600" y="1965960"/>
            <a:ext cx="2743200" cy="1325880"/>
          </a:xfrm>
          <a:prstGeom prst="rect">
            <a:avLst/>
          </a:prstGeom>
          <a:solidFill>
            <a:srgbClr val="FFFFFF"/>
          </a:solidFill>
          <a:ln w="12700">
            <a:solidFill>
              <a:srgbClr val="1B3A6B"/>
            </a:solidFill>
            <a:prstDash val="solid"/>
          </a:ln>
        </p:spPr>
      </p:sp>
      <p:sp>
        <p:nvSpPr>
          <p:cNvPr id="10" name="Shape 8"/>
          <p:cNvSpPr/>
          <p:nvPr/>
        </p:nvSpPr>
        <p:spPr>
          <a:xfrm>
            <a:off x="228600" y="1965960"/>
            <a:ext cx="2743200" cy="292608"/>
          </a:xfrm>
          <a:prstGeom prst="rect">
            <a:avLst/>
          </a:prstGeom>
          <a:solidFill>
            <a:srgbClr val="1B3A6B"/>
          </a:solidFill>
          <a:ln w="12700">
            <a:solidFill>
              <a:srgbClr val="1B3A6B"/>
            </a:solidFill>
            <a:prstDash val="solid"/>
          </a:ln>
        </p:spPr>
      </p:sp>
      <p:sp>
        <p:nvSpPr>
          <p:cNvPr id="11" name="Text 9"/>
          <p:cNvSpPr/>
          <p:nvPr/>
        </p:nvSpPr>
        <p:spPr>
          <a:xfrm>
            <a:off x="320040" y="2002536"/>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Branch</a:t>
            </a:r>
            <a:endParaRPr lang="en-US" sz="1200" dirty="0"/>
          </a:p>
        </p:txBody>
      </p:sp>
      <p:sp>
        <p:nvSpPr>
          <p:cNvPr id="12" name="Text 10"/>
          <p:cNvSpPr/>
          <p:nvPr/>
        </p:nvSpPr>
        <p:spPr>
          <a:xfrm>
            <a:off x="320040" y="2313432"/>
            <a:ext cx="2578608" cy="47548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Fields: branchNo, street, city, postcode, phone</a:t>
            </a:r>
            <a:endParaRPr lang="en-US" sz="850" dirty="0"/>
          </a:p>
        </p:txBody>
      </p:sp>
      <p:sp>
        <p:nvSpPr>
          <p:cNvPr id="13" name="Shape 11"/>
          <p:cNvSpPr/>
          <p:nvPr/>
        </p:nvSpPr>
        <p:spPr>
          <a:xfrm>
            <a:off x="301752" y="2825496"/>
            <a:ext cx="2596896" cy="402336"/>
          </a:xfrm>
          <a:prstGeom prst="rect">
            <a:avLst/>
          </a:prstGeom>
          <a:solidFill>
            <a:srgbClr val="F0FDF4"/>
          </a:solidFill>
          <a:ln w="12700">
            <a:solidFill>
              <a:srgbClr val="1B3A6B"/>
            </a:solidFill>
            <a:prstDash val="solid"/>
          </a:ln>
        </p:spPr>
      </p:sp>
      <p:sp>
        <p:nvSpPr>
          <p:cNvPr id="14" name="Text 12"/>
          <p:cNvSpPr/>
          <p:nvPr/>
        </p:nvSpPr>
        <p:spPr>
          <a:xfrm>
            <a:off x="338328" y="2843784"/>
            <a:ext cx="2523744" cy="365760"/>
          </a:xfrm>
          <a:prstGeom prst="rect">
            <a:avLst/>
          </a:prstGeom>
          <a:noFill/>
          <a:ln/>
        </p:spPr>
        <p:txBody>
          <a:bodyPr wrap="square" lIns="0" tIns="0" rIns="0" bIns="0" rtlCol="0" anchor="ctr"/>
          <a:lstStyle/>
          <a:p>
            <a:pPr indent="0" marL="0">
              <a:buNone/>
            </a:pPr>
            <a:r>
              <a:rPr lang="en-US" sz="850" i="1" dirty="0">
                <a:solidFill>
                  <a:srgbClr val="14532D"/>
                </a:solidFill>
                <a:latin typeface="Calibri" pitchFamily="34" charset="0"/>
                <a:ea typeface="Calibri" pitchFamily="34" charset="-122"/>
                <a:cs typeface="Calibri" pitchFamily="34" charset="-120"/>
              </a:rPr>
              <a:t>A branch has many staff members.</a:t>
            </a:r>
            <a:endParaRPr lang="en-US" sz="850" dirty="0"/>
          </a:p>
        </p:txBody>
      </p:sp>
      <p:sp>
        <p:nvSpPr>
          <p:cNvPr id="15" name="Shape 13"/>
          <p:cNvSpPr/>
          <p:nvPr/>
        </p:nvSpPr>
        <p:spPr>
          <a:xfrm>
            <a:off x="3154680" y="1965960"/>
            <a:ext cx="2743200" cy="1325880"/>
          </a:xfrm>
          <a:prstGeom prst="rect">
            <a:avLst/>
          </a:prstGeom>
          <a:solidFill>
            <a:srgbClr val="FFFFFF"/>
          </a:solidFill>
          <a:ln w="12700">
            <a:solidFill>
              <a:srgbClr val="0D6B8A"/>
            </a:solidFill>
            <a:prstDash val="solid"/>
          </a:ln>
        </p:spPr>
      </p:sp>
      <p:sp>
        <p:nvSpPr>
          <p:cNvPr id="16" name="Shape 14"/>
          <p:cNvSpPr/>
          <p:nvPr/>
        </p:nvSpPr>
        <p:spPr>
          <a:xfrm>
            <a:off x="3154680" y="1965960"/>
            <a:ext cx="2743200" cy="292608"/>
          </a:xfrm>
          <a:prstGeom prst="rect">
            <a:avLst/>
          </a:prstGeom>
          <a:solidFill>
            <a:srgbClr val="0D6B8A"/>
          </a:solidFill>
          <a:ln w="12700">
            <a:solidFill>
              <a:srgbClr val="0D6B8A"/>
            </a:solidFill>
            <a:prstDash val="solid"/>
          </a:ln>
        </p:spPr>
      </p:sp>
      <p:sp>
        <p:nvSpPr>
          <p:cNvPr id="17" name="Text 15"/>
          <p:cNvSpPr/>
          <p:nvPr/>
        </p:nvSpPr>
        <p:spPr>
          <a:xfrm>
            <a:off x="3246120" y="2002536"/>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Staff</a:t>
            </a:r>
            <a:endParaRPr lang="en-US" sz="1200" dirty="0"/>
          </a:p>
        </p:txBody>
      </p:sp>
      <p:sp>
        <p:nvSpPr>
          <p:cNvPr id="18" name="Text 16"/>
          <p:cNvSpPr/>
          <p:nvPr/>
        </p:nvSpPr>
        <p:spPr>
          <a:xfrm>
            <a:off x="3246120" y="2313432"/>
            <a:ext cx="2578608" cy="47548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Fields: staffNo, fName, lName, position, sex, dob, salary, branchNo</a:t>
            </a:r>
            <a:endParaRPr lang="en-US" sz="850" dirty="0"/>
          </a:p>
        </p:txBody>
      </p:sp>
      <p:sp>
        <p:nvSpPr>
          <p:cNvPr id="19" name="Shape 17"/>
          <p:cNvSpPr/>
          <p:nvPr/>
        </p:nvSpPr>
        <p:spPr>
          <a:xfrm>
            <a:off x="3227832" y="2825496"/>
            <a:ext cx="2596896" cy="402336"/>
          </a:xfrm>
          <a:prstGeom prst="rect">
            <a:avLst/>
          </a:prstGeom>
          <a:solidFill>
            <a:srgbClr val="F0FDF4"/>
          </a:solidFill>
          <a:ln w="12700">
            <a:solidFill>
              <a:srgbClr val="0D6B8A"/>
            </a:solidFill>
            <a:prstDash val="solid"/>
          </a:ln>
        </p:spPr>
      </p:sp>
      <p:sp>
        <p:nvSpPr>
          <p:cNvPr id="20" name="Text 18"/>
          <p:cNvSpPr/>
          <p:nvPr/>
        </p:nvSpPr>
        <p:spPr>
          <a:xfrm>
            <a:off x="3264408" y="2843784"/>
            <a:ext cx="2523744" cy="365760"/>
          </a:xfrm>
          <a:prstGeom prst="rect">
            <a:avLst/>
          </a:prstGeom>
          <a:noFill/>
          <a:ln/>
        </p:spPr>
        <p:txBody>
          <a:bodyPr wrap="square" lIns="0" tIns="0" rIns="0" bIns="0" rtlCol="0" anchor="ctr"/>
          <a:lstStyle/>
          <a:p>
            <a:pPr indent="0" marL="0">
              <a:buNone/>
            </a:pPr>
            <a:r>
              <a:rPr lang="en-US" sz="850" i="1" dirty="0">
                <a:solidFill>
                  <a:srgbClr val="14532D"/>
                </a:solidFill>
                <a:latin typeface="Calibri" pitchFamily="34" charset="0"/>
                <a:ea typeface="Calibri" pitchFamily="34" charset="-122"/>
                <a:cs typeface="Calibri" pitchFamily="34" charset="-120"/>
              </a:rPr>
              <a:t>Staff manage properties; overseen by a branch.</a:t>
            </a:r>
            <a:endParaRPr lang="en-US" sz="850" dirty="0"/>
          </a:p>
        </p:txBody>
      </p:sp>
      <p:sp>
        <p:nvSpPr>
          <p:cNvPr id="21" name="Shape 19"/>
          <p:cNvSpPr/>
          <p:nvPr/>
        </p:nvSpPr>
        <p:spPr>
          <a:xfrm>
            <a:off x="6080760" y="1965960"/>
            <a:ext cx="2743200" cy="1325880"/>
          </a:xfrm>
          <a:prstGeom prst="rect">
            <a:avLst/>
          </a:prstGeom>
          <a:solidFill>
            <a:srgbClr val="FFFFFF"/>
          </a:solidFill>
          <a:ln w="12700">
            <a:solidFill>
              <a:srgbClr val="0D9488"/>
            </a:solidFill>
            <a:prstDash val="solid"/>
          </a:ln>
        </p:spPr>
      </p:sp>
      <p:sp>
        <p:nvSpPr>
          <p:cNvPr id="22" name="Shape 20"/>
          <p:cNvSpPr/>
          <p:nvPr/>
        </p:nvSpPr>
        <p:spPr>
          <a:xfrm>
            <a:off x="6080760" y="1965960"/>
            <a:ext cx="2743200" cy="292608"/>
          </a:xfrm>
          <a:prstGeom prst="rect">
            <a:avLst/>
          </a:prstGeom>
          <a:solidFill>
            <a:srgbClr val="0D9488"/>
          </a:solidFill>
          <a:ln w="12700">
            <a:solidFill>
              <a:srgbClr val="0D9488"/>
            </a:solidFill>
            <a:prstDash val="solid"/>
          </a:ln>
        </p:spPr>
      </p:sp>
      <p:sp>
        <p:nvSpPr>
          <p:cNvPr id="23" name="Text 21"/>
          <p:cNvSpPr/>
          <p:nvPr/>
        </p:nvSpPr>
        <p:spPr>
          <a:xfrm>
            <a:off x="6172200" y="2002536"/>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PropertyForRent</a:t>
            </a:r>
            <a:endParaRPr lang="en-US" sz="1200" dirty="0"/>
          </a:p>
        </p:txBody>
      </p:sp>
      <p:sp>
        <p:nvSpPr>
          <p:cNvPr id="24" name="Text 22"/>
          <p:cNvSpPr/>
          <p:nvPr/>
        </p:nvSpPr>
        <p:spPr>
          <a:xfrm>
            <a:off x="6172200" y="2313432"/>
            <a:ext cx="2578608" cy="47548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Fields: propertyNo, street, city, type, rooms, rent, ownerNo, staffNo</a:t>
            </a:r>
            <a:endParaRPr lang="en-US" sz="850" dirty="0"/>
          </a:p>
        </p:txBody>
      </p:sp>
      <p:sp>
        <p:nvSpPr>
          <p:cNvPr id="25" name="Shape 23"/>
          <p:cNvSpPr/>
          <p:nvPr/>
        </p:nvSpPr>
        <p:spPr>
          <a:xfrm>
            <a:off x="6153912" y="2825496"/>
            <a:ext cx="2596896" cy="402336"/>
          </a:xfrm>
          <a:prstGeom prst="rect">
            <a:avLst/>
          </a:prstGeom>
          <a:solidFill>
            <a:srgbClr val="F0FDF4"/>
          </a:solidFill>
          <a:ln w="12700">
            <a:solidFill>
              <a:srgbClr val="0D9488"/>
            </a:solidFill>
            <a:prstDash val="solid"/>
          </a:ln>
        </p:spPr>
      </p:sp>
      <p:sp>
        <p:nvSpPr>
          <p:cNvPr id="26" name="Text 24"/>
          <p:cNvSpPr/>
          <p:nvPr/>
        </p:nvSpPr>
        <p:spPr>
          <a:xfrm>
            <a:off x="6190488" y="2843784"/>
            <a:ext cx="2523744" cy="365760"/>
          </a:xfrm>
          <a:prstGeom prst="rect">
            <a:avLst/>
          </a:prstGeom>
          <a:noFill/>
          <a:ln/>
        </p:spPr>
        <p:txBody>
          <a:bodyPr wrap="square" lIns="0" tIns="0" rIns="0" bIns="0" rtlCol="0" anchor="ctr"/>
          <a:lstStyle/>
          <a:p>
            <a:pPr indent="0" marL="0">
              <a:buNone/>
            </a:pPr>
            <a:r>
              <a:rPr lang="en-US" sz="850" i="1" dirty="0">
                <a:solidFill>
                  <a:srgbClr val="14532D"/>
                </a:solidFill>
                <a:latin typeface="Calibri" pitchFamily="34" charset="0"/>
                <a:ea typeface="Calibri" pitchFamily="34" charset="-122"/>
                <a:cs typeface="Calibri" pitchFamily="34" charset="-120"/>
              </a:rPr>
              <a:t>Property is owned by a PrivateOwner; managed by Staff.</a:t>
            </a:r>
            <a:endParaRPr lang="en-US" sz="850" dirty="0"/>
          </a:p>
        </p:txBody>
      </p:sp>
      <p:sp>
        <p:nvSpPr>
          <p:cNvPr id="27" name="Shape 25"/>
          <p:cNvSpPr/>
          <p:nvPr/>
        </p:nvSpPr>
        <p:spPr>
          <a:xfrm>
            <a:off x="228600" y="3447288"/>
            <a:ext cx="2743200" cy="1325880"/>
          </a:xfrm>
          <a:prstGeom prst="rect">
            <a:avLst/>
          </a:prstGeom>
          <a:solidFill>
            <a:srgbClr val="FFFFFF"/>
          </a:solidFill>
          <a:ln w="12700">
            <a:solidFill>
              <a:srgbClr val="7C3AED"/>
            </a:solidFill>
            <a:prstDash val="solid"/>
          </a:ln>
        </p:spPr>
      </p:sp>
      <p:sp>
        <p:nvSpPr>
          <p:cNvPr id="28" name="Shape 26"/>
          <p:cNvSpPr/>
          <p:nvPr/>
        </p:nvSpPr>
        <p:spPr>
          <a:xfrm>
            <a:off x="228600" y="3447288"/>
            <a:ext cx="2743200" cy="292608"/>
          </a:xfrm>
          <a:prstGeom prst="rect">
            <a:avLst/>
          </a:prstGeom>
          <a:solidFill>
            <a:srgbClr val="7C3AED"/>
          </a:solidFill>
          <a:ln w="12700">
            <a:solidFill>
              <a:srgbClr val="7C3AED"/>
            </a:solidFill>
            <a:prstDash val="solid"/>
          </a:ln>
        </p:spPr>
      </p:sp>
      <p:sp>
        <p:nvSpPr>
          <p:cNvPr id="29" name="Text 27"/>
          <p:cNvSpPr/>
          <p:nvPr/>
        </p:nvSpPr>
        <p:spPr>
          <a:xfrm>
            <a:off x="320040" y="3483864"/>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p:txBody>
      </p:sp>
      <p:sp>
        <p:nvSpPr>
          <p:cNvPr id="30" name="Text 28"/>
          <p:cNvSpPr/>
          <p:nvPr/>
        </p:nvSpPr>
        <p:spPr>
          <a:xfrm>
            <a:off x="320040" y="3794760"/>
            <a:ext cx="2578608" cy="47548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Fields: clientNo, fName, lName, telNo, prefType, maxRent, viewDate</a:t>
            </a:r>
            <a:endParaRPr lang="en-US" sz="850" dirty="0"/>
          </a:p>
        </p:txBody>
      </p:sp>
      <p:sp>
        <p:nvSpPr>
          <p:cNvPr id="31" name="Shape 29"/>
          <p:cNvSpPr/>
          <p:nvPr/>
        </p:nvSpPr>
        <p:spPr>
          <a:xfrm>
            <a:off x="301752" y="4306824"/>
            <a:ext cx="2596896" cy="402336"/>
          </a:xfrm>
          <a:prstGeom prst="rect">
            <a:avLst/>
          </a:prstGeom>
          <a:solidFill>
            <a:srgbClr val="F0FDF4"/>
          </a:solidFill>
          <a:ln w="12700">
            <a:solidFill>
              <a:srgbClr val="7C3AED"/>
            </a:solidFill>
            <a:prstDash val="solid"/>
          </a:ln>
        </p:spPr>
      </p:sp>
      <p:sp>
        <p:nvSpPr>
          <p:cNvPr id="32" name="Text 30"/>
          <p:cNvSpPr/>
          <p:nvPr/>
        </p:nvSpPr>
        <p:spPr>
          <a:xfrm>
            <a:off x="338328" y="4325112"/>
            <a:ext cx="2523744" cy="365760"/>
          </a:xfrm>
          <a:prstGeom prst="rect">
            <a:avLst/>
          </a:prstGeom>
          <a:noFill/>
          <a:ln/>
        </p:spPr>
        <p:txBody>
          <a:bodyPr wrap="square" lIns="0" tIns="0" rIns="0" bIns="0" rtlCol="0" anchor="ctr"/>
          <a:lstStyle/>
          <a:p>
            <a:pPr indent="0" marL="0">
              <a:buNone/>
            </a:pPr>
            <a:r>
              <a:rPr lang="en-US" sz="850" i="1" dirty="0">
                <a:solidFill>
                  <a:srgbClr val="14532D"/>
                </a:solidFill>
                <a:latin typeface="Calibri" pitchFamily="34" charset="0"/>
                <a:ea typeface="Calibri" pitchFamily="34" charset="-122"/>
                <a:cs typeface="Calibri" pitchFamily="34" charset="-120"/>
              </a:rPr>
              <a:t>Clients view properties and sign Leases.</a:t>
            </a:r>
            <a:endParaRPr lang="en-US" sz="850" dirty="0"/>
          </a:p>
        </p:txBody>
      </p:sp>
      <p:sp>
        <p:nvSpPr>
          <p:cNvPr id="33" name="Shape 31"/>
          <p:cNvSpPr/>
          <p:nvPr/>
        </p:nvSpPr>
        <p:spPr>
          <a:xfrm>
            <a:off x="3154680" y="3447288"/>
            <a:ext cx="2743200" cy="1325880"/>
          </a:xfrm>
          <a:prstGeom prst="rect">
            <a:avLst/>
          </a:prstGeom>
          <a:solidFill>
            <a:srgbClr val="FFFFFF"/>
          </a:solidFill>
          <a:ln w="12700">
            <a:solidFill>
              <a:srgbClr val="059669"/>
            </a:solidFill>
            <a:prstDash val="solid"/>
          </a:ln>
        </p:spPr>
      </p:sp>
      <p:sp>
        <p:nvSpPr>
          <p:cNvPr id="34" name="Shape 32"/>
          <p:cNvSpPr/>
          <p:nvPr/>
        </p:nvSpPr>
        <p:spPr>
          <a:xfrm>
            <a:off x="3154680" y="3447288"/>
            <a:ext cx="2743200" cy="292608"/>
          </a:xfrm>
          <a:prstGeom prst="rect">
            <a:avLst/>
          </a:prstGeom>
          <a:solidFill>
            <a:srgbClr val="059669"/>
          </a:solidFill>
          <a:ln w="12700">
            <a:solidFill>
              <a:srgbClr val="059669"/>
            </a:solidFill>
            <a:prstDash val="solid"/>
          </a:ln>
        </p:spPr>
      </p:sp>
      <p:sp>
        <p:nvSpPr>
          <p:cNvPr id="35" name="Text 33"/>
          <p:cNvSpPr/>
          <p:nvPr/>
        </p:nvSpPr>
        <p:spPr>
          <a:xfrm>
            <a:off x="3246120" y="3483864"/>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PrivateOwner</a:t>
            </a:r>
            <a:endParaRPr lang="en-US" sz="1200" dirty="0"/>
          </a:p>
        </p:txBody>
      </p:sp>
      <p:sp>
        <p:nvSpPr>
          <p:cNvPr id="36" name="Text 34"/>
          <p:cNvSpPr/>
          <p:nvPr/>
        </p:nvSpPr>
        <p:spPr>
          <a:xfrm>
            <a:off x="3246120" y="3794760"/>
            <a:ext cx="2578608" cy="47548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Fields: ownerNo, fName, lName, address, telNo, eMail</a:t>
            </a:r>
            <a:endParaRPr lang="en-US" sz="850" dirty="0"/>
          </a:p>
        </p:txBody>
      </p:sp>
      <p:sp>
        <p:nvSpPr>
          <p:cNvPr id="37" name="Shape 35"/>
          <p:cNvSpPr/>
          <p:nvPr/>
        </p:nvSpPr>
        <p:spPr>
          <a:xfrm>
            <a:off x="3227832" y="4306824"/>
            <a:ext cx="2596896" cy="402336"/>
          </a:xfrm>
          <a:prstGeom prst="rect">
            <a:avLst/>
          </a:prstGeom>
          <a:solidFill>
            <a:srgbClr val="F0FDF4"/>
          </a:solidFill>
          <a:ln w="12700">
            <a:solidFill>
              <a:srgbClr val="059669"/>
            </a:solidFill>
            <a:prstDash val="solid"/>
          </a:ln>
        </p:spPr>
      </p:sp>
      <p:sp>
        <p:nvSpPr>
          <p:cNvPr id="38" name="Text 36"/>
          <p:cNvSpPr/>
          <p:nvPr/>
        </p:nvSpPr>
        <p:spPr>
          <a:xfrm>
            <a:off x="3264408" y="4325112"/>
            <a:ext cx="2523744" cy="365760"/>
          </a:xfrm>
          <a:prstGeom prst="rect">
            <a:avLst/>
          </a:prstGeom>
          <a:noFill/>
          <a:ln/>
        </p:spPr>
        <p:txBody>
          <a:bodyPr wrap="square" lIns="0" tIns="0" rIns="0" bIns="0" rtlCol="0" anchor="ctr"/>
          <a:lstStyle/>
          <a:p>
            <a:pPr indent="0" marL="0">
              <a:buNone/>
            </a:pPr>
            <a:r>
              <a:rPr lang="en-US" sz="850" i="1" dirty="0">
                <a:solidFill>
                  <a:srgbClr val="14532D"/>
                </a:solidFill>
                <a:latin typeface="Calibri" pitchFamily="34" charset="0"/>
                <a:ea typeface="Calibri" pitchFamily="34" charset="-122"/>
                <a:cs typeface="Calibri" pitchFamily="34" charset="-120"/>
              </a:rPr>
              <a:t>Owners own PropertyForRent records.</a:t>
            </a:r>
            <a:endParaRPr lang="en-US" sz="850" dirty="0"/>
          </a:p>
        </p:txBody>
      </p:sp>
      <p:sp>
        <p:nvSpPr>
          <p:cNvPr id="39" name="Shape 37"/>
          <p:cNvSpPr/>
          <p:nvPr/>
        </p:nvSpPr>
        <p:spPr>
          <a:xfrm>
            <a:off x="6080760" y="3447288"/>
            <a:ext cx="2743200" cy="1325880"/>
          </a:xfrm>
          <a:prstGeom prst="rect">
            <a:avLst/>
          </a:prstGeom>
          <a:solidFill>
            <a:srgbClr val="FFFFFF"/>
          </a:solidFill>
          <a:ln w="12700">
            <a:solidFill>
              <a:srgbClr val="B45309"/>
            </a:solidFill>
            <a:prstDash val="solid"/>
          </a:ln>
        </p:spPr>
      </p:sp>
      <p:sp>
        <p:nvSpPr>
          <p:cNvPr id="40" name="Shape 38"/>
          <p:cNvSpPr/>
          <p:nvPr/>
        </p:nvSpPr>
        <p:spPr>
          <a:xfrm>
            <a:off x="6080760" y="3447288"/>
            <a:ext cx="2743200" cy="292608"/>
          </a:xfrm>
          <a:prstGeom prst="rect">
            <a:avLst/>
          </a:prstGeom>
          <a:solidFill>
            <a:srgbClr val="B45309"/>
          </a:solidFill>
          <a:ln w="12700">
            <a:solidFill>
              <a:srgbClr val="B45309"/>
            </a:solidFill>
            <a:prstDash val="solid"/>
          </a:ln>
        </p:spPr>
      </p:sp>
      <p:sp>
        <p:nvSpPr>
          <p:cNvPr id="41" name="Text 39"/>
          <p:cNvSpPr/>
          <p:nvPr/>
        </p:nvSpPr>
        <p:spPr>
          <a:xfrm>
            <a:off x="6172200" y="3483864"/>
            <a:ext cx="2560320"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Lease</a:t>
            </a:r>
            <a:endParaRPr lang="en-US" sz="1200" dirty="0"/>
          </a:p>
        </p:txBody>
      </p:sp>
      <p:sp>
        <p:nvSpPr>
          <p:cNvPr id="42" name="Text 40"/>
          <p:cNvSpPr/>
          <p:nvPr/>
        </p:nvSpPr>
        <p:spPr>
          <a:xfrm>
            <a:off x="6172200" y="3794760"/>
            <a:ext cx="2578608" cy="47548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Fields: leaseNo, propertyNo, clientNo, staffNo, rentStart, rentFinish, rent</a:t>
            </a:r>
            <a:endParaRPr lang="en-US" sz="850" dirty="0"/>
          </a:p>
        </p:txBody>
      </p:sp>
      <p:sp>
        <p:nvSpPr>
          <p:cNvPr id="43" name="Shape 41"/>
          <p:cNvSpPr/>
          <p:nvPr/>
        </p:nvSpPr>
        <p:spPr>
          <a:xfrm>
            <a:off x="6153912" y="4306824"/>
            <a:ext cx="2596896" cy="402336"/>
          </a:xfrm>
          <a:prstGeom prst="rect">
            <a:avLst/>
          </a:prstGeom>
          <a:solidFill>
            <a:srgbClr val="F0FDF4"/>
          </a:solidFill>
          <a:ln w="12700">
            <a:solidFill>
              <a:srgbClr val="B45309"/>
            </a:solidFill>
            <a:prstDash val="solid"/>
          </a:ln>
        </p:spPr>
      </p:sp>
      <p:sp>
        <p:nvSpPr>
          <p:cNvPr id="44" name="Text 42"/>
          <p:cNvSpPr/>
          <p:nvPr/>
        </p:nvSpPr>
        <p:spPr>
          <a:xfrm>
            <a:off x="6190488" y="4325112"/>
            <a:ext cx="2523744" cy="365760"/>
          </a:xfrm>
          <a:prstGeom prst="rect">
            <a:avLst/>
          </a:prstGeom>
          <a:noFill/>
          <a:ln/>
        </p:spPr>
        <p:txBody>
          <a:bodyPr wrap="square" lIns="0" tIns="0" rIns="0" bIns="0" rtlCol="0" anchor="ctr"/>
          <a:lstStyle/>
          <a:p>
            <a:pPr indent="0" marL="0">
              <a:buNone/>
            </a:pPr>
            <a:r>
              <a:rPr lang="en-US" sz="850" i="1" dirty="0">
                <a:solidFill>
                  <a:srgbClr val="14532D"/>
                </a:solidFill>
                <a:latin typeface="Calibri" pitchFamily="34" charset="0"/>
                <a:ea typeface="Calibri" pitchFamily="34" charset="-122"/>
                <a:cs typeface="Calibri" pitchFamily="34" charset="-120"/>
              </a:rPr>
              <a:t>Lease links a Client to a PropertyForRent.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59669"/>
          </a:solidFill>
          <a:ln w="12700">
            <a:solidFill>
              <a:srgbClr val="059669"/>
            </a:solidFill>
            <a:prstDash val="solid"/>
          </a:ln>
        </p:spPr>
      </p:sp>
      <p:sp>
        <p:nvSpPr>
          <p:cNvPr id="3" name="Shape 1"/>
          <p:cNvSpPr/>
          <p:nvPr/>
        </p:nvSpPr>
        <p:spPr>
          <a:xfrm>
            <a:off x="0" y="73152"/>
            <a:ext cx="9144000" cy="384048"/>
          </a:xfrm>
          <a:prstGeom prst="rect">
            <a:avLst/>
          </a:prstGeom>
          <a:solidFill>
            <a:srgbClr val="059669"/>
          </a:solidFill>
          <a:ln w="12700">
            <a:solidFill>
              <a:srgbClr val="059669"/>
            </a:solidFill>
            <a:prstDash val="solid"/>
          </a:ln>
        </p:spPr>
      </p:sp>
      <p:sp>
        <p:nvSpPr>
          <p:cNvPr id="4" name="Text 2"/>
          <p:cNvSpPr/>
          <p:nvPr/>
        </p:nvSpPr>
        <p:spPr>
          <a:xfrm>
            <a:off x="274320" y="91440"/>
            <a:ext cx="8686800" cy="347472"/>
          </a:xfrm>
          <a:prstGeom prst="rect">
            <a:avLst/>
          </a:prstGeom>
          <a:noFill/>
          <a:ln/>
        </p:spPr>
        <p:txBody>
          <a:bodyPr wrap="square" lIns="0" tIns="0" rIns="0" bIns="0" rtlCol="0" anchor="ctr"/>
          <a:lstStyle/>
          <a:p>
            <a:pPr indent="0" marL="0">
              <a:buNone/>
            </a:pPr>
            <a:r>
              <a:rPr lang="en-US" sz="1300" b="1" dirty="0">
                <a:solidFill>
                  <a:srgbClr val="D1FAE5"/>
                </a:solidFill>
                <a:latin typeface="Calibri" pitchFamily="34" charset="0"/>
                <a:ea typeface="Calibri" pitchFamily="34" charset="-122"/>
                <a:cs typeface="Calibri" pitchFamily="34" charset="-120"/>
              </a:rPr>
              <a:t>LO 5  —  Real-World Scenario: DreamHome</a:t>
            </a:r>
            <a:endParaRPr lang="en-US" sz="1300" dirty="0"/>
          </a:p>
        </p:txBody>
      </p:sp>
      <p:sp>
        <p:nvSpPr>
          <p:cNvPr id="5" name="Text 3"/>
          <p:cNvSpPr/>
          <p:nvPr/>
        </p:nvSpPr>
        <p:spPr>
          <a:xfrm>
            <a:off x="365760" y="548640"/>
            <a:ext cx="8229600" cy="438912"/>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DreamHome — The DBMS in Action</a:t>
            </a:r>
            <a:endParaRPr lang="en-US" sz="2400" dirty="0"/>
          </a:p>
        </p:txBody>
      </p:sp>
      <p:sp>
        <p:nvSpPr>
          <p:cNvPr id="6" name="Shape 4"/>
          <p:cNvSpPr/>
          <p:nvPr/>
        </p:nvSpPr>
        <p:spPr>
          <a:xfrm>
            <a:off x="274320" y="1024128"/>
            <a:ext cx="8595360" cy="713232"/>
          </a:xfrm>
          <a:prstGeom prst="rect">
            <a:avLst/>
          </a:prstGeom>
          <a:solidFill>
            <a:srgbClr val="FFFFFF"/>
          </a:solidFill>
          <a:ln w="12700">
            <a:solidFill>
              <a:srgbClr val="E2E8F0"/>
            </a:solidFill>
            <a:prstDash val="solid"/>
          </a:ln>
        </p:spPr>
      </p:sp>
      <p:sp>
        <p:nvSpPr>
          <p:cNvPr id="7" name="Shape 5"/>
          <p:cNvSpPr/>
          <p:nvPr/>
        </p:nvSpPr>
        <p:spPr>
          <a:xfrm>
            <a:off x="274320" y="1024128"/>
            <a:ext cx="914400" cy="713232"/>
          </a:xfrm>
          <a:prstGeom prst="rect">
            <a:avLst/>
          </a:prstGeom>
          <a:solidFill>
            <a:srgbClr val="1B3A6B"/>
          </a:solidFill>
          <a:ln w="12700">
            <a:solidFill>
              <a:srgbClr val="1B3A6B"/>
            </a:solidFill>
            <a:prstDash val="solid"/>
          </a:ln>
        </p:spPr>
      </p:sp>
      <p:sp>
        <p:nvSpPr>
          <p:cNvPr id="8" name="Text 6"/>
          <p:cNvSpPr/>
          <p:nvPr/>
        </p:nvSpPr>
        <p:spPr>
          <a:xfrm>
            <a:off x="274320" y="1115568"/>
            <a:ext cx="91440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1</a:t>
            </a:r>
            <a:endParaRPr lang="en-US" sz="1000" dirty="0"/>
          </a:p>
        </p:txBody>
      </p:sp>
      <p:sp>
        <p:nvSpPr>
          <p:cNvPr id="9" name="Text 7"/>
          <p:cNvSpPr/>
          <p:nvPr/>
        </p:nvSpPr>
        <p:spPr>
          <a:xfrm>
            <a:off x="1280160" y="1078992"/>
            <a:ext cx="384048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Branch Manager Searches for Properties</a:t>
            </a:r>
            <a:endParaRPr lang="en-US" sz="1150" dirty="0"/>
          </a:p>
        </p:txBody>
      </p:sp>
      <p:sp>
        <p:nvSpPr>
          <p:cNvPr id="10" name="Text 8"/>
          <p:cNvSpPr/>
          <p:nvPr/>
        </p:nvSpPr>
        <p:spPr>
          <a:xfrm>
            <a:off x="1280160" y="1353312"/>
            <a:ext cx="38404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A branch manager wants to list all 2-bedroom flats with rent under £400/month. In the old file system, a programmer would need to write custom code. With the DBMS, the manager simply types one SQL statement:</a:t>
            </a:r>
            <a:endParaRPr lang="en-US" sz="900" dirty="0"/>
          </a:p>
        </p:txBody>
      </p:sp>
      <p:sp>
        <p:nvSpPr>
          <p:cNvPr id="11" name="Shape 9"/>
          <p:cNvSpPr/>
          <p:nvPr/>
        </p:nvSpPr>
        <p:spPr>
          <a:xfrm>
            <a:off x="5230368" y="1078992"/>
            <a:ext cx="3547872" cy="603504"/>
          </a:xfrm>
          <a:prstGeom prst="rect">
            <a:avLst/>
          </a:prstGeom>
          <a:solidFill>
            <a:srgbClr val="1E293B"/>
          </a:solidFill>
          <a:ln w="12700">
            <a:solidFill>
              <a:srgbClr val="334155"/>
            </a:solidFill>
            <a:prstDash val="solid"/>
          </a:ln>
        </p:spPr>
      </p:sp>
      <p:sp>
        <p:nvSpPr>
          <p:cNvPr id="12" name="Text 10"/>
          <p:cNvSpPr/>
          <p:nvPr/>
        </p:nvSpPr>
        <p:spPr>
          <a:xfrm>
            <a:off x="5285232" y="1106424"/>
            <a:ext cx="3438144" cy="548640"/>
          </a:xfrm>
          <a:prstGeom prst="rect">
            <a:avLst/>
          </a:prstGeom>
          <a:noFill/>
          <a:ln/>
        </p:spPr>
        <p:txBody>
          <a:bodyPr wrap="square" lIns="0" tIns="0" rIns="0" bIns="0" rtlCol="0" anchor="ctr"/>
          <a:lstStyle/>
          <a:p>
            <a:pPr indent="0" marL="0">
              <a:buNone/>
            </a:pPr>
            <a:r>
              <a:rPr lang="en-US" sz="800" dirty="0">
                <a:solidFill>
                  <a:srgbClr val="86EFAC"/>
                </a:solidFill>
                <a:latin typeface="Courier New" pitchFamily="34" charset="0"/>
                <a:ea typeface="Courier New" pitchFamily="34" charset="-122"/>
                <a:cs typeface="Courier New" pitchFamily="34" charset="-120"/>
              </a:rPr>
              <a:t>SELECT propertyNo, street, city, rent</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FROM PropertyForRent</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WHERE type = 'Flat' AND rooms = 2 AND rent &lt; 400;</a:t>
            </a:r>
            <a:endParaRPr lang="en-US" sz="800" dirty="0"/>
          </a:p>
        </p:txBody>
      </p:sp>
      <p:sp>
        <p:nvSpPr>
          <p:cNvPr id="13" name="Shape 11"/>
          <p:cNvSpPr/>
          <p:nvPr/>
        </p:nvSpPr>
        <p:spPr>
          <a:xfrm>
            <a:off x="274320" y="1828800"/>
            <a:ext cx="8595360" cy="713232"/>
          </a:xfrm>
          <a:prstGeom prst="rect">
            <a:avLst/>
          </a:prstGeom>
          <a:solidFill>
            <a:srgbClr val="FFFFFF"/>
          </a:solidFill>
          <a:ln w="12700">
            <a:solidFill>
              <a:srgbClr val="E2E8F0"/>
            </a:solidFill>
            <a:prstDash val="solid"/>
          </a:ln>
        </p:spPr>
      </p:sp>
      <p:sp>
        <p:nvSpPr>
          <p:cNvPr id="14" name="Shape 12"/>
          <p:cNvSpPr/>
          <p:nvPr/>
        </p:nvSpPr>
        <p:spPr>
          <a:xfrm>
            <a:off x="274320" y="1828800"/>
            <a:ext cx="914400" cy="713232"/>
          </a:xfrm>
          <a:prstGeom prst="rect">
            <a:avLst/>
          </a:prstGeom>
          <a:solidFill>
            <a:srgbClr val="0D6B8A"/>
          </a:solidFill>
          <a:ln w="12700">
            <a:solidFill>
              <a:srgbClr val="0D6B8A"/>
            </a:solidFill>
            <a:prstDash val="solid"/>
          </a:ln>
        </p:spPr>
      </p:sp>
      <p:sp>
        <p:nvSpPr>
          <p:cNvPr id="15" name="Text 13"/>
          <p:cNvSpPr/>
          <p:nvPr/>
        </p:nvSpPr>
        <p:spPr>
          <a:xfrm>
            <a:off x="274320" y="1920240"/>
            <a:ext cx="91440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2</a:t>
            </a:r>
            <a:endParaRPr lang="en-US" sz="1000" dirty="0"/>
          </a:p>
        </p:txBody>
      </p:sp>
      <p:sp>
        <p:nvSpPr>
          <p:cNvPr id="16" name="Text 14"/>
          <p:cNvSpPr/>
          <p:nvPr/>
        </p:nvSpPr>
        <p:spPr>
          <a:xfrm>
            <a:off x="1280160" y="1883664"/>
            <a:ext cx="384048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Client Books a Property Viewing</a:t>
            </a:r>
            <a:endParaRPr lang="en-US" sz="1150" dirty="0"/>
          </a:p>
        </p:txBody>
      </p:sp>
      <p:sp>
        <p:nvSpPr>
          <p:cNvPr id="17" name="Text 15"/>
          <p:cNvSpPr/>
          <p:nvPr/>
        </p:nvSpPr>
        <p:spPr>
          <a:xfrm>
            <a:off x="1280160" y="2157984"/>
            <a:ext cx="38404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A client wants to view property PA14. The receptionist records the viewing in the database. The DBMS automatically updates the Client's viewDate and links it to the PropertyForRent record. Two receptionists cannot create conflicting records — concurrency control prevents it.</a:t>
            </a:r>
            <a:endParaRPr lang="en-US" sz="900" dirty="0"/>
          </a:p>
        </p:txBody>
      </p:sp>
      <p:sp>
        <p:nvSpPr>
          <p:cNvPr id="18" name="Shape 16"/>
          <p:cNvSpPr/>
          <p:nvPr/>
        </p:nvSpPr>
        <p:spPr>
          <a:xfrm>
            <a:off x="5230368" y="1883664"/>
            <a:ext cx="3547872" cy="603504"/>
          </a:xfrm>
          <a:prstGeom prst="rect">
            <a:avLst/>
          </a:prstGeom>
          <a:solidFill>
            <a:srgbClr val="1E293B"/>
          </a:solidFill>
          <a:ln w="12700">
            <a:solidFill>
              <a:srgbClr val="334155"/>
            </a:solidFill>
            <a:prstDash val="solid"/>
          </a:ln>
        </p:spPr>
      </p:sp>
      <p:sp>
        <p:nvSpPr>
          <p:cNvPr id="19" name="Text 17"/>
          <p:cNvSpPr/>
          <p:nvPr/>
        </p:nvSpPr>
        <p:spPr>
          <a:xfrm>
            <a:off x="5285232" y="1911096"/>
            <a:ext cx="3438144" cy="548640"/>
          </a:xfrm>
          <a:prstGeom prst="rect">
            <a:avLst/>
          </a:prstGeom>
          <a:noFill/>
          <a:ln/>
        </p:spPr>
        <p:txBody>
          <a:bodyPr wrap="square" lIns="0" tIns="0" rIns="0" bIns="0" rtlCol="0" anchor="ctr"/>
          <a:lstStyle/>
          <a:p>
            <a:pPr indent="0" marL="0">
              <a:buNone/>
            </a:pPr>
            <a:r>
              <a:rPr lang="en-US" sz="800" dirty="0">
                <a:solidFill>
                  <a:srgbClr val="86EFAC"/>
                </a:solidFill>
                <a:latin typeface="Courier New" pitchFamily="34" charset="0"/>
                <a:ea typeface="Courier New" pitchFamily="34" charset="-122"/>
                <a:cs typeface="Courier New" pitchFamily="34" charset="-120"/>
              </a:rPr>
              <a:t>INSERT INTO Viewing</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(clientNo, propertyNo, viewDate)</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VALUES ('CR76','PA14','2024-03-15');</a:t>
            </a:r>
            <a:endParaRPr lang="en-US" sz="800" dirty="0"/>
          </a:p>
        </p:txBody>
      </p:sp>
      <p:sp>
        <p:nvSpPr>
          <p:cNvPr id="20" name="Shape 18"/>
          <p:cNvSpPr/>
          <p:nvPr/>
        </p:nvSpPr>
        <p:spPr>
          <a:xfrm>
            <a:off x="274320" y="2633472"/>
            <a:ext cx="8595360" cy="713232"/>
          </a:xfrm>
          <a:prstGeom prst="rect">
            <a:avLst/>
          </a:prstGeom>
          <a:solidFill>
            <a:srgbClr val="FFFFFF"/>
          </a:solidFill>
          <a:ln w="12700">
            <a:solidFill>
              <a:srgbClr val="E2E8F0"/>
            </a:solidFill>
            <a:prstDash val="solid"/>
          </a:ln>
        </p:spPr>
      </p:sp>
      <p:sp>
        <p:nvSpPr>
          <p:cNvPr id="21" name="Shape 19"/>
          <p:cNvSpPr/>
          <p:nvPr/>
        </p:nvSpPr>
        <p:spPr>
          <a:xfrm>
            <a:off x="274320" y="2633472"/>
            <a:ext cx="914400" cy="713232"/>
          </a:xfrm>
          <a:prstGeom prst="rect">
            <a:avLst/>
          </a:prstGeom>
          <a:solidFill>
            <a:srgbClr val="0D9488"/>
          </a:solidFill>
          <a:ln w="12700">
            <a:solidFill>
              <a:srgbClr val="0D9488"/>
            </a:solidFill>
            <a:prstDash val="solid"/>
          </a:ln>
        </p:spPr>
      </p:sp>
      <p:sp>
        <p:nvSpPr>
          <p:cNvPr id="22" name="Text 20"/>
          <p:cNvSpPr/>
          <p:nvPr/>
        </p:nvSpPr>
        <p:spPr>
          <a:xfrm>
            <a:off x="274320" y="2724912"/>
            <a:ext cx="91440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3</a:t>
            </a:r>
            <a:endParaRPr lang="en-US" sz="1000" dirty="0"/>
          </a:p>
        </p:txBody>
      </p:sp>
      <p:sp>
        <p:nvSpPr>
          <p:cNvPr id="23" name="Text 21"/>
          <p:cNvSpPr/>
          <p:nvPr/>
        </p:nvSpPr>
        <p:spPr>
          <a:xfrm>
            <a:off x="1280160" y="2688336"/>
            <a:ext cx="384048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Lease is Created — Concurrency Scenario</a:t>
            </a:r>
            <a:endParaRPr lang="en-US" sz="1150" dirty="0"/>
          </a:p>
        </p:txBody>
      </p:sp>
      <p:sp>
        <p:nvSpPr>
          <p:cNvPr id="24" name="Text 22"/>
          <p:cNvSpPr/>
          <p:nvPr/>
        </p:nvSpPr>
        <p:spPr>
          <a:xfrm>
            <a:off x="1280160" y="2962656"/>
            <a:ext cx="38404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Two branch assistants simultaneously try to create a lease for the same property. The DBMS detects the conflict, allows the first transaction to complete, and makes the second assistant wait. When the lock is released, the second assistant sees the property is now taken.</a:t>
            </a:r>
            <a:endParaRPr lang="en-US" sz="900" dirty="0"/>
          </a:p>
        </p:txBody>
      </p:sp>
      <p:sp>
        <p:nvSpPr>
          <p:cNvPr id="25" name="Shape 23"/>
          <p:cNvSpPr/>
          <p:nvPr/>
        </p:nvSpPr>
        <p:spPr>
          <a:xfrm>
            <a:off x="5230368" y="2688336"/>
            <a:ext cx="3547872" cy="603504"/>
          </a:xfrm>
          <a:prstGeom prst="rect">
            <a:avLst/>
          </a:prstGeom>
          <a:solidFill>
            <a:srgbClr val="1E293B"/>
          </a:solidFill>
          <a:ln w="12700">
            <a:solidFill>
              <a:srgbClr val="334155"/>
            </a:solidFill>
            <a:prstDash val="solid"/>
          </a:ln>
        </p:spPr>
      </p:sp>
      <p:sp>
        <p:nvSpPr>
          <p:cNvPr id="26" name="Text 24"/>
          <p:cNvSpPr/>
          <p:nvPr/>
        </p:nvSpPr>
        <p:spPr>
          <a:xfrm>
            <a:off x="5285232" y="2715768"/>
            <a:ext cx="3438144" cy="548640"/>
          </a:xfrm>
          <a:prstGeom prst="rect">
            <a:avLst/>
          </a:prstGeom>
          <a:noFill/>
          <a:ln/>
        </p:spPr>
        <p:txBody>
          <a:bodyPr wrap="square" lIns="0" tIns="0" rIns="0" bIns="0" rtlCol="0" anchor="ctr"/>
          <a:lstStyle/>
          <a:p>
            <a:pPr indent="0" marL="0">
              <a:buNone/>
            </a:pPr>
            <a:r>
              <a:rPr lang="en-US" sz="800" dirty="0">
                <a:solidFill>
                  <a:srgbClr val="86EFAC"/>
                </a:solidFill>
                <a:latin typeface="Courier New" pitchFamily="34" charset="0"/>
                <a:ea typeface="Courier New" pitchFamily="34" charset="-122"/>
                <a:cs typeface="Courier New" pitchFamily="34" charset="-120"/>
              </a:rPr>
              <a:t>-- Both assistants run at same time:</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INSERT INTO Lease ...</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DBMS serialises access.</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Second waits; then sees</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property already leased.</a:t>
            </a:r>
            <a:endParaRPr lang="en-US" sz="800" dirty="0"/>
          </a:p>
        </p:txBody>
      </p:sp>
      <p:sp>
        <p:nvSpPr>
          <p:cNvPr id="27" name="Shape 25"/>
          <p:cNvSpPr/>
          <p:nvPr/>
        </p:nvSpPr>
        <p:spPr>
          <a:xfrm>
            <a:off x="274320" y="3438144"/>
            <a:ext cx="8595360" cy="713232"/>
          </a:xfrm>
          <a:prstGeom prst="rect">
            <a:avLst/>
          </a:prstGeom>
          <a:solidFill>
            <a:srgbClr val="FFFFFF"/>
          </a:solidFill>
          <a:ln w="12700">
            <a:solidFill>
              <a:srgbClr val="E2E8F0"/>
            </a:solidFill>
            <a:prstDash val="solid"/>
          </a:ln>
        </p:spPr>
      </p:sp>
      <p:sp>
        <p:nvSpPr>
          <p:cNvPr id="28" name="Shape 26"/>
          <p:cNvSpPr/>
          <p:nvPr/>
        </p:nvSpPr>
        <p:spPr>
          <a:xfrm>
            <a:off x="274320" y="3438144"/>
            <a:ext cx="914400" cy="713232"/>
          </a:xfrm>
          <a:prstGeom prst="rect">
            <a:avLst/>
          </a:prstGeom>
          <a:solidFill>
            <a:srgbClr val="7C3AED"/>
          </a:solidFill>
          <a:ln w="12700">
            <a:solidFill>
              <a:srgbClr val="7C3AED"/>
            </a:solidFill>
            <a:prstDash val="solid"/>
          </a:ln>
        </p:spPr>
      </p:sp>
      <p:sp>
        <p:nvSpPr>
          <p:cNvPr id="29" name="Text 27"/>
          <p:cNvSpPr/>
          <p:nvPr/>
        </p:nvSpPr>
        <p:spPr>
          <a:xfrm>
            <a:off x="274320" y="3529584"/>
            <a:ext cx="91440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4</a:t>
            </a:r>
            <a:endParaRPr lang="en-US" sz="1000" dirty="0"/>
          </a:p>
        </p:txBody>
      </p:sp>
      <p:sp>
        <p:nvSpPr>
          <p:cNvPr id="30" name="Text 28"/>
          <p:cNvSpPr/>
          <p:nvPr/>
        </p:nvSpPr>
        <p:spPr>
          <a:xfrm>
            <a:off x="1280160" y="3493008"/>
            <a:ext cx="384048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Integrity Constraint Prevents Bad Data</a:t>
            </a:r>
            <a:endParaRPr lang="en-US" sz="1150" dirty="0"/>
          </a:p>
        </p:txBody>
      </p:sp>
      <p:sp>
        <p:nvSpPr>
          <p:cNvPr id="31" name="Text 29"/>
          <p:cNvSpPr/>
          <p:nvPr/>
        </p:nvSpPr>
        <p:spPr>
          <a:xfrm>
            <a:off x="1280160" y="3767328"/>
            <a:ext cx="38404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A new staff member tries to enter a lease with rent = £0. The DBMS immediately rejects the insert — the integrity constraint 'rent &gt; 0' is enforced automatically for every application, every time, with no programmer needing to write validation code in each app.</a:t>
            </a:r>
            <a:endParaRPr lang="en-US" sz="900" dirty="0"/>
          </a:p>
        </p:txBody>
      </p:sp>
      <p:sp>
        <p:nvSpPr>
          <p:cNvPr id="32" name="Shape 30"/>
          <p:cNvSpPr/>
          <p:nvPr/>
        </p:nvSpPr>
        <p:spPr>
          <a:xfrm>
            <a:off x="5230368" y="3493008"/>
            <a:ext cx="3547872" cy="603504"/>
          </a:xfrm>
          <a:prstGeom prst="rect">
            <a:avLst/>
          </a:prstGeom>
          <a:solidFill>
            <a:srgbClr val="1E293B"/>
          </a:solidFill>
          <a:ln w="12700">
            <a:solidFill>
              <a:srgbClr val="334155"/>
            </a:solidFill>
            <a:prstDash val="solid"/>
          </a:ln>
        </p:spPr>
      </p:sp>
      <p:sp>
        <p:nvSpPr>
          <p:cNvPr id="33" name="Text 31"/>
          <p:cNvSpPr/>
          <p:nvPr/>
        </p:nvSpPr>
        <p:spPr>
          <a:xfrm>
            <a:off x="5285232" y="3520440"/>
            <a:ext cx="3438144" cy="548640"/>
          </a:xfrm>
          <a:prstGeom prst="rect">
            <a:avLst/>
          </a:prstGeom>
          <a:noFill/>
          <a:ln/>
        </p:spPr>
        <p:txBody>
          <a:bodyPr wrap="square" lIns="0" tIns="0" rIns="0" bIns="0" rtlCol="0" anchor="ctr"/>
          <a:lstStyle/>
          <a:p>
            <a:pPr indent="0" marL="0">
              <a:buNone/>
            </a:pPr>
            <a:r>
              <a:rPr lang="en-US" sz="800" dirty="0">
                <a:solidFill>
                  <a:srgbClr val="86EFAC"/>
                </a:solidFill>
                <a:latin typeface="Courier New" pitchFamily="34" charset="0"/>
                <a:ea typeface="Courier New" pitchFamily="34" charset="-122"/>
                <a:cs typeface="Courier New" pitchFamily="34" charset="-120"/>
              </a:rPr>
              <a:t>INSERT INTO Lease</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 rent) VALUES (..., 0);</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DBMS ERROR:</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CHECK constraint violated.</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rent must be &gt; 0.</a:t>
            </a:r>
            <a:endParaRPr lang="en-US" sz="800" dirty="0"/>
          </a:p>
        </p:txBody>
      </p:sp>
      <p:sp>
        <p:nvSpPr>
          <p:cNvPr id="34" name="Shape 32"/>
          <p:cNvSpPr/>
          <p:nvPr/>
        </p:nvSpPr>
        <p:spPr>
          <a:xfrm>
            <a:off x="274320" y="4242816"/>
            <a:ext cx="8595360" cy="713232"/>
          </a:xfrm>
          <a:prstGeom prst="rect">
            <a:avLst/>
          </a:prstGeom>
          <a:solidFill>
            <a:srgbClr val="FFFFFF"/>
          </a:solidFill>
          <a:ln w="12700">
            <a:solidFill>
              <a:srgbClr val="E2E8F0"/>
            </a:solidFill>
            <a:prstDash val="solid"/>
          </a:ln>
        </p:spPr>
      </p:sp>
      <p:sp>
        <p:nvSpPr>
          <p:cNvPr id="35" name="Shape 33"/>
          <p:cNvSpPr/>
          <p:nvPr/>
        </p:nvSpPr>
        <p:spPr>
          <a:xfrm>
            <a:off x="274320" y="4242816"/>
            <a:ext cx="914400" cy="713232"/>
          </a:xfrm>
          <a:prstGeom prst="rect">
            <a:avLst/>
          </a:prstGeom>
          <a:solidFill>
            <a:srgbClr val="059669"/>
          </a:solidFill>
          <a:ln w="12700">
            <a:solidFill>
              <a:srgbClr val="059669"/>
            </a:solidFill>
            <a:prstDash val="solid"/>
          </a:ln>
        </p:spPr>
      </p:sp>
      <p:sp>
        <p:nvSpPr>
          <p:cNvPr id="36" name="Text 34"/>
          <p:cNvSpPr/>
          <p:nvPr/>
        </p:nvSpPr>
        <p:spPr>
          <a:xfrm>
            <a:off x="274320" y="4334256"/>
            <a:ext cx="91440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5</a:t>
            </a:r>
            <a:endParaRPr lang="en-US" sz="1000" dirty="0"/>
          </a:p>
        </p:txBody>
      </p:sp>
      <p:sp>
        <p:nvSpPr>
          <p:cNvPr id="37" name="Text 35"/>
          <p:cNvSpPr/>
          <p:nvPr/>
        </p:nvSpPr>
        <p:spPr>
          <a:xfrm>
            <a:off x="1280160" y="4297680"/>
            <a:ext cx="384048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Views Protect Sensitive Data</a:t>
            </a:r>
            <a:endParaRPr lang="en-US" sz="1150" dirty="0"/>
          </a:p>
        </p:txBody>
      </p:sp>
      <p:sp>
        <p:nvSpPr>
          <p:cNvPr id="38" name="Text 36"/>
          <p:cNvSpPr/>
          <p:nvPr/>
        </p:nvSpPr>
        <p:spPr>
          <a:xfrm>
            <a:off x="1280160" y="4572000"/>
            <a:ext cx="3840480" cy="347472"/>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A receptionist logs in and queries staff. Because their account is linked to the 'StaffPublic' view (which excludes salary), they only see name, position, and branch. The salary column is completely invisible to them — it is not in their view.</a:t>
            </a:r>
            <a:endParaRPr lang="en-US" sz="900" dirty="0"/>
          </a:p>
        </p:txBody>
      </p:sp>
      <p:sp>
        <p:nvSpPr>
          <p:cNvPr id="39" name="Shape 37"/>
          <p:cNvSpPr/>
          <p:nvPr/>
        </p:nvSpPr>
        <p:spPr>
          <a:xfrm>
            <a:off x="5230368" y="4297680"/>
            <a:ext cx="3547872" cy="603504"/>
          </a:xfrm>
          <a:prstGeom prst="rect">
            <a:avLst/>
          </a:prstGeom>
          <a:solidFill>
            <a:srgbClr val="1E293B"/>
          </a:solidFill>
          <a:ln w="12700">
            <a:solidFill>
              <a:srgbClr val="334155"/>
            </a:solidFill>
            <a:prstDash val="solid"/>
          </a:ln>
        </p:spPr>
      </p:sp>
      <p:sp>
        <p:nvSpPr>
          <p:cNvPr id="40" name="Text 38"/>
          <p:cNvSpPr/>
          <p:nvPr/>
        </p:nvSpPr>
        <p:spPr>
          <a:xfrm>
            <a:off x="5285232" y="4325112"/>
            <a:ext cx="3438144" cy="548640"/>
          </a:xfrm>
          <a:prstGeom prst="rect">
            <a:avLst/>
          </a:prstGeom>
          <a:noFill/>
          <a:ln/>
        </p:spPr>
        <p:txBody>
          <a:bodyPr wrap="square" lIns="0" tIns="0" rIns="0" bIns="0" rtlCol="0" anchor="ctr"/>
          <a:lstStyle/>
          <a:p>
            <a:pPr indent="0" marL="0">
              <a:buNone/>
            </a:pPr>
            <a:r>
              <a:rPr lang="en-US" sz="800" dirty="0">
                <a:solidFill>
                  <a:srgbClr val="86EFAC"/>
                </a:solidFill>
                <a:latin typeface="Courier New" pitchFamily="34" charset="0"/>
                <a:ea typeface="Courier New" pitchFamily="34" charset="-122"/>
                <a:cs typeface="Courier New" pitchFamily="34" charset="-120"/>
              </a:rPr>
              <a:t>-- Receptionist runs:</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SELECT * FROM StaffPublic;</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Returns: staffNo, name,</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position, branchNo</a:t>
            </a:r>
            <a:endParaRPr lang="en-US" sz="800" dirty="0"/>
          </a:p>
          <a:p>
            <a:pPr indent="0" marL="0">
              <a:buNone/>
            </a:pPr>
            <a:r>
              <a:rPr lang="en-US" sz="800" dirty="0">
                <a:solidFill>
                  <a:srgbClr val="86EFAC"/>
                </a:solidFill>
                <a:latin typeface="Courier New" pitchFamily="34" charset="0"/>
                <a:ea typeface="Courier New" pitchFamily="34" charset="-122"/>
                <a:cs typeface="Courier New" pitchFamily="34" charset="-120"/>
              </a:rPr>
              <a:t>-- (salary NOT visible)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A Brief History of Database Management Systems</a:t>
            </a:r>
            <a:endParaRPr lang="en-US" sz="2400" dirty="0"/>
          </a:p>
        </p:txBody>
      </p:sp>
      <p:sp>
        <p:nvSpPr>
          <p:cNvPr id="4" name="Shape 2"/>
          <p:cNvSpPr/>
          <p:nvPr/>
        </p:nvSpPr>
        <p:spPr>
          <a:xfrm>
            <a:off x="548640" y="1170432"/>
            <a:ext cx="8046720" cy="64008"/>
          </a:xfrm>
          <a:prstGeom prst="rect">
            <a:avLst/>
          </a:prstGeom>
          <a:solidFill>
            <a:srgbClr val="0D9488"/>
          </a:solidFill>
          <a:ln w="12700">
            <a:solidFill>
              <a:srgbClr val="0D9488"/>
            </a:solidFill>
            <a:prstDash val="solid"/>
          </a:ln>
        </p:spPr>
      </p:sp>
      <p:sp>
        <p:nvSpPr>
          <p:cNvPr id="5" name="Shape 3"/>
          <p:cNvSpPr/>
          <p:nvPr/>
        </p:nvSpPr>
        <p:spPr>
          <a:xfrm>
            <a:off x="548640" y="1097280"/>
            <a:ext cx="201168" cy="201168"/>
          </a:xfrm>
          <a:prstGeom prst="ellipse">
            <a:avLst/>
          </a:prstGeom>
          <a:solidFill>
            <a:srgbClr val="1B2A4A"/>
          </a:solidFill>
          <a:ln w="12700">
            <a:solidFill>
              <a:srgbClr val="1B2A4A"/>
            </a:solidFill>
            <a:prstDash val="solid"/>
          </a:ln>
        </p:spPr>
      </p:sp>
      <p:sp>
        <p:nvSpPr>
          <p:cNvPr id="6" name="Shape 4"/>
          <p:cNvSpPr/>
          <p:nvPr/>
        </p:nvSpPr>
        <p:spPr>
          <a:xfrm>
            <a:off x="228600" y="1444752"/>
            <a:ext cx="1920240" cy="658368"/>
          </a:xfrm>
          <a:prstGeom prst="rect">
            <a:avLst/>
          </a:prstGeom>
          <a:solidFill>
            <a:srgbClr val="1B2A4A"/>
          </a:solidFill>
          <a:ln w="12700">
            <a:solidFill>
              <a:srgbClr val="1B2A4A"/>
            </a:solidFill>
            <a:prstDash val="solid"/>
          </a:ln>
        </p:spPr>
      </p:sp>
      <p:sp>
        <p:nvSpPr>
          <p:cNvPr id="7" name="Text 5"/>
          <p:cNvSpPr/>
          <p:nvPr/>
        </p:nvSpPr>
        <p:spPr>
          <a:xfrm>
            <a:off x="292608" y="1481328"/>
            <a:ext cx="178308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1960s — 1st Gen</a:t>
            </a:r>
            <a:endParaRPr lang="en-US" sz="950" dirty="0"/>
          </a:p>
        </p:txBody>
      </p:sp>
      <p:sp>
        <p:nvSpPr>
          <p:cNvPr id="8" name="Text 6"/>
          <p:cNvSpPr/>
          <p:nvPr/>
        </p:nvSpPr>
        <p:spPr>
          <a:xfrm>
            <a:off x="292608" y="1719072"/>
            <a:ext cx="1783080" cy="365760"/>
          </a:xfrm>
          <a:prstGeom prst="rect">
            <a:avLst/>
          </a:prstGeom>
          <a:noFill/>
          <a:ln/>
        </p:spPr>
        <p:txBody>
          <a:bodyPr wrap="square" lIns="0" tIns="0" rIns="0" bIns="0" rtlCol="0" anchor="ctr"/>
          <a:lstStyle/>
          <a:p>
            <a:pPr indent="0" marL="0">
              <a:buNone/>
            </a:pPr>
            <a:r>
              <a:rPr lang="en-US" sz="900" dirty="0">
                <a:solidFill>
                  <a:srgbClr val="D1FAE5"/>
                </a:solidFill>
                <a:latin typeface="Calibri" pitchFamily="34" charset="0"/>
                <a:ea typeface="Calibri" pitchFamily="34" charset="-122"/>
                <a:cs typeface="Calibri" pitchFamily="34" charset="-120"/>
              </a:rPr>
              <a:t>Hierarchical &amp; Network</a:t>
            </a:r>
            <a:endParaRPr lang="en-US" sz="900" dirty="0"/>
          </a:p>
          <a:p>
            <a:pPr indent="0" marL="0">
              <a:buNone/>
            </a:pPr>
            <a:r>
              <a:rPr lang="en-US" sz="900" dirty="0">
                <a:solidFill>
                  <a:srgbClr val="D1FAE5"/>
                </a:solidFill>
                <a:latin typeface="Calibri" pitchFamily="34" charset="0"/>
                <a:ea typeface="Calibri" pitchFamily="34" charset="-122"/>
                <a:cs typeface="Calibri" pitchFamily="34" charset="-120"/>
              </a:rPr>
              <a:t>IMS (IBM) / IDS (GE)</a:t>
            </a:r>
            <a:endParaRPr lang="en-US" sz="900" dirty="0"/>
          </a:p>
        </p:txBody>
      </p:sp>
      <p:sp>
        <p:nvSpPr>
          <p:cNvPr id="9" name="Shape 7"/>
          <p:cNvSpPr/>
          <p:nvPr/>
        </p:nvSpPr>
        <p:spPr>
          <a:xfrm>
            <a:off x="228600" y="2103120"/>
            <a:ext cx="1920240" cy="960120"/>
          </a:xfrm>
          <a:prstGeom prst="rect">
            <a:avLst/>
          </a:prstGeom>
          <a:solidFill>
            <a:srgbClr val="FFFFFF"/>
          </a:solidFill>
          <a:ln w="12700">
            <a:solidFill>
              <a:srgbClr val="1B2A4A"/>
            </a:solidFill>
            <a:prstDash val="solid"/>
          </a:ln>
        </p:spPr>
      </p:sp>
      <p:sp>
        <p:nvSpPr>
          <p:cNvPr id="10" name="Text 8"/>
          <p:cNvSpPr/>
          <p:nvPr/>
        </p:nvSpPr>
        <p:spPr>
          <a:xfrm>
            <a:off x="301752" y="2139696"/>
            <a:ext cx="1783080" cy="896112"/>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Built for NASA Apollo. Stored data as trees (hierarchical) or complex webs (network). Required navigational code to answer even simple queries. No data independence. Still used in some mainframes today.</a:t>
            </a:r>
            <a:endParaRPr lang="en-US" sz="850" dirty="0"/>
          </a:p>
        </p:txBody>
      </p:sp>
      <p:sp>
        <p:nvSpPr>
          <p:cNvPr id="11" name="Shape 9"/>
          <p:cNvSpPr/>
          <p:nvPr/>
        </p:nvSpPr>
        <p:spPr>
          <a:xfrm>
            <a:off x="3108960" y="1097280"/>
            <a:ext cx="201168" cy="201168"/>
          </a:xfrm>
          <a:prstGeom prst="ellipse">
            <a:avLst/>
          </a:prstGeom>
          <a:solidFill>
            <a:srgbClr val="7C3AED"/>
          </a:solidFill>
          <a:ln w="12700">
            <a:solidFill>
              <a:srgbClr val="7C3AED"/>
            </a:solidFill>
            <a:prstDash val="solid"/>
          </a:ln>
        </p:spPr>
      </p:sp>
      <p:sp>
        <p:nvSpPr>
          <p:cNvPr id="12" name="Shape 10"/>
          <p:cNvSpPr/>
          <p:nvPr/>
        </p:nvSpPr>
        <p:spPr>
          <a:xfrm>
            <a:off x="2286000" y="2286000"/>
            <a:ext cx="1920240" cy="658368"/>
          </a:xfrm>
          <a:prstGeom prst="rect">
            <a:avLst/>
          </a:prstGeom>
          <a:solidFill>
            <a:srgbClr val="7C3AED"/>
          </a:solidFill>
          <a:ln w="12700">
            <a:solidFill>
              <a:srgbClr val="7C3AED"/>
            </a:solidFill>
            <a:prstDash val="solid"/>
          </a:ln>
        </p:spPr>
      </p:sp>
      <p:sp>
        <p:nvSpPr>
          <p:cNvPr id="13" name="Text 11"/>
          <p:cNvSpPr/>
          <p:nvPr/>
        </p:nvSpPr>
        <p:spPr>
          <a:xfrm>
            <a:off x="2350008" y="2322576"/>
            <a:ext cx="178308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1970 — Turning Point</a:t>
            </a:r>
            <a:endParaRPr lang="en-US" sz="950" dirty="0"/>
          </a:p>
        </p:txBody>
      </p:sp>
      <p:sp>
        <p:nvSpPr>
          <p:cNvPr id="14" name="Text 12"/>
          <p:cNvSpPr/>
          <p:nvPr/>
        </p:nvSpPr>
        <p:spPr>
          <a:xfrm>
            <a:off x="2350008" y="2560320"/>
            <a:ext cx="1783080" cy="365760"/>
          </a:xfrm>
          <a:prstGeom prst="rect">
            <a:avLst/>
          </a:prstGeom>
          <a:noFill/>
          <a:ln/>
        </p:spPr>
        <p:txBody>
          <a:bodyPr wrap="square" lIns="0" tIns="0" rIns="0" bIns="0" rtlCol="0" anchor="ctr"/>
          <a:lstStyle/>
          <a:p>
            <a:pPr indent="0" marL="0">
              <a:buNone/>
            </a:pPr>
            <a:r>
              <a:rPr lang="en-US" sz="900" dirty="0">
                <a:solidFill>
                  <a:srgbClr val="D1FAE5"/>
                </a:solidFill>
                <a:latin typeface="Calibri" pitchFamily="34" charset="0"/>
                <a:ea typeface="Calibri" pitchFamily="34" charset="-122"/>
                <a:cs typeface="Calibri" pitchFamily="34" charset="-120"/>
              </a:rPr>
              <a:t>E.F. Codd's</a:t>
            </a:r>
            <a:endParaRPr lang="en-US" sz="900" dirty="0"/>
          </a:p>
          <a:p>
            <a:pPr indent="0" marL="0">
              <a:buNone/>
            </a:pPr>
            <a:r>
              <a:rPr lang="en-US" sz="900" dirty="0">
                <a:solidFill>
                  <a:srgbClr val="D1FAE5"/>
                </a:solidFill>
                <a:latin typeface="Calibri" pitchFamily="34" charset="0"/>
                <a:ea typeface="Calibri" pitchFamily="34" charset="-122"/>
                <a:cs typeface="Calibri" pitchFamily="34" charset="-120"/>
              </a:rPr>
              <a:t>Relational Model</a:t>
            </a:r>
            <a:endParaRPr lang="en-US" sz="900" dirty="0"/>
          </a:p>
        </p:txBody>
      </p:sp>
      <p:sp>
        <p:nvSpPr>
          <p:cNvPr id="15" name="Shape 13"/>
          <p:cNvSpPr/>
          <p:nvPr/>
        </p:nvSpPr>
        <p:spPr>
          <a:xfrm>
            <a:off x="2286000" y="2944368"/>
            <a:ext cx="1920240" cy="960120"/>
          </a:xfrm>
          <a:prstGeom prst="rect">
            <a:avLst/>
          </a:prstGeom>
          <a:solidFill>
            <a:srgbClr val="FFFFFF"/>
          </a:solidFill>
          <a:ln w="12700">
            <a:solidFill>
              <a:srgbClr val="7C3AED"/>
            </a:solidFill>
            <a:prstDash val="solid"/>
          </a:ln>
        </p:spPr>
      </p:sp>
      <p:sp>
        <p:nvSpPr>
          <p:cNvPr id="16" name="Text 14"/>
          <p:cNvSpPr/>
          <p:nvPr/>
        </p:nvSpPr>
        <p:spPr>
          <a:xfrm>
            <a:off x="2359152" y="2980944"/>
            <a:ext cx="1783080" cy="896112"/>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Codd's paper 'A relational model of data for large shared data banks' (IBM) proposed flat tables + set-based queries. Addressed every weakness of 1st-generation systems. Led directly to the development of SQL.</a:t>
            </a:r>
            <a:endParaRPr lang="en-US" sz="850" dirty="0"/>
          </a:p>
        </p:txBody>
      </p:sp>
      <p:sp>
        <p:nvSpPr>
          <p:cNvPr id="17" name="Shape 15"/>
          <p:cNvSpPr/>
          <p:nvPr/>
        </p:nvSpPr>
        <p:spPr>
          <a:xfrm>
            <a:off x="5577840" y="1097280"/>
            <a:ext cx="201168" cy="201168"/>
          </a:xfrm>
          <a:prstGeom prst="ellipse">
            <a:avLst/>
          </a:prstGeom>
          <a:solidFill>
            <a:srgbClr val="0D9488"/>
          </a:solidFill>
          <a:ln w="12700">
            <a:solidFill>
              <a:srgbClr val="0D9488"/>
            </a:solidFill>
            <a:prstDash val="solid"/>
          </a:ln>
        </p:spPr>
      </p:sp>
      <p:sp>
        <p:nvSpPr>
          <p:cNvPr id="18" name="Shape 16"/>
          <p:cNvSpPr/>
          <p:nvPr/>
        </p:nvSpPr>
        <p:spPr>
          <a:xfrm>
            <a:off x="4754880" y="1444752"/>
            <a:ext cx="1920240" cy="658368"/>
          </a:xfrm>
          <a:prstGeom prst="rect">
            <a:avLst/>
          </a:prstGeom>
          <a:solidFill>
            <a:srgbClr val="0D9488"/>
          </a:solidFill>
          <a:ln w="12700">
            <a:solidFill>
              <a:srgbClr val="0D9488"/>
            </a:solidFill>
            <a:prstDash val="solid"/>
          </a:ln>
        </p:spPr>
      </p:sp>
      <p:sp>
        <p:nvSpPr>
          <p:cNvPr id="19" name="Text 17"/>
          <p:cNvSpPr/>
          <p:nvPr/>
        </p:nvSpPr>
        <p:spPr>
          <a:xfrm>
            <a:off x="4818888" y="1481328"/>
            <a:ext cx="178308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1979+ — 2nd Gen</a:t>
            </a:r>
            <a:endParaRPr lang="en-US" sz="950" dirty="0"/>
          </a:p>
        </p:txBody>
      </p:sp>
      <p:sp>
        <p:nvSpPr>
          <p:cNvPr id="20" name="Text 18"/>
          <p:cNvSpPr/>
          <p:nvPr/>
        </p:nvSpPr>
        <p:spPr>
          <a:xfrm>
            <a:off x="4818888" y="1719072"/>
            <a:ext cx="1783080" cy="365760"/>
          </a:xfrm>
          <a:prstGeom prst="rect">
            <a:avLst/>
          </a:prstGeom>
          <a:noFill/>
          <a:ln/>
        </p:spPr>
        <p:txBody>
          <a:bodyPr wrap="square" lIns="0" tIns="0" rIns="0" bIns="0" rtlCol="0" anchor="ctr"/>
          <a:lstStyle/>
          <a:p>
            <a:pPr indent="0" marL="0">
              <a:buNone/>
            </a:pPr>
            <a:r>
              <a:rPr lang="en-US" sz="900" dirty="0">
                <a:solidFill>
                  <a:srgbClr val="D1FAE5"/>
                </a:solidFill>
                <a:latin typeface="Calibri" pitchFamily="34" charset="0"/>
                <a:ea typeface="Calibri" pitchFamily="34" charset="-122"/>
                <a:cs typeface="Calibri" pitchFamily="34" charset="-120"/>
              </a:rPr>
              <a:t>Commercial RDBMSs</a:t>
            </a:r>
            <a:endParaRPr lang="en-US" sz="900" dirty="0"/>
          </a:p>
          <a:p>
            <a:pPr indent="0" marL="0">
              <a:buNone/>
            </a:pPr>
            <a:r>
              <a:rPr lang="en-US" sz="900" dirty="0">
                <a:solidFill>
                  <a:srgbClr val="D1FAE5"/>
                </a:solidFill>
                <a:latin typeface="Calibri" pitchFamily="34" charset="0"/>
                <a:ea typeface="Calibri" pitchFamily="34" charset="-122"/>
                <a:cs typeface="Calibri" pitchFamily="34" charset="-120"/>
              </a:rPr>
              <a:t>Oracle, DB2, Ingres, MySQL</a:t>
            </a:r>
            <a:endParaRPr lang="en-US" sz="900" dirty="0"/>
          </a:p>
        </p:txBody>
      </p:sp>
      <p:sp>
        <p:nvSpPr>
          <p:cNvPr id="21" name="Shape 19"/>
          <p:cNvSpPr/>
          <p:nvPr/>
        </p:nvSpPr>
        <p:spPr>
          <a:xfrm>
            <a:off x="4754880" y="2103120"/>
            <a:ext cx="1920240" cy="960120"/>
          </a:xfrm>
          <a:prstGeom prst="rect">
            <a:avLst/>
          </a:prstGeom>
          <a:solidFill>
            <a:srgbClr val="FFFFFF"/>
          </a:solidFill>
          <a:ln w="12700">
            <a:solidFill>
              <a:srgbClr val="0D9488"/>
            </a:solidFill>
            <a:prstDash val="solid"/>
          </a:ln>
        </p:spPr>
      </p:sp>
      <p:sp>
        <p:nvSpPr>
          <p:cNvPr id="22" name="Text 20"/>
          <p:cNvSpPr/>
          <p:nvPr/>
        </p:nvSpPr>
        <p:spPr>
          <a:xfrm>
            <a:off x="4828032" y="2139696"/>
            <a:ext cx="1783080" cy="896112"/>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Oracle (1979), DB2 (1983) become first commercial relational systems. IBM's System R project at San José produces SQL. ISO standardises SQL in 1987. Now hundreds of RDBMSs exist. These are the dominant systems today.</a:t>
            </a:r>
            <a:endParaRPr lang="en-US" sz="850" dirty="0"/>
          </a:p>
        </p:txBody>
      </p:sp>
      <p:sp>
        <p:nvSpPr>
          <p:cNvPr id="23" name="Shape 21"/>
          <p:cNvSpPr/>
          <p:nvPr/>
        </p:nvSpPr>
        <p:spPr>
          <a:xfrm>
            <a:off x="7909560" y="1097280"/>
            <a:ext cx="201168" cy="201168"/>
          </a:xfrm>
          <a:prstGeom prst="ellipse">
            <a:avLst/>
          </a:prstGeom>
          <a:solidFill>
            <a:srgbClr val="059669"/>
          </a:solidFill>
          <a:ln w="12700">
            <a:solidFill>
              <a:srgbClr val="059669"/>
            </a:solidFill>
            <a:prstDash val="solid"/>
          </a:ln>
        </p:spPr>
      </p:sp>
      <p:sp>
        <p:nvSpPr>
          <p:cNvPr id="24" name="Shape 22"/>
          <p:cNvSpPr/>
          <p:nvPr/>
        </p:nvSpPr>
        <p:spPr>
          <a:xfrm>
            <a:off x="7086600" y="2286000"/>
            <a:ext cx="1920240" cy="658368"/>
          </a:xfrm>
          <a:prstGeom prst="rect">
            <a:avLst/>
          </a:prstGeom>
          <a:solidFill>
            <a:srgbClr val="059669"/>
          </a:solidFill>
          <a:ln w="12700">
            <a:solidFill>
              <a:srgbClr val="059669"/>
            </a:solidFill>
            <a:prstDash val="solid"/>
          </a:ln>
        </p:spPr>
      </p:sp>
      <p:sp>
        <p:nvSpPr>
          <p:cNvPr id="25" name="Text 23"/>
          <p:cNvSpPr/>
          <p:nvPr/>
        </p:nvSpPr>
        <p:spPr>
          <a:xfrm>
            <a:off x="7150608" y="2322576"/>
            <a:ext cx="1783080" cy="21945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1990s+ — 3rd Gen</a:t>
            </a:r>
            <a:endParaRPr lang="en-US" sz="950" dirty="0"/>
          </a:p>
        </p:txBody>
      </p:sp>
      <p:sp>
        <p:nvSpPr>
          <p:cNvPr id="26" name="Text 24"/>
          <p:cNvSpPr/>
          <p:nvPr/>
        </p:nvSpPr>
        <p:spPr>
          <a:xfrm>
            <a:off x="7150608" y="2560320"/>
            <a:ext cx="1783080" cy="365760"/>
          </a:xfrm>
          <a:prstGeom prst="rect">
            <a:avLst/>
          </a:prstGeom>
          <a:noFill/>
          <a:ln/>
        </p:spPr>
        <p:txBody>
          <a:bodyPr wrap="square" lIns="0" tIns="0" rIns="0" bIns="0" rtlCol="0" anchor="ctr"/>
          <a:lstStyle/>
          <a:p>
            <a:pPr indent="0" marL="0">
              <a:buNone/>
            </a:pPr>
            <a:r>
              <a:rPr lang="en-US" sz="900" dirty="0">
                <a:solidFill>
                  <a:srgbClr val="D1FAE5"/>
                </a:solidFill>
                <a:latin typeface="Calibri" pitchFamily="34" charset="0"/>
                <a:ea typeface="Calibri" pitchFamily="34" charset="-122"/>
                <a:cs typeface="Calibri" pitchFamily="34" charset="-120"/>
              </a:rPr>
              <a:t>OODBMS, ORDBMS,</a:t>
            </a:r>
            <a:endParaRPr lang="en-US" sz="900" dirty="0"/>
          </a:p>
          <a:p>
            <a:pPr indent="0" marL="0">
              <a:buNone/>
            </a:pPr>
            <a:r>
              <a:rPr lang="en-US" sz="900" dirty="0">
                <a:solidFill>
                  <a:srgbClr val="D1FAE5"/>
                </a:solidFill>
                <a:latin typeface="Calibri" pitchFamily="34" charset="0"/>
                <a:ea typeface="Calibri" pitchFamily="34" charset="-122"/>
                <a:cs typeface="Calibri" pitchFamily="34" charset="-120"/>
              </a:rPr>
              <a:t>Data Warehouses, XML</a:t>
            </a:r>
            <a:endParaRPr lang="en-US" sz="900" dirty="0"/>
          </a:p>
        </p:txBody>
      </p:sp>
      <p:sp>
        <p:nvSpPr>
          <p:cNvPr id="27" name="Shape 25"/>
          <p:cNvSpPr/>
          <p:nvPr/>
        </p:nvSpPr>
        <p:spPr>
          <a:xfrm>
            <a:off x="7086600" y="2944368"/>
            <a:ext cx="1920240" cy="960120"/>
          </a:xfrm>
          <a:prstGeom prst="rect">
            <a:avLst/>
          </a:prstGeom>
          <a:solidFill>
            <a:srgbClr val="FFFFFF"/>
          </a:solidFill>
          <a:ln w="12700">
            <a:solidFill>
              <a:srgbClr val="059669"/>
            </a:solidFill>
            <a:prstDash val="solid"/>
          </a:ln>
        </p:spPr>
      </p:sp>
      <p:sp>
        <p:nvSpPr>
          <p:cNvPr id="28" name="Text 26"/>
          <p:cNvSpPr/>
          <p:nvPr/>
        </p:nvSpPr>
        <p:spPr>
          <a:xfrm>
            <a:off x="7159752" y="2980944"/>
            <a:ext cx="1783080" cy="896112"/>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Object-Oriented DBMSs emerge for complex data. Object-Relational DBMSs (Oracle 8, 1997) combine relational + object features. XML (1998) enables web-DB integration. Data warehouses support business intelligence and analytics.</a:t>
            </a:r>
            <a:endParaRPr lang="en-US" sz="850" dirty="0"/>
          </a:p>
        </p:txBody>
      </p:sp>
      <p:sp>
        <p:nvSpPr>
          <p:cNvPr id="29" name="Shape 27"/>
          <p:cNvSpPr/>
          <p:nvPr/>
        </p:nvSpPr>
        <p:spPr>
          <a:xfrm>
            <a:off x="274320" y="4645152"/>
            <a:ext cx="8595360" cy="411480"/>
          </a:xfrm>
          <a:prstGeom prst="rect">
            <a:avLst/>
          </a:prstGeom>
          <a:solidFill>
            <a:srgbClr val="1B2A4A"/>
          </a:solidFill>
          <a:ln w="12700">
            <a:solidFill>
              <a:srgbClr val="1B2A4A"/>
            </a:solidFill>
            <a:prstDash val="solid"/>
          </a:ln>
        </p:spPr>
      </p:sp>
      <p:sp>
        <p:nvSpPr>
          <p:cNvPr id="30" name="Text 28"/>
          <p:cNvSpPr/>
          <p:nvPr/>
        </p:nvSpPr>
        <p:spPr>
          <a:xfrm>
            <a:off x="411480" y="4663440"/>
            <a:ext cx="8321040" cy="38404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Key lesson: Each generation solved the previous one's problems. Codd's relational model (1970) replaced complex navigational access with simple tables and SQL — transforming how every organisation manages data.</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0" y="5070348"/>
            <a:ext cx="9144000" cy="73152"/>
          </a:xfrm>
          <a:prstGeom prst="rect">
            <a:avLst/>
          </a:prstGeom>
          <a:solidFill>
            <a:srgbClr val="0D9488"/>
          </a:solidFill>
          <a:ln w="12700">
            <a:solidFill>
              <a:srgbClr val="0D9488"/>
            </a:solidFill>
            <a:prstDash val="solid"/>
          </a:ln>
        </p:spPr>
      </p:sp>
      <p:sp>
        <p:nvSpPr>
          <p:cNvPr id="4" name="Text 2"/>
          <p:cNvSpPr/>
          <p:nvPr/>
        </p:nvSpPr>
        <p:spPr>
          <a:xfrm>
            <a:off x="457200" y="18288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Chapter 1 — Summary of Learning Outcomes</a:t>
            </a:r>
            <a:endParaRPr lang="en-US" sz="2600" dirty="0"/>
          </a:p>
        </p:txBody>
      </p:sp>
      <p:sp>
        <p:nvSpPr>
          <p:cNvPr id="5" name="Shape 3"/>
          <p:cNvSpPr/>
          <p:nvPr/>
        </p:nvSpPr>
        <p:spPr>
          <a:xfrm>
            <a:off x="274320" y="804672"/>
            <a:ext cx="8595360" cy="731520"/>
          </a:xfrm>
          <a:prstGeom prst="rect">
            <a:avLst/>
          </a:prstGeom>
          <a:solidFill>
            <a:srgbClr val="243552"/>
          </a:solidFill>
          <a:ln w="12700">
            <a:solidFill>
              <a:srgbClr val="1B2A4A"/>
            </a:solidFill>
            <a:prstDash val="solid"/>
          </a:ln>
        </p:spPr>
      </p:sp>
      <p:sp>
        <p:nvSpPr>
          <p:cNvPr id="6" name="Shape 4"/>
          <p:cNvSpPr/>
          <p:nvPr/>
        </p:nvSpPr>
        <p:spPr>
          <a:xfrm>
            <a:off x="274320" y="804672"/>
            <a:ext cx="914400" cy="731520"/>
          </a:xfrm>
          <a:prstGeom prst="rect">
            <a:avLst/>
          </a:prstGeom>
          <a:solidFill>
            <a:srgbClr val="1B2A4A"/>
          </a:solidFill>
          <a:ln w="12700">
            <a:solidFill>
              <a:srgbClr val="1B2A4A"/>
            </a:solidFill>
            <a:prstDash val="solid"/>
          </a:ln>
        </p:spPr>
      </p:sp>
      <p:sp>
        <p:nvSpPr>
          <p:cNvPr id="7" name="Text 5"/>
          <p:cNvSpPr/>
          <p:nvPr/>
        </p:nvSpPr>
        <p:spPr>
          <a:xfrm>
            <a:off x="274320" y="1005840"/>
            <a:ext cx="9144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 1</a:t>
            </a:r>
            <a:endParaRPr lang="en-US" sz="1300" dirty="0"/>
          </a:p>
        </p:txBody>
      </p:sp>
      <p:sp>
        <p:nvSpPr>
          <p:cNvPr id="8" name="Text 6"/>
          <p:cNvSpPr/>
          <p:nvPr/>
        </p:nvSpPr>
        <p:spPr>
          <a:xfrm>
            <a:off x="1298448" y="859536"/>
            <a:ext cx="2286000" cy="237744"/>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Key Concepts &amp; Environment</a:t>
            </a:r>
            <a:endParaRPr lang="en-US" sz="1150" dirty="0"/>
          </a:p>
        </p:txBody>
      </p:sp>
      <p:sp>
        <p:nvSpPr>
          <p:cNvPr id="9" name="Text 7"/>
          <p:cNvSpPr/>
          <p:nvPr/>
        </p:nvSpPr>
        <p:spPr>
          <a:xfrm>
            <a:off x="1298448" y="1124712"/>
            <a:ext cx="7406640" cy="38404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 database is a shared, self-describing collection of logically related data. The DBMS manages it. Data independence separates structure from apps via the system catalog. File-based systems fail because of duplication, dependence, and no central control.</a:t>
            </a:r>
            <a:endParaRPr lang="en-US" sz="950" dirty="0"/>
          </a:p>
        </p:txBody>
      </p:sp>
      <p:sp>
        <p:nvSpPr>
          <p:cNvPr id="10" name="Shape 8"/>
          <p:cNvSpPr/>
          <p:nvPr/>
        </p:nvSpPr>
        <p:spPr>
          <a:xfrm>
            <a:off x="274320" y="1645920"/>
            <a:ext cx="8595360" cy="731520"/>
          </a:xfrm>
          <a:prstGeom prst="rect">
            <a:avLst/>
          </a:prstGeom>
          <a:solidFill>
            <a:srgbClr val="243552"/>
          </a:solidFill>
          <a:ln w="12700">
            <a:solidFill>
              <a:srgbClr val="0D6B8A"/>
            </a:solidFill>
            <a:prstDash val="solid"/>
          </a:ln>
        </p:spPr>
      </p:sp>
      <p:sp>
        <p:nvSpPr>
          <p:cNvPr id="11" name="Shape 9"/>
          <p:cNvSpPr/>
          <p:nvPr/>
        </p:nvSpPr>
        <p:spPr>
          <a:xfrm>
            <a:off x="274320" y="1645920"/>
            <a:ext cx="914400" cy="731520"/>
          </a:xfrm>
          <a:prstGeom prst="rect">
            <a:avLst/>
          </a:prstGeom>
          <a:solidFill>
            <a:srgbClr val="0D6B8A"/>
          </a:solidFill>
          <a:ln w="12700">
            <a:solidFill>
              <a:srgbClr val="0D6B8A"/>
            </a:solidFill>
            <a:prstDash val="solid"/>
          </a:ln>
        </p:spPr>
      </p:sp>
      <p:sp>
        <p:nvSpPr>
          <p:cNvPr id="12" name="Text 10"/>
          <p:cNvSpPr/>
          <p:nvPr/>
        </p:nvSpPr>
        <p:spPr>
          <a:xfrm>
            <a:off x="274320" y="1847088"/>
            <a:ext cx="9144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 2</a:t>
            </a:r>
            <a:endParaRPr lang="en-US" sz="1300" dirty="0"/>
          </a:p>
        </p:txBody>
      </p:sp>
      <p:sp>
        <p:nvSpPr>
          <p:cNvPr id="13" name="Text 11"/>
          <p:cNvSpPr/>
          <p:nvPr/>
        </p:nvSpPr>
        <p:spPr>
          <a:xfrm>
            <a:off x="1298448" y="1700784"/>
            <a:ext cx="2286000" cy="237744"/>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DBMS Components</a:t>
            </a:r>
            <a:endParaRPr lang="en-US" sz="1150" dirty="0"/>
          </a:p>
        </p:txBody>
      </p:sp>
      <p:sp>
        <p:nvSpPr>
          <p:cNvPr id="14" name="Text 12"/>
          <p:cNvSpPr/>
          <p:nvPr/>
        </p:nvSpPr>
        <p:spPr>
          <a:xfrm>
            <a:off x="1298448" y="1965960"/>
            <a:ext cx="7406640" cy="38404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5 components: Hardware, Software, Data, Procedures, People. DBMS provides: DDL (define structure), DML/SQL (manipulate data), Security, Integrity, Concurrency control, Recovery, Views (customised user perspectives), and the System Catalog.</a:t>
            </a:r>
            <a:endParaRPr lang="en-US" sz="950" dirty="0"/>
          </a:p>
        </p:txBody>
      </p:sp>
      <p:sp>
        <p:nvSpPr>
          <p:cNvPr id="15" name="Shape 13"/>
          <p:cNvSpPr/>
          <p:nvPr/>
        </p:nvSpPr>
        <p:spPr>
          <a:xfrm>
            <a:off x="274320" y="2487168"/>
            <a:ext cx="8595360" cy="731520"/>
          </a:xfrm>
          <a:prstGeom prst="rect">
            <a:avLst/>
          </a:prstGeom>
          <a:solidFill>
            <a:srgbClr val="243552"/>
          </a:solidFill>
          <a:ln w="12700">
            <a:solidFill>
              <a:srgbClr val="0D9488"/>
            </a:solidFill>
            <a:prstDash val="solid"/>
          </a:ln>
        </p:spPr>
      </p:sp>
      <p:sp>
        <p:nvSpPr>
          <p:cNvPr id="16" name="Shape 14"/>
          <p:cNvSpPr/>
          <p:nvPr/>
        </p:nvSpPr>
        <p:spPr>
          <a:xfrm>
            <a:off x="274320" y="2487168"/>
            <a:ext cx="914400" cy="731520"/>
          </a:xfrm>
          <a:prstGeom prst="rect">
            <a:avLst/>
          </a:prstGeom>
          <a:solidFill>
            <a:srgbClr val="0D9488"/>
          </a:solidFill>
          <a:ln w="12700">
            <a:solidFill>
              <a:srgbClr val="0D9488"/>
            </a:solidFill>
            <a:prstDash val="solid"/>
          </a:ln>
        </p:spPr>
      </p:sp>
      <p:sp>
        <p:nvSpPr>
          <p:cNvPr id="17" name="Text 15"/>
          <p:cNvSpPr/>
          <p:nvPr/>
        </p:nvSpPr>
        <p:spPr>
          <a:xfrm>
            <a:off x="274320" y="2688336"/>
            <a:ext cx="9144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 3</a:t>
            </a:r>
            <a:endParaRPr lang="en-US" sz="1300" dirty="0"/>
          </a:p>
        </p:txBody>
      </p:sp>
      <p:sp>
        <p:nvSpPr>
          <p:cNvPr id="18" name="Text 16"/>
          <p:cNvSpPr/>
          <p:nvPr/>
        </p:nvSpPr>
        <p:spPr>
          <a:xfrm>
            <a:off x="1298448" y="2542032"/>
            <a:ext cx="2286000" cy="237744"/>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Roles in the DB Environment</a:t>
            </a:r>
            <a:endParaRPr lang="en-US" sz="1150" dirty="0"/>
          </a:p>
        </p:txBody>
      </p:sp>
      <p:sp>
        <p:nvSpPr>
          <p:cNvPr id="19" name="Text 17"/>
          <p:cNvSpPr/>
          <p:nvPr/>
        </p:nvSpPr>
        <p:spPr>
          <a:xfrm>
            <a:off x="1298448" y="2807208"/>
            <a:ext cx="7406640" cy="38404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DA (strategic data management) → DBA (technical implementation) → Logical Designer (ER model, business rules) → Physical Designer (storage, indexes) → Application Developer (programs) → End-Users (naïve use menus; sophisticated write SQL).</a:t>
            </a:r>
            <a:endParaRPr lang="en-US" sz="950" dirty="0"/>
          </a:p>
        </p:txBody>
      </p:sp>
      <p:sp>
        <p:nvSpPr>
          <p:cNvPr id="20" name="Shape 18"/>
          <p:cNvSpPr/>
          <p:nvPr/>
        </p:nvSpPr>
        <p:spPr>
          <a:xfrm>
            <a:off x="274320" y="3328416"/>
            <a:ext cx="8595360" cy="731520"/>
          </a:xfrm>
          <a:prstGeom prst="rect">
            <a:avLst/>
          </a:prstGeom>
          <a:solidFill>
            <a:srgbClr val="243552"/>
          </a:solidFill>
          <a:ln w="12700">
            <a:solidFill>
              <a:srgbClr val="7C3AED"/>
            </a:solidFill>
            <a:prstDash val="solid"/>
          </a:ln>
        </p:spPr>
      </p:sp>
      <p:sp>
        <p:nvSpPr>
          <p:cNvPr id="21" name="Shape 19"/>
          <p:cNvSpPr/>
          <p:nvPr/>
        </p:nvSpPr>
        <p:spPr>
          <a:xfrm>
            <a:off x="274320" y="3328416"/>
            <a:ext cx="914400" cy="731520"/>
          </a:xfrm>
          <a:prstGeom prst="rect">
            <a:avLst/>
          </a:prstGeom>
          <a:solidFill>
            <a:srgbClr val="7C3AED"/>
          </a:solidFill>
          <a:ln w="12700">
            <a:solidFill>
              <a:srgbClr val="7C3AED"/>
            </a:solidFill>
            <a:prstDash val="solid"/>
          </a:ln>
        </p:spPr>
      </p:sp>
      <p:sp>
        <p:nvSpPr>
          <p:cNvPr id="22" name="Text 20"/>
          <p:cNvSpPr/>
          <p:nvPr/>
        </p:nvSpPr>
        <p:spPr>
          <a:xfrm>
            <a:off x="274320" y="3529584"/>
            <a:ext cx="9144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 4</a:t>
            </a:r>
            <a:endParaRPr lang="en-US" sz="1300" dirty="0"/>
          </a:p>
        </p:txBody>
      </p:sp>
      <p:sp>
        <p:nvSpPr>
          <p:cNvPr id="23" name="Text 21"/>
          <p:cNvSpPr/>
          <p:nvPr/>
        </p:nvSpPr>
        <p:spPr>
          <a:xfrm>
            <a:off x="1298448" y="3383280"/>
            <a:ext cx="2286000" cy="237744"/>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Importance, Advantages &amp; Disadvantages</a:t>
            </a:r>
            <a:endParaRPr lang="en-US" sz="1150" dirty="0"/>
          </a:p>
        </p:txBody>
      </p:sp>
      <p:sp>
        <p:nvSpPr>
          <p:cNvPr id="24" name="Text 22"/>
          <p:cNvSpPr/>
          <p:nvPr/>
        </p:nvSpPr>
        <p:spPr>
          <a:xfrm>
            <a:off x="1298448" y="3648456"/>
            <a:ext cx="7406640" cy="38404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DBMSs eliminate redundancy, enforce integrity, share data, improve security, and provide concurrency/recovery. Costs include: complexity, size, licence fees ($100K–$1M+), hardware, conversion costs, and single-point-of-failure risk.</a:t>
            </a:r>
            <a:endParaRPr lang="en-US" sz="950" dirty="0"/>
          </a:p>
        </p:txBody>
      </p:sp>
      <p:sp>
        <p:nvSpPr>
          <p:cNvPr id="25" name="Shape 23"/>
          <p:cNvSpPr/>
          <p:nvPr/>
        </p:nvSpPr>
        <p:spPr>
          <a:xfrm>
            <a:off x="274320" y="4169664"/>
            <a:ext cx="8595360" cy="731520"/>
          </a:xfrm>
          <a:prstGeom prst="rect">
            <a:avLst/>
          </a:prstGeom>
          <a:solidFill>
            <a:srgbClr val="243552"/>
          </a:solidFill>
          <a:ln w="12700">
            <a:solidFill>
              <a:srgbClr val="059669"/>
            </a:solidFill>
            <a:prstDash val="solid"/>
          </a:ln>
        </p:spPr>
      </p:sp>
      <p:sp>
        <p:nvSpPr>
          <p:cNvPr id="26" name="Shape 24"/>
          <p:cNvSpPr/>
          <p:nvPr/>
        </p:nvSpPr>
        <p:spPr>
          <a:xfrm>
            <a:off x="274320" y="4169664"/>
            <a:ext cx="914400" cy="731520"/>
          </a:xfrm>
          <a:prstGeom prst="rect">
            <a:avLst/>
          </a:prstGeom>
          <a:solidFill>
            <a:srgbClr val="059669"/>
          </a:solidFill>
          <a:ln w="12700">
            <a:solidFill>
              <a:srgbClr val="059669"/>
            </a:solidFill>
            <a:prstDash val="solid"/>
          </a:ln>
        </p:spPr>
      </p:sp>
      <p:sp>
        <p:nvSpPr>
          <p:cNvPr id="27" name="Text 25"/>
          <p:cNvSpPr/>
          <p:nvPr/>
        </p:nvSpPr>
        <p:spPr>
          <a:xfrm>
            <a:off x="274320" y="4370832"/>
            <a:ext cx="9144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 5</a:t>
            </a:r>
            <a:endParaRPr lang="en-US" sz="1300" dirty="0"/>
          </a:p>
        </p:txBody>
      </p:sp>
      <p:sp>
        <p:nvSpPr>
          <p:cNvPr id="28" name="Text 26"/>
          <p:cNvSpPr/>
          <p:nvPr/>
        </p:nvSpPr>
        <p:spPr>
          <a:xfrm>
            <a:off x="1298448" y="4224528"/>
            <a:ext cx="2286000" cy="237744"/>
          </a:xfrm>
          <a:prstGeom prst="rect">
            <a:avLst/>
          </a:prstGeom>
          <a:noFill/>
          <a:ln/>
        </p:spPr>
        <p:txBody>
          <a:bodyPr wrap="square" lIns="0" tIns="0" rIns="0" bIns="0" rtlCol="0" anchor="ctr"/>
          <a:lstStyle/>
          <a:p>
            <a:pPr indent="0" marL="0">
              <a:buNone/>
            </a:pPr>
            <a:r>
              <a:rPr lang="en-US" sz="1150" b="1" dirty="0">
                <a:solidFill>
                  <a:srgbClr val="14B8A6"/>
                </a:solidFill>
                <a:latin typeface="Calibri" pitchFamily="34" charset="0"/>
                <a:ea typeface="Calibri" pitchFamily="34" charset="-122"/>
                <a:cs typeface="Calibri" pitchFamily="34" charset="-120"/>
              </a:rPr>
              <a:t>Real-World Scenario: DreamHome</a:t>
            </a:r>
            <a:endParaRPr lang="en-US" sz="1150" dirty="0"/>
          </a:p>
        </p:txBody>
      </p:sp>
      <p:sp>
        <p:nvSpPr>
          <p:cNvPr id="29" name="Text 27"/>
          <p:cNvSpPr/>
          <p:nvPr/>
        </p:nvSpPr>
        <p:spPr>
          <a:xfrm>
            <a:off x="1298448" y="4489704"/>
            <a:ext cx="7406640" cy="38404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DreamHome: 6 entities (Branch, Staff, PropertyForRent, Client, PrivateOwner, Lease) in one integrated DBMS replace 4 isolated file-based department systems — enabling SQL queries, security views, integrity rules, and concurrent multi-user access.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Discussion &amp; Review Questions</a:t>
            </a:r>
            <a:endParaRPr lang="en-US" sz="2600" dirty="0"/>
          </a:p>
        </p:txBody>
      </p:sp>
      <p:sp>
        <p:nvSpPr>
          <p:cNvPr id="4" name="Text 2"/>
          <p:cNvSpPr/>
          <p:nvPr/>
        </p:nvSpPr>
        <p:spPr>
          <a:xfrm>
            <a:off x="457200" y="694944"/>
            <a:ext cx="8229600" cy="27432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Each question maps to a learning outcome. Answer in your own words — no copying from notes!</a:t>
            </a:r>
            <a:endParaRPr lang="en-US" sz="1150" dirty="0"/>
          </a:p>
        </p:txBody>
      </p:sp>
      <p:sp>
        <p:nvSpPr>
          <p:cNvPr id="5" name="Shape 3"/>
          <p:cNvSpPr/>
          <p:nvPr/>
        </p:nvSpPr>
        <p:spPr>
          <a:xfrm>
            <a:off x="274320" y="1024128"/>
            <a:ext cx="8595360" cy="694944"/>
          </a:xfrm>
          <a:prstGeom prst="rect">
            <a:avLst/>
          </a:prstGeom>
          <a:solidFill>
            <a:srgbClr val="FFFFFF"/>
          </a:solidFill>
          <a:ln w="12700">
            <a:solidFill>
              <a:srgbClr val="E2E8F0"/>
            </a:solidFill>
            <a:prstDash val="solid"/>
          </a:ln>
        </p:spPr>
      </p:sp>
      <p:sp>
        <p:nvSpPr>
          <p:cNvPr id="6" name="Shape 4"/>
          <p:cNvSpPr/>
          <p:nvPr/>
        </p:nvSpPr>
        <p:spPr>
          <a:xfrm>
            <a:off x="274320" y="1024128"/>
            <a:ext cx="685800" cy="694944"/>
          </a:xfrm>
          <a:prstGeom prst="rect">
            <a:avLst/>
          </a:prstGeom>
          <a:solidFill>
            <a:srgbClr val="1B2A4A"/>
          </a:solidFill>
          <a:ln w="12700">
            <a:solidFill>
              <a:srgbClr val="1B2A4A"/>
            </a:solidFill>
            <a:prstDash val="solid"/>
          </a:ln>
        </p:spPr>
      </p:sp>
      <p:sp>
        <p:nvSpPr>
          <p:cNvPr id="7" name="Text 5"/>
          <p:cNvSpPr/>
          <p:nvPr/>
        </p:nvSpPr>
        <p:spPr>
          <a:xfrm>
            <a:off x="274320" y="1207008"/>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 1</a:t>
            </a:r>
            <a:endParaRPr lang="en-US" sz="1100" dirty="0"/>
          </a:p>
        </p:txBody>
      </p:sp>
      <p:sp>
        <p:nvSpPr>
          <p:cNvPr id="8" name="Text 6"/>
          <p:cNvSpPr/>
          <p:nvPr/>
        </p:nvSpPr>
        <p:spPr>
          <a:xfrm>
            <a:off x="1042416" y="1133856"/>
            <a:ext cx="7735824" cy="49377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In your own words: what is a database? How is it different from a simple spreadsheet? What are the two root causes of all file-based system problems?</a:t>
            </a:r>
            <a:endParaRPr lang="en-US" sz="1100" dirty="0"/>
          </a:p>
        </p:txBody>
      </p:sp>
      <p:sp>
        <p:nvSpPr>
          <p:cNvPr id="9" name="Shape 7"/>
          <p:cNvSpPr/>
          <p:nvPr/>
        </p:nvSpPr>
        <p:spPr>
          <a:xfrm>
            <a:off x="274320" y="1828800"/>
            <a:ext cx="8595360" cy="694944"/>
          </a:xfrm>
          <a:prstGeom prst="rect">
            <a:avLst/>
          </a:prstGeom>
          <a:solidFill>
            <a:srgbClr val="FFFFFF"/>
          </a:solidFill>
          <a:ln w="12700">
            <a:solidFill>
              <a:srgbClr val="E2E8F0"/>
            </a:solidFill>
            <a:prstDash val="solid"/>
          </a:ln>
        </p:spPr>
      </p:sp>
      <p:sp>
        <p:nvSpPr>
          <p:cNvPr id="10" name="Shape 8"/>
          <p:cNvSpPr/>
          <p:nvPr/>
        </p:nvSpPr>
        <p:spPr>
          <a:xfrm>
            <a:off x="274320" y="1828800"/>
            <a:ext cx="685800" cy="694944"/>
          </a:xfrm>
          <a:prstGeom prst="rect">
            <a:avLst/>
          </a:prstGeom>
          <a:solidFill>
            <a:srgbClr val="0D6B8A"/>
          </a:solidFill>
          <a:ln w="12700">
            <a:solidFill>
              <a:srgbClr val="0D6B8A"/>
            </a:solidFill>
            <a:prstDash val="solid"/>
          </a:ln>
        </p:spPr>
      </p:sp>
      <p:sp>
        <p:nvSpPr>
          <p:cNvPr id="11" name="Text 9"/>
          <p:cNvSpPr/>
          <p:nvPr/>
        </p:nvSpPr>
        <p:spPr>
          <a:xfrm>
            <a:off x="274320" y="2011680"/>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 2</a:t>
            </a:r>
            <a:endParaRPr lang="en-US" sz="1100" dirty="0"/>
          </a:p>
        </p:txBody>
      </p:sp>
      <p:sp>
        <p:nvSpPr>
          <p:cNvPr id="12" name="Text 10"/>
          <p:cNvSpPr/>
          <p:nvPr/>
        </p:nvSpPr>
        <p:spPr>
          <a:xfrm>
            <a:off x="1042416" y="1938528"/>
            <a:ext cx="7735824" cy="49377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Name the 5 components of the DBMS environment and give one DreamHome example for each. Then name 4 things the DBMS software itself provides — beyond just storing data.</a:t>
            </a:r>
            <a:endParaRPr lang="en-US" sz="1100" dirty="0"/>
          </a:p>
        </p:txBody>
      </p:sp>
      <p:sp>
        <p:nvSpPr>
          <p:cNvPr id="13" name="Shape 11"/>
          <p:cNvSpPr/>
          <p:nvPr/>
        </p:nvSpPr>
        <p:spPr>
          <a:xfrm>
            <a:off x="274320" y="2633472"/>
            <a:ext cx="8595360" cy="694944"/>
          </a:xfrm>
          <a:prstGeom prst="rect">
            <a:avLst/>
          </a:prstGeom>
          <a:solidFill>
            <a:srgbClr val="FFFFFF"/>
          </a:solidFill>
          <a:ln w="12700">
            <a:solidFill>
              <a:srgbClr val="E2E8F0"/>
            </a:solidFill>
            <a:prstDash val="solid"/>
          </a:ln>
        </p:spPr>
      </p:sp>
      <p:sp>
        <p:nvSpPr>
          <p:cNvPr id="14" name="Shape 12"/>
          <p:cNvSpPr/>
          <p:nvPr/>
        </p:nvSpPr>
        <p:spPr>
          <a:xfrm>
            <a:off x="274320" y="2633472"/>
            <a:ext cx="685800" cy="694944"/>
          </a:xfrm>
          <a:prstGeom prst="rect">
            <a:avLst/>
          </a:prstGeom>
          <a:solidFill>
            <a:srgbClr val="0D9488"/>
          </a:solidFill>
          <a:ln w="12700">
            <a:solidFill>
              <a:srgbClr val="0D9488"/>
            </a:solidFill>
            <a:prstDash val="solid"/>
          </a:ln>
        </p:spPr>
      </p:sp>
      <p:sp>
        <p:nvSpPr>
          <p:cNvPr id="15" name="Text 13"/>
          <p:cNvSpPr/>
          <p:nvPr/>
        </p:nvSpPr>
        <p:spPr>
          <a:xfrm>
            <a:off x="274320" y="2816352"/>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 3</a:t>
            </a:r>
            <a:endParaRPr lang="en-US" sz="1100" dirty="0"/>
          </a:p>
        </p:txBody>
      </p:sp>
      <p:sp>
        <p:nvSpPr>
          <p:cNvPr id="16" name="Text 14"/>
          <p:cNvSpPr/>
          <p:nvPr/>
        </p:nvSpPr>
        <p:spPr>
          <a:xfrm>
            <a:off x="1042416" y="2743200"/>
            <a:ext cx="7735824" cy="49377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What is the difference between a DA and a DBA? If DreamHome's server crashes at midnight, who do you call — and what will they do? If the company decides to expand internationally, who shapes the data strategy?</a:t>
            </a:r>
            <a:endParaRPr lang="en-US" sz="1100" dirty="0"/>
          </a:p>
        </p:txBody>
      </p:sp>
      <p:sp>
        <p:nvSpPr>
          <p:cNvPr id="17" name="Shape 15"/>
          <p:cNvSpPr/>
          <p:nvPr/>
        </p:nvSpPr>
        <p:spPr>
          <a:xfrm>
            <a:off x="274320" y="3438144"/>
            <a:ext cx="8595360" cy="694944"/>
          </a:xfrm>
          <a:prstGeom prst="rect">
            <a:avLst/>
          </a:prstGeom>
          <a:solidFill>
            <a:srgbClr val="FFFFFF"/>
          </a:solidFill>
          <a:ln w="12700">
            <a:solidFill>
              <a:srgbClr val="E2E8F0"/>
            </a:solidFill>
            <a:prstDash val="solid"/>
          </a:ln>
        </p:spPr>
      </p:sp>
      <p:sp>
        <p:nvSpPr>
          <p:cNvPr id="18" name="Shape 16"/>
          <p:cNvSpPr/>
          <p:nvPr/>
        </p:nvSpPr>
        <p:spPr>
          <a:xfrm>
            <a:off x="274320" y="3438144"/>
            <a:ext cx="685800" cy="694944"/>
          </a:xfrm>
          <a:prstGeom prst="rect">
            <a:avLst/>
          </a:prstGeom>
          <a:solidFill>
            <a:srgbClr val="7C3AED"/>
          </a:solidFill>
          <a:ln w="12700">
            <a:solidFill>
              <a:srgbClr val="7C3AED"/>
            </a:solidFill>
            <a:prstDash val="solid"/>
          </a:ln>
        </p:spPr>
      </p:sp>
      <p:sp>
        <p:nvSpPr>
          <p:cNvPr id="19" name="Text 17"/>
          <p:cNvSpPr/>
          <p:nvPr/>
        </p:nvSpPr>
        <p:spPr>
          <a:xfrm>
            <a:off x="274320" y="3621024"/>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 4</a:t>
            </a:r>
            <a:endParaRPr lang="en-US" sz="1100" dirty="0"/>
          </a:p>
        </p:txBody>
      </p:sp>
      <p:sp>
        <p:nvSpPr>
          <p:cNvPr id="20" name="Text 18"/>
          <p:cNvSpPr/>
          <p:nvPr/>
        </p:nvSpPr>
        <p:spPr>
          <a:xfrm>
            <a:off x="1042416" y="3547872"/>
            <a:ext cx="7735824" cy="49377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Write a 5-sentence business case for DreamHome adopting a DBMS: 3 specific advantages and 2 genuine risks the board should be aware of. Use the company's 50-branch context in your answer.</a:t>
            </a:r>
            <a:endParaRPr lang="en-US" sz="1100" dirty="0"/>
          </a:p>
        </p:txBody>
      </p:sp>
      <p:sp>
        <p:nvSpPr>
          <p:cNvPr id="21" name="Shape 19"/>
          <p:cNvSpPr/>
          <p:nvPr/>
        </p:nvSpPr>
        <p:spPr>
          <a:xfrm>
            <a:off x="274320" y="4242816"/>
            <a:ext cx="8595360" cy="694944"/>
          </a:xfrm>
          <a:prstGeom prst="rect">
            <a:avLst/>
          </a:prstGeom>
          <a:solidFill>
            <a:srgbClr val="FFFFFF"/>
          </a:solidFill>
          <a:ln w="12700">
            <a:solidFill>
              <a:srgbClr val="E2E8F0"/>
            </a:solidFill>
            <a:prstDash val="solid"/>
          </a:ln>
        </p:spPr>
      </p:sp>
      <p:sp>
        <p:nvSpPr>
          <p:cNvPr id="22" name="Shape 20"/>
          <p:cNvSpPr/>
          <p:nvPr/>
        </p:nvSpPr>
        <p:spPr>
          <a:xfrm>
            <a:off x="274320" y="4242816"/>
            <a:ext cx="685800" cy="694944"/>
          </a:xfrm>
          <a:prstGeom prst="rect">
            <a:avLst/>
          </a:prstGeom>
          <a:solidFill>
            <a:srgbClr val="059669"/>
          </a:solidFill>
          <a:ln w="12700">
            <a:solidFill>
              <a:srgbClr val="059669"/>
            </a:solidFill>
            <a:prstDash val="solid"/>
          </a:ln>
        </p:spPr>
      </p:sp>
      <p:sp>
        <p:nvSpPr>
          <p:cNvPr id="23" name="Text 21"/>
          <p:cNvSpPr/>
          <p:nvPr/>
        </p:nvSpPr>
        <p:spPr>
          <a:xfrm>
            <a:off x="274320" y="4425696"/>
            <a:ext cx="6858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 5</a:t>
            </a:r>
            <a:endParaRPr lang="en-US" sz="1100" dirty="0"/>
          </a:p>
        </p:txBody>
      </p:sp>
      <p:sp>
        <p:nvSpPr>
          <p:cNvPr id="24" name="Text 22"/>
          <p:cNvSpPr/>
          <p:nvPr/>
        </p:nvSpPr>
        <p:spPr>
          <a:xfrm>
            <a:off x="1042416" y="4352544"/>
            <a:ext cx="7735824" cy="493776"/>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Walk through what happens — step by step inside the DBMS — when a DreamHome branch manager searches for all 2-bed flats under £400/month AND a receptionist simultaneously tries to book a viewing for the same property.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Chapter 1</dc:title>
  <dc:subject>PptxGenJS Presentation</dc:subject>
  <dc:creator>PptxGenJS</dc:creator>
  <cp:lastModifiedBy>PptxGenJS</cp:lastModifiedBy>
  <cp:revision>1</cp:revision>
  <dcterms:created xsi:type="dcterms:W3CDTF">2026-06-04T16:25:16Z</dcterms:created>
  <dcterms:modified xsi:type="dcterms:W3CDTF">2026-06-04T16:25:16Z</dcterms:modified>
</cp:coreProperties>
</file>